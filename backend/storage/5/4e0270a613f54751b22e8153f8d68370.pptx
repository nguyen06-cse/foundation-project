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0"/>
  </p:notesMasterIdLst>
  <p:sldIdLst>
    <p:sldId id="318" r:id="rId2"/>
    <p:sldId id="495" r:id="rId3"/>
    <p:sldId id="497" r:id="rId4"/>
    <p:sldId id="498" r:id="rId5"/>
    <p:sldId id="500" r:id="rId6"/>
    <p:sldId id="501" r:id="rId7"/>
    <p:sldId id="499" r:id="rId8"/>
    <p:sldId id="492" r:id="rId9"/>
    <p:sldId id="502" r:id="rId10"/>
    <p:sldId id="520" r:id="rId11"/>
    <p:sldId id="503" r:id="rId12"/>
    <p:sldId id="515" r:id="rId13"/>
    <p:sldId id="514" r:id="rId14"/>
    <p:sldId id="504" r:id="rId15"/>
    <p:sldId id="505" r:id="rId16"/>
    <p:sldId id="506" r:id="rId17"/>
    <p:sldId id="507" r:id="rId18"/>
    <p:sldId id="508" r:id="rId19"/>
    <p:sldId id="519" r:id="rId20"/>
    <p:sldId id="521" r:id="rId21"/>
    <p:sldId id="509" r:id="rId22"/>
    <p:sldId id="510" r:id="rId23"/>
    <p:sldId id="513" r:id="rId24"/>
    <p:sldId id="511" r:id="rId25"/>
    <p:sldId id="512" r:id="rId26"/>
    <p:sldId id="516" r:id="rId27"/>
    <p:sldId id="517" r:id="rId28"/>
    <p:sldId id="518"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1623E6-645B-4873-ABE7-9BB1F752638D}">
          <p14:sldIdLst>
            <p14:sldId id="318"/>
            <p14:sldId id="495"/>
            <p14:sldId id="497"/>
            <p14:sldId id="498"/>
            <p14:sldId id="500"/>
            <p14:sldId id="501"/>
            <p14:sldId id="499"/>
            <p14:sldId id="492"/>
            <p14:sldId id="502"/>
            <p14:sldId id="520"/>
            <p14:sldId id="503"/>
            <p14:sldId id="515"/>
            <p14:sldId id="514"/>
            <p14:sldId id="504"/>
            <p14:sldId id="505"/>
            <p14:sldId id="506"/>
            <p14:sldId id="507"/>
            <p14:sldId id="508"/>
            <p14:sldId id="519"/>
            <p14:sldId id="521"/>
            <p14:sldId id="509"/>
            <p14:sldId id="510"/>
            <p14:sldId id="513"/>
            <p14:sldId id="511"/>
            <p14:sldId id="512"/>
            <p14:sldId id="516"/>
            <p14:sldId id="517"/>
            <p14:sldId id="51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CCFFFF"/>
    <a:srgbClr val="170BB5"/>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08" y="5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BEE70A-2CE9-458F-A16D-5D47B23167D9}" type="datetimeFigureOut">
              <a:rPr lang="en-US" smtClean="0"/>
              <a:t>3/20/2024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DC0C50-0D91-4A64-A661-38D9A2FFF1FB}" type="slidenum">
              <a:rPr lang="en-US" smtClean="0"/>
              <a:t>‹#›</a:t>
            </a:fld>
            <a:endParaRPr lang="en-US"/>
          </a:p>
        </p:txBody>
      </p:sp>
    </p:spTree>
    <p:extLst>
      <p:ext uri="{BB962C8B-B14F-4D97-AF65-F5344CB8AC3E}">
        <p14:creationId xmlns:p14="http://schemas.microsoft.com/office/powerpoint/2010/main" val="764074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9DC0C50-0D91-4A64-A661-38D9A2FFF1FB}" type="slidenum">
              <a:rPr lang="en-US" smtClean="0"/>
              <a:t>1</a:t>
            </a:fld>
            <a:endParaRPr lang="en-US"/>
          </a:p>
        </p:txBody>
      </p:sp>
    </p:spTree>
    <p:extLst>
      <p:ext uri="{BB962C8B-B14F-4D97-AF65-F5344CB8AC3E}">
        <p14:creationId xmlns:p14="http://schemas.microsoft.com/office/powerpoint/2010/main" val="52177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DC0C50-0D91-4A64-A661-38D9A2FFF1FB}" type="slidenum">
              <a:rPr lang="en-US" smtClean="0"/>
              <a:t>21</a:t>
            </a:fld>
            <a:endParaRPr lang="en-US"/>
          </a:p>
        </p:txBody>
      </p:sp>
    </p:spTree>
    <p:extLst>
      <p:ext uri="{BB962C8B-B14F-4D97-AF65-F5344CB8AC3E}">
        <p14:creationId xmlns:p14="http://schemas.microsoft.com/office/powerpoint/2010/main" val="4072783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DC0C50-0D91-4A64-A661-38D9A2FFF1FB}" type="slidenum">
              <a:rPr lang="en-US" smtClean="0"/>
              <a:t>22</a:t>
            </a:fld>
            <a:endParaRPr lang="en-US"/>
          </a:p>
        </p:txBody>
      </p:sp>
    </p:spTree>
    <p:extLst>
      <p:ext uri="{BB962C8B-B14F-4D97-AF65-F5344CB8AC3E}">
        <p14:creationId xmlns:p14="http://schemas.microsoft.com/office/powerpoint/2010/main" val="2029804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DC0C50-0D91-4A64-A661-38D9A2FFF1FB}" type="slidenum">
              <a:rPr lang="en-US" smtClean="0"/>
              <a:t>23</a:t>
            </a:fld>
            <a:endParaRPr lang="en-US"/>
          </a:p>
        </p:txBody>
      </p:sp>
    </p:spTree>
    <p:extLst>
      <p:ext uri="{BB962C8B-B14F-4D97-AF65-F5344CB8AC3E}">
        <p14:creationId xmlns:p14="http://schemas.microsoft.com/office/powerpoint/2010/main" val="226973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DC0C50-0D91-4A64-A661-38D9A2FFF1FB}" type="slidenum">
              <a:rPr lang="en-US" smtClean="0"/>
              <a:t>24</a:t>
            </a:fld>
            <a:endParaRPr lang="en-US"/>
          </a:p>
        </p:txBody>
      </p:sp>
    </p:spTree>
    <p:extLst>
      <p:ext uri="{BB962C8B-B14F-4D97-AF65-F5344CB8AC3E}">
        <p14:creationId xmlns:p14="http://schemas.microsoft.com/office/powerpoint/2010/main" val="682281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DC0C50-0D91-4A64-A661-38D9A2FFF1FB}" type="slidenum">
              <a:rPr lang="en-US" smtClean="0"/>
              <a:t>25</a:t>
            </a:fld>
            <a:endParaRPr lang="en-US"/>
          </a:p>
        </p:txBody>
      </p:sp>
    </p:spTree>
    <p:extLst>
      <p:ext uri="{BB962C8B-B14F-4D97-AF65-F5344CB8AC3E}">
        <p14:creationId xmlns:p14="http://schemas.microsoft.com/office/powerpoint/2010/main" val="2251717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812C93-744D-49D4-B4A1-93AD3C8F5E19}" type="datetime1">
              <a:rPr lang="en-US" smtClean="0"/>
              <a:t>3/20/2024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21341" y="302750"/>
            <a:ext cx="8229600" cy="563562"/>
          </a:xfrm>
        </p:spPr>
        <p:txBody>
          <a:bodyPr>
            <a:normAutofit/>
          </a:bodyPr>
          <a:lstStyle>
            <a:lvl1pPr>
              <a:defRPr sz="3600">
                <a:solidFill>
                  <a:srgbClr val="0070C0"/>
                </a:solidFill>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idx="1"/>
          </p:nvPr>
        </p:nvSpPr>
        <p:spPr>
          <a:xfrm>
            <a:off x="421340" y="1219200"/>
            <a:ext cx="8265459" cy="4876800"/>
          </a:xfrm>
        </p:spPr>
        <p:txBody>
          <a:bodyPr/>
          <a:lstStyle>
            <a:lvl1pPr marL="342900" indent="-342900">
              <a:buClr>
                <a:srgbClr val="0070C0"/>
              </a:buClr>
              <a:buFont typeface="Wingdings" panose="05000000000000000000" pitchFamily="2" charset="2"/>
              <a:buChar char="§"/>
              <a:defRPr>
                <a:latin typeface="Times New Roman" pitchFamily="18" charset="0"/>
                <a:cs typeface="Times New Roman" pitchFamily="18" charset="0"/>
              </a:defRPr>
            </a:lvl1pPr>
            <a:lvl2pPr marL="742950" indent="-285750">
              <a:buFont typeface="Wingdings" panose="05000000000000000000" pitchFamily="2" charset="2"/>
              <a:buChar char="§"/>
              <a:defRPr>
                <a:latin typeface="Times New Roman" pitchFamily="18" charset="0"/>
                <a:cs typeface="Times New Roman" pitchFamily="18" charset="0"/>
              </a:defRPr>
            </a:lvl2pPr>
            <a:lvl3pPr marL="1143000" indent="-228600">
              <a:buFont typeface="Wingdings" panose="05000000000000000000" pitchFamily="2" charset="2"/>
              <a:buChar char="§"/>
              <a:defRPr>
                <a:latin typeface="Times New Roman" pitchFamily="18" charset="0"/>
                <a:cs typeface="Times New Roman" pitchFamily="18" charset="0"/>
              </a:defRPr>
            </a:lvl3pPr>
            <a:lvl4pPr marL="1600200" indent="-228600">
              <a:buFont typeface="Wingdings" panose="05000000000000000000" pitchFamily="2" charset="2"/>
              <a:buChar char="§"/>
              <a:defRPr>
                <a:latin typeface="Times New Roman" pitchFamily="18" charset="0"/>
                <a:cs typeface="Times New Roman" pitchFamily="18" charset="0"/>
              </a:defRPr>
            </a:lvl4pPr>
            <a:lvl5pPr marL="2057400" indent="-228600">
              <a:buFont typeface="Wingdings" panose="05000000000000000000" pitchFamily="2" charset="2"/>
              <a:buChar char="§"/>
              <a:defRPr>
                <a:latin typeface="Times New Roman" pitchFamily="18" charset="0"/>
                <a:cs typeface="Times New Roman"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3E099E8-3178-4A85-9D5D-C14936EFC463}" type="datetime1">
              <a:rPr lang="en-US" smtClean="0"/>
              <a:t>3/20/2024</a:t>
            </a:fld>
            <a:endParaRPr lang="en-US"/>
          </a:p>
        </p:txBody>
      </p:sp>
      <p:sp>
        <p:nvSpPr>
          <p:cNvPr id="5" name="Footer Placeholder 4"/>
          <p:cNvSpPr>
            <a:spLocks noGrp="1"/>
          </p:cNvSpPr>
          <p:nvPr>
            <p:ph type="ftr" sz="quarter" idx="11"/>
          </p:nvPr>
        </p:nvSpPr>
        <p:spPr/>
        <p:txBody>
          <a:bodyPr/>
          <a:lstStyle/>
          <a:p>
            <a:r>
              <a:rPr lang="en-US" dirty="0"/>
              <a:t>thongt@dlu.edu.vn</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55F9E-E5BE-46FA-BF13-A198F8BAAE6F}" type="datetime1">
              <a:rPr lang="en-US" smtClean="0"/>
              <a:t>3/20/2024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8D685-A5DD-4DD6-8668-74F2C8BD6CA8}" type="datetime1">
              <a:rPr lang="en-US" smtClean="0"/>
              <a:t>3/20/2024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2A62A-4954-4846-9CFD-370F00257D42}" type="datetime1">
              <a:rPr lang="en-US" smtClean="0"/>
              <a:t>3/20/2024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A7215C-677A-4E35-90A4-900EAC01393A}" type="datetime1">
              <a:rPr lang="en-US" smtClean="0"/>
              <a:t>3/20/2024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B57AE3-B9D2-4CAC-869D-CC74F3BA3CC9}" type="datetime1">
              <a:rPr lang="en-US" smtClean="0"/>
              <a:t>3/20/2024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70AA1F-C5AC-46D8-B788-B2F63CAE6736}" type="datetime1">
              <a:rPr lang="en-US" smtClean="0"/>
              <a:t>3/20/2024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806FB6-CCBD-43AA-9E13-58CD9F0D1FCC}" type="datetime1">
              <a:rPr lang="en-US" smtClean="0"/>
              <a:t>3/20/2024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A74172-ACEC-46FF-BD91-6D97AFB62425}" type="datetime1">
              <a:rPr lang="en-US" smtClean="0"/>
              <a:t>3/20/2024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6EC9DD-7860-4B77-9694-4CAA15F91D09}" type="datetime1">
              <a:rPr lang="en-US" smtClean="0"/>
              <a:t>3/20/2024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23CDE1-37AC-4047-92FA-F29B9BD0CA06}" type="datetime1">
              <a:rPr lang="en-US" smtClean="0"/>
              <a:t>3/20/2024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4" Type="http://schemas.openxmlformats.org/officeDocument/2006/relationships/image" Target="../media/image31.jpeg"/></Relationships>
</file>

<file path=ppt/slides/_rels/slide23.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24.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25.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jpeg"/><Relationship Id="rId4" Type="http://schemas.openxmlformats.org/officeDocument/2006/relationships/image" Target="../media/image31.jpeg"/><Relationship Id="rId9" Type="http://schemas.openxmlformats.org/officeDocument/2006/relationships/image" Target="../media/image3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914400"/>
            <a:ext cx="8839200" cy="2743199"/>
          </a:xfrm>
        </p:spPr>
        <p:txBody>
          <a:bodyPr>
            <a:normAutofit/>
          </a:bodyPr>
          <a:lstStyle/>
          <a:p>
            <a:br>
              <a:rPr lang="en-US" sz="3200" b="1" dirty="0">
                <a:solidFill>
                  <a:srgbClr val="0070C0"/>
                </a:solidFill>
                <a:latin typeface="Times New Roman" panose="02020603050405020304" pitchFamily="18" charset="0"/>
                <a:cs typeface="Times New Roman" panose="02020603050405020304" pitchFamily="18" charset="0"/>
              </a:rPr>
            </a:br>
            <a:br>
              <a:rPr lang="en-US" sz="3200" dirty="0">
                <a:solidFill>
                  <a:srgbClr val="C00000"/>
                </a:solidFill>
                <a:latin typeface="Times New Roman" pitchFamily="18" charset="0"/>
                <a:cs typeface="Times New Roman" pitchFamily="18" charset="0"/>
              </a:rPr>
            </a:br>
            <a:br>
              <a:rPr lang="en-US" sz="3100" dirty="0">
                <a:solidFill>
                  <a:srgbClr val="C00000"/>
                </a:solidFill>
                <a:latin typeface="Times New Roman" pitchFamily="18" charset="0"/>
                <a:cs typeface="Times New Roman" pitchFamily="18" charset="0"/>
              </a:rPr>
            </a:br>
            <a:br>
              <a:rPr lang="en-US" sz="3200" dirty="0">
                <a:latin typeface="Times New Roman" pitchFamily="18" charset="0"/>
                <a:cs typeface="Times New Roman" pitchFamily="18" charset="0"/>
              </a:rPr>
            </a:br>
            <a:r>
              <a:rPr lang="en-US" sz="3600" b="1" dirty="0" err="1">
                <a:solidFill>
                  <a:srgbClr val="C00000"/>
                </a:solidFill>
                <a:latin typeface="Times New Roman" panose="02020603050405020304" pitchFamily="18" charset="0"/>
                <a:ea typeface="SimSun" panose="02010600030101010101" pitchFamily="2" charset="-122"/>
              </a:rPr>
              <a:t>Tính</a:t>
            </a:r>
            <a:r>
              <a:rPr lang="en-US" sz="3600" b="1" dirty="0">
                <a:solidFill>
                  <a:srgbClr val="C00000"/>
                </a:solidFill>
                <a:latin typeface="Times New Roman" panose="02020603050405020304" pitchFamily="18" charset="0"/>
                <a:ea typeface="SimSun" panose="02010600030101010101" pitchFamily="2" charset="-122"/>
              </a:rPr>
              <a:t> </a:t>
            </a:r>
            <a:r>
              <a:rPr lang="en-US" sz="3600" b="1" dirty="0" err="1">
                <a:solidFill>
                  <a:srgbClr val="C00000"/>
                </a:solidFill>
                <a:latin typeface="Times New Roman" panose="02020603050405020304" pitchFamily="18" charset="0"/>
                <a:ea typeface="SimSun" panose="02010600030101010101" pitchFamily="2" charset="-122"/>
              </a:rPr>
              <a:t>kế</a:t>
            </a:r>
            <a:r>
              <a:rPr lang="en-US" sz="3600" b="1" dirty="0">
                <a:solidFill>
                  <a:srgbClr val="C00000"/>
                </a:solidFill>
                <a:latin typeface="Times New Roman" panose="02020603050405020304" pitchFamily="18" charset="0"/>
                <a:ea typeface="SimSun" panose="02010600030101010101" pitchFamily="2" charset="-122"/>
              </a:rPr>
              <a:t> </a:t>
            </a:r>
            <a:r>
              <a:rPr lang="en-US" sz="3600" b="1" dirty="0" err="1">
                <a:solidFill>
                  <a:srgbClr val="C00000"/>
                </a:solidFill>
                <a:latin typeface="Times New Roman" panose="02020603050405020304" pitchFamily="18" charset="0"/>
                <a:ea typeface="SimSun" panose="02010600030101010101" pitchFamily="2" charset="-122"/>
              </a:rPr>
              <a:t>thừa</a:t>
            </a:r>
            <a:r>
              <a:rPr lang="en-US" sz="3600" b="1" dirty="0">
                <a:solidFill>
                  <a:srgbClr val="C00000"/>
                </a:solidFill>
                <a:latin typeface="Times New Roman" panose="02020603050405020304" pitchFamily="18" charset="0"/>
                <a:ea typeface="SimSun" panose="02010600030101010101" pitchFamily="2" charset="-122"/>
              </a:rPr>
              <a:t> (Inheritance)</a:t>
            </a:r>
          </a:p>
        </p:txBody>
      </p:sp>
      <p:sp>
        <p:nvSpPr>
          <p:cNvPr id="3" name="Subtitle 2"/>
          <p:cNvSpPr>
            <a:spLocks noGrp="1"/>
          </p:cNvSpPr>
          <p:nvPr>
            <p:ph type="subTitle" idx="1"/>
          </p:nvPr>
        </p:nvSpPr>
        <p:spPr>
          <a:xfrm>
            <a:off x="762000" y="4479925"/>
            <a:ext cx="8153400" cy="2378075"/>
          </a:xfrm>
        </p:spPr>
        <p:txBody>
          <a:bodyPr>
            <a:normAutofit/>
          </a:bodyPr>
          <a:lstStyle/>
          <a:p>
            <a:pPr indent="3602038" algn="l"/>
            <a:r>
              <a:rPr lang="de-DE" sz="1800" dirty="0">
                <a:solidFill>
                  <a:srgbClr val="C00000"/>
                </a:solidFill>
                <a:effectLst>
                  <a:outerShdw blurRad="38100" dist="38100" dir="2700000" algn="tl">
                    <a:srgbClr val="C0C0C0"/>
                  </a:outerShdw>
                </a:effectLst>
                <a:latin typeface="Times New Roman" pitchFamily="18" charset="0"/>
                <a:cs typeface="Times New Roman" pitchFamily="18" charset="0"/>
              </a:rPr>
              <a:t>           </a:t>
            </a:r>
            <a:endParaRPr lang="en-US" sz="1800" dirty="0">
              <a:solidFill>
                <a:srgbClr val="C00000"/>
              </a:solidFill>
            </a:endParaRPr>
          </a:p>
        </p:txBody>
      </p:sp>
      <p:sp>
        <p:nvSpPr>
          <p:cNvPr id="5" name="TextBox 4">
            <a:extLst>
              <a:ext uri="{FF2B5EF4-FFF2-40B4-BE49-F238E27FC236}">
                <a16:creationId xmlns:a16="http://schemas.microsoft.com/office/drawing/2014/main" id="{CE08AACE-3488-DAB7-28FC-775940B83117}"/>
              </a:ext>
            </a:extLst>
          </p:cNvPr>
          <p:cNvSpPr txBox="1"/>
          <p:nvPr/>
        </p:nvSpPr>
        <p:spPr>
          <a:xfrm>
            <a:off x="4191000" y="6356350"/>
            <a:ext cx="1242135" cy="369332"/>
          </a:xfrm>
          <a:prstGeom prst="rect">
            <a:avLst/>
          </a:prstGeom>
          <a:noFill/>
        </p:spPr>
        <p:txBody>
          <a:bodyPr wrap="none" rtlCol="0">
            <a:spAutoFit/>
          </a:bodyPr>
          <a:lstStyle/>
          <a:p>
            <a:r>
              <a:rPr lang="en-US" dirty="0" err="1"/>
              <a:t>DaLat</a:t>
            </a:r>
            <a:r>
              <a:rPr lang="en-US" dirty="0"/>
              <a:t> 2024</a:t>
            </a:r>
            <a:endParaRPr lang="vi-VN" dirty="0"/>
          </a:p>
        </p:txBody>
      </p:sp>
      <p:sp>
        <p:nvSpPr>
          <p:cNvPr id="4" name="TextBox 3">
            <a:extLst>
              <a:ext uri="{FF2B5EF4-FFF2-40B4-BE49-F238E27FC236}">
                <a16:creationId xmlns:a16="http://schemas.microsoft.com/office/drawing/2014/main" id="{8156115C-B8AE-4B30-96C1-E14E366B687E}"/>
              </a:ext>
            </a:extLst>
          </p:cNvPr>
          <p:cNvSpPr txBox="1"/>
          <p:nvPr/>
        </p:nvSpPr>
        <p:spPr>
          <a:xfrm>
            <a:off x="3836310" y="5854700"/>
            <a:ext cx="2004780" cy="369332"/>
          </a:xfrm>
          <a:prstGeom prst="rect">
            <a:avLst/>
          </a:prstGeom>
          <a:noFill/>
        </p:spPr>
        <p:txBody>
          <a:bodyPr wrap="none" rtlCol="0">
            <a:spAutoFit/>
          </a:bodyPr>
          <a:lstStyle/>
          <a:p>
            <a:r>
              <a:rPr lang="en-US" dirty="0"/>
              <a:t>thongt@dlu.edu.vn</a:t>
            </a:r>
            <a:endParaRPr lang="vi-VN" dirty="0"/>
          </a:p>
        </p:txBody>
      </p:sp>
    </p:spTree>
    <p:extLst>
      <p:ext uri="{BB962C8B-B14F-4D97-AF65-F5344CB8AC3E}">
        <p14:creationId xmlns:p14="http://schemas.microsoft.com/office/powerpoint/2010/main" val="3932755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304800" y="685800"/>
            <a:ext cx="8265459" cy="5181600"/>
          </a:xfrm>
          <a:ln>
            <a:noFill/>
          </a:ln>
        </p:spPr>
        <p:txBody>
          <a:bodyPr>
            <a:noAutofit/>
          </a:bodyPr>
          <a:lstStyle/>
          <a:p>
            <a:pPr marL="0" indent="0">
              <a:lnSpc>
                <a:spcPct val="120000"/>
              </a:lnSpc>
              <a:buNone/>
            </a:pPr>
            <a:r>
              <a:rPr lang="en-US" sz="1800" dirty="0">
                <a:latin typeface="Cascadia Mono" panose="020B0609020000020004" pitchFamily="49" charset="0"/>
              </a:rPr>
              <a:t>C</a:t>
            </a:r>
            <a:r>
              <a:rPr lang="vi-VN" sz="1800" dirty="0">
                <a:latin typeface="Cascadia Mono" panose="020B0609020000020004" pitchFamily="49" charset="0"/>
              </a:rPr>
              <a:t>ho phép tạo ra một lớp mới (</a:t>
            </a:r>
            <a:r>
              <a:rPr lang="vi-VN" sz="1800" dirty="0">
                <a:solidFill>
                  <a:srgbClr val="FF0000"/>
                </a:solidFill>
                <a:latin typeface="Cascadia Mono" panose="020B0609020000020004" pitchFamily="49" charset="0"/>
              </a:rPr>
              <a:t>lớp con</a:t>
            </a:r>
            <a:r>
              <a:rPr lang="vi-VN" sz="1800" dirty="0">
                <a:latin typeface="Cascadia Mono" panose="020B0609020000020004" pitchFamily="49" charset="0"/>
              </a:rPr>
              <a:t>) từ một lớp đã tồn tại (</a:t>
            </a:r>
            <a:r>
              <a:rPr lang="vi-VN" sz="1800" dirty="0">
                <a:solidFill>
                  <a:srgbClr val="FF0000"/>
                </a:solidFill>
                <a:latin typeface="Cascadia Mono" panose="020B0609020000020004" pitchFamily="49" charset="0"/>
              </a:rPr>
              <a:t>lớp cha</a:t>
            </a:r>
            <a:r>
              <a:rPr lang="vi-VN" sz="1800" dirty="0">
                <a:latin typeface="Cascadia Mono" panose="020B0609020000020004" pitchFamily="49" charset="0"/>
              </a:rPr>
              <a:t>). </a:t>
            </a:r>
            <a:endParaRPr lang="en-US" sz="1800" dirty="0">
              <a:latin typeface="Cascadia Mono" panose="020B0609020000020004" pitchFamily="49" charset="0"/>
            </a:endParaRPr>
          </a:p>
          <a:p>
            <a:pPr marL="0" indent="0">
              <a:lnSpc>
                <a:spcPct val="120000"/>
              </a:lnSpc>
              <a:buNone/>
            </a:pPr>
            <a:r>
              <a:rPr lang="vi-VN" sz="1800" dirty="0">
                <a:latin typeface="Cascadia Mono" panose="020B0609020000020004" pitchFamily="49" charset="0"/>
              </a:rPr>
              <a:t>Lớp con sẽ </a:t>
            </a:r>
            <a:r>
              <a:rPr lang="vi-VN" sz="1800" dirty="0">
                <a:solidFill>
                  <a:srgbClr val="FF0000"/>
                </a:solidFill>
                <a:latin typeface="Cascadia Mono" panose="020B0609020000020004" pitchFamily="49" charset="0"/>
              </a:rPr>
              <a:t>thừa hưởng các thuộc tính và phương thức </a:t>
            </a:r>
            <a:r>
              <a:rPr lang="vi-VN" sz="1800" dirty="0">
                <a:latin typeface="Cascadia Mono" panose="020B0609020000020004" pitchFamily="49" charset="0"/>
              </a:rPr>
              <a:t>(trừ các thành phần private) của lớp cha, đồng thời có thể </a:t>
            </a:r>
            <a:r>
              <a:rPr lang="vi-VN" sz="1800" dirty="0">
                <a:solidFill>
                  <a:srgbClr val="FF0000"/>
                </a:solidFill>
                <a:latin typeface="Cascadia Mono" panose="020B0609020000020004" pitchFamily="49" charset="0"/>
              </a:rPr>
              <a:t>bổ sung thêm các thành phần riêng của mình</a:t>
            </a:r>
            <a:endParaRPr lang="en-US" sz="1800" dirty="0">
              <a:solidFill>
                <a:srgbClr val="FF0000"/>
              </a:solidFill>
              <a:latin typeface="Cascadia Mono" panose="020B0609020000020004" pitchFamily="49" charset="0"/>
            </a:endParaRP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4" name="Rectangle 3">
            <a:extLst>
              <a:ext uri="{FF2B5EF4-FFF2-40B4-BE49-F238E27FC236}">
                <a16:creationId xmlns:a16="http://schemas.microsoft.com/office/drawing/2014/main" id="{D707709A-2250-194C-9316-DBF7C2DE7B89}"/>
              </a:ext>
            </a:extLst>
          </p:cNvPr>
          <p:cNvSpPr/>
          <p:nvPr/>
        </p:nvSpPr>
        <p:spPr>
          <a:xfrm>
            <a:off x="1219200" y="3303814"/>
            <a:ext cx="2286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endParaRPr lang="en-US" dirty="0"/>
          </a:p>
        </p:txBody>
      </p:sp>
      <p:sp>
        <p:nvSpPr>
          <p:cNvPr id="5" name="Rectangle 4">
            <a:extLst>
              <a:ext uri="{FF2B5EF4-FFF2-40B4-BE49-F238E27FC236}">
                <a16:creationId xmlns:a16="http://schemas.microsoft.com/office/drawing/2014/main" id="{2D808508-B117-80DA-2D17-230AD89CB6E0}"/>
              </a:ext>
            </a:extLst>
          </p:cNvPr>
          <p:cNvSpPr/>
          <p:nvPr/>
        </p:nvSpPr>
        <p:spPr>
          <a:xfrm>
            <a:off x="1219200" y="4427311"/>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endParaRPr lang="en-US" dirty="0"/>
          </a:p>
        </p:txBody>
      </p:sp>
      <p:sp>
        <p:nvSpPr>
          <p:cNvPr id="8" name="Rectangle 7">
            <a:extLst>
              <a:ext uri="{FF2B5EF4-FFF2-40B4-BE49-F238E27FC236}">
                <a16:creationId xmlns:a16="http://schemas.microsoft.com/office/drawing/2014/main" id="{7850EB98-A32A-37B8-E141-2E2D6D74C478}"/>
              </a:ext>
            </a:extLst>
          </p:cNvPr>
          <p:cNvSpPr/>
          <p:nvPr/>
        </p:nvSpPr>
        <p:spPr>
          <a:xfrm>
            <a:off x="1219200" y="2874840"/>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a:t>
            </a:r>
          </a:p>
        </p:txBody>
      </p:sp>
      <p:sp>
        <p:nvSpPr>
          <p:cNvPr id="17" name="Rectangle 16">
            <a:extLst>
              <a:ext uri="{FF2B5EF4-FFF2-40B4-BE49-F238E27FC236}">
                <a16:creationId xmlns:a16="http://schemas.microsoft.com/office/drawing/2014/main" id="{4871266F-06A8-DAC9-34DE-2BD39DB195A5}"/>
              </a:ext>
            </a:extLst>
          </p:cNvPr>
          <p:cNvSpPr/>
          <p:nvPr/>
        </p:nvSpPr>
        <p:spPr>
          <a:xfrm>
            <a:off x="4894729" y="3385911"/>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r>
              <a:rPr lang="en-US" dirty="0"/>
              <a:t> </a:t>
            </a:r>
            <a:r>
              <a:rPr lang="en-US" dirty="0" err="1"/>
              <a:t>kế</a:t>
            </a:r>
            <a:r>
              <a:rPr lang="en-US" dirty="0"/>
              <a:t> </a:t>
            </a:r>
            <a:r>
              <a:rPr lang="en-US" dirty="0" err="1"/>
              <a:t>thừa</a:t>
            </a:r>
            <a:r>
              <a:rPr lang="en-US" dirty="0"/>
              <a:t> </a:t>
            </a:r>
            <a:r>
              <a:rPr lang="en-US" dirty="0" err="1"/>
              <a:t>từ</a:t>
            </a:r>
            <a:r>
              <a:rPr lang="en-US" dirty="0"/>
              <a:t> cha</a:t>
            </a:r>
          </a:p>
        </p:txBody>
      </p:sp>
      <p:sp>
        <p:nvSpPr>
          <p:cNvPr id="18" name="Rectangle 17">
            <a:extLst>
              <a:ext uri="{FF2B5EF4-FFF2-40B4-BE49-F238E27FC236}">
                <a16:creationId xmlns:a16="http://schemas.microsoft.com/office/drawing/2014/main" id="{7B93BCE7-178A-EF22-CE9E-5F64EDA5E8C7}"/>
              </a:ext>
            </a:extLst>
          </p:cNvPr>
          <p:cNvSpPr/>
          <p:nvPr/>
        </p:nvSpPr>
        <p:spPr>
          <a:xfrm>
            <a:off x="4894729" y="4427311"/>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cha</a:t>
            </a:r>
          </a:p>
          <a:p>
            <a:pPr algn="ctr"/>
            <a:r>
              <a:rPr lang="en-US" dirty="0" err="1">
                <a:solidFill>
                  <a:srgbClr val="00B0F0"/>
                </a:solidFill>
              </a:rPr>
              <a:t>Phương</a:t>
            </a:r>
            <a:r>
              <a:rPr lang="en-US" dirty="0">
                <a:solidFill>
                  <a:srgbClr val="00B0F0"/>
                </a:solidFill>
              </a:rPr>
              <a:t> </a:t>
            </a:r>
            <a:r>
              <a:rPr lang="en-US" dirty="0" err="1">
                <a:solidFill>
                  <a:srgbClr val="00B0F0"/>
                </a:solidFill>
              </a:rPr>
              <a:t>thức</a:t>
            </a:r>
            <a:r>
              <a:rPr lang="en-US" dirty="0">
                <a:solidFill>
                  <a:srgbClr val="00B0F0"/>
                </a:solidFill>
              </a:rPr>
              <a:t> </a:t>
            </a:r>
            <a:r>
              <a:rPr lang="en-US" dirty="0" err="1">
                <a:solidFill>
                  <a:srgbClr val="00B0F0"/>
                </a:solidFill>
              </a:rPr>
              <a:t>riêng</a:t>
            </a:r>
            <a:r>
              <a:rPr lang="en-US" dirty="0">
                <a:solidFill>
                  <a:srgbClr val="00B0F0"/>
                </a:solidFill>
              </a:rPr>
              <a:t> </a:t>
            </a:r>
            <a:r>
              <a:rPr lang="en-US" dirty="0" err="1">
                <a:solidFill>
                  <a:srgbClr val="00B0F0"/>
                </a:solidFill>
              </a:rPr>
              <a:t>của</a:t>
            </a:r>
            <a:r>
              <a:rPr lang="en-US" dirty="0">
                <a:solidFill>
                  <a:srgbClr val="00B0F0"/>
                </a:solidFill>
              </a:rPr>
              <a:t> con</a:t>
            </a:r>
          </a:p>
        </p:txBody>
      </p:sp>
      <p:sp>
        <p:nvSpPr>
          <p:cNvPr id="19" name="Rectangle 18">
            <a:extLst>
              <a:ext uri="{FF2B5EF4-FFF2-40B4-BE49-F238E27FC236}">
                <a16:creationId xmlns:a16="http://schemas.microsoft.com/office/drawing/2014/main" id="{5BD2654A-5290-EC85-09AC-F011A85500E9}"/>
              </a:ext>
            </a:extLst>
          </p:cNvPr>
          <p:cNvSpPr/>
          <p:nvPr/>
        </p:nvSpPr>
        <p:spPr>
          <a:xfrm>
            <a:off x="4894729" y="2956937"/>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a:t>
            </a:r>
          </a:p>
        </p:txBody>
      </p:sp>
      <p:sp>
        <p:nvSpPr>
          <p:cNvPr id="23" name="Rectangle 22">
            <a:extLst>
              <a:ext uri="{FF2B5EF4-FFF2-40B4-BE49-F238E27FC236}">
                <a16:creationId xmlns:a16="http://schemas.microsoft.com/office/drawing/2014/main" id="{2287787B-FFEC-12B2-16D0-FDDE1E3510D3}"/>
              </a:ext>
            </a:extLst>
          </p:cNvPr>
          <p:cNvSpPr/>
          <p:nvPr/>
        </p:nvSpPr>
        <p:spPr>
          <a:xfrm>
            <a:off x="4894729" y="3902879"/>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FFC000"/>
                </a:solidFill>
              </a:rPr>
              <a:t>Thuộc</a:t>
            </a:r>
            <a:r>
              <a:rPr lang="en-US" dirty="0">
                <a:solidFill>
                  <a:srgbClr val="FFC000"/>
                </a:solidFill>
              </a:rPr>
              <a:t> </a:t>
            </a:r>
            <a:r>
              <a:rPr lang="en-US" dirty="0" err="1">
                <a:solidFill>
                  <a:srgbClr val="FFC000"/>
                </a:solidFill>
              </a:rPr>
              <a:t>tính</a:t>
            </a:r>
            <a:r>
              <a:rPr lang="en-US" dirty="0">
                <a:solidFill>
                  <a:srgbClr val="FFC000"/>
                </a:solidFill>
              </a:rPr>
              <a:t> </a:t>
            </a:r>
            <a:r>
              <a:rPr lang="en-US" dirty="0" err="1">
                <a:solidFill>
                  <a:srgbClr val="FFC000"/>
                </a:solidFill>
              </a:rPr>
              <a:t>riêng</a:t>
            </a:r>
            <a:r>
              <a:rPr lang="en-US" dirty="0">
                <a:solidFill>
                  <a:srgbClr val="FFC000"/>
                </a:solidFill>
              </a:rPr>
              <a:t> </a:t>
            </a:r>
            <a:r>
              <a:rPr lang="en-US" dirty="0" err="1">
                <a:solidFill>
                  <a:srgbClr val="FFC000"/>
                </a:solidFill>
              </a:rPr>
              <a:t>của</a:t>
            </a:r>
            <a:r>
              <a:rPr lang="en-US" dirty="0">
                <a:solidFill>
                  <a:srgbClr val="FFC000"/>
                </a:solidFill>
              </a:rPr>
              <a:t> con</a:t>
            </a:r>
          </a:p>
        </p:txBody>
      </p:sp>
      <p:cxnSp>
        <p:nvCxnSpPr>
          <p:cNvPr id="29" name="Straight Arrow Connector 28">
            <a:extLst>
              <a:ext uri="{FF2B5EF4-FFF2-40B4-BE49-F238E27FC236}">
                <a16:creationId xmlns:a16="http://schemas.microsoft.com/office/drawing/2014/main" id="{0C1F2EC3-5710-E1AE-AC63-162EB4EB090F}"/>
              </a:ext>
            </a:extLst>
          </p:cNvPr>
          <p:cNvCxnSpPr>
            <a:endCxn id="23" idx="1"/>
          </p:cNvCxnSpPr>
          <p:nvPr/>
        </p:nvCxnSpPr>
        <p:spPr>
          <a:xfrm flipV="1">
            <a:off x="3533775" y="4181475"/>
            <a:ext cx="1381125"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462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340659" y="178594"/>
            <a:ext cx="8229600" cy="563562"/>
          </a:xfrm>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304800" y="685800"/>
            <a:ext cx="8265459" cy="5181600"/>
          </a:xfrm>
          <a:ln>
            <a:noFill/>
          </a:ln>
        </p:spPr>
        <p:txBody>
          <a:bodyPr>
            <a:noAutofit/>
          </a:bodyPr>
          <a:lstStyle/>
          <a:p>
            <a:pPr algn="l">
              <a:buFont typeface="Arial" panose="020B0604020202020204" pitchFamily="34" charset="0"/>
              <a:buChar char="•"/>
            </a:pPr>
            <a:r>
              <a:rPr lang="vi-VN" sz="1800" dirty="0">
                <a:solidFill>
                  <a:srgbClr val="FF0000"/>
                </a:solidFill>
                <a:latin typeface="Cascadia Mono" panose="020B0609020000020004" pitchFamily="49" charset="0"/>
              </a:rPr>
              <a:t>Tái sử dụng mã:</a:t>
            </a:r>
            <a:r>
              <a:rPr lang="vi-VN" sz="1800" dirty="0">
                <a:latin typeface="Cascadia Mono" panose="020B0609020000020004" pitchFamily="49" charset="0"/>
              </a:rPr>
              <a:t> Giúp giảm thiểu việc viết mã lặp lại, tiết kiệm thời gian và công sức.</a:t>
            </a:r>
          </a:p>
          <a:p>
            <a:pPr algn="l">
              <a:buFont typeface="Arial" panose="020B0604020202020204" pitchFamily="34" charset="0"/>
              <a:buChar char="•"/>
            </a:pPr>
            <a:r>
              <a:rPr lang="vi-VN" sz="1800" dirty="0">
                <a:solidFill>
                  <a:srgbClr val="FF0000"/>
                </a:solidFill>
                <a:latin typeface="Cascadia Mono" panose="020B0609020000020004" pitchFamily="49" charset="0"/>
              </a:rPr>
              <a:t>Tăng tính mở rộng: </a:t>
            </a:r>
            <a:r>
              <a:rPr lang="vi-VN" sz="1800" dirty="0">
                <a:latin typeface="Cascadia Mono" panose="020B0609020000020004" pitchFamily="49" charset="0"/>
              </a:rPr>
              <a:t>Cho phép dễ dàng mở rộng hệ thống bằng cách tạo ra các lớp con mới từ các lớp cha đã có.</a:t>
            </a:r>
          </a:p>
          <a:p>
            <a:pPr algn="l">
              <a:buFont typeface="Arial" panose="020B0604020202020204" pitchFamily="34" charset="0"/>
              <a:buChar char="•"/>
            </a:pPr>
            <a:r>
              <a:rPr lang="vi-VN" sz="1800" dirty="0">
                <a:solidFill>
                  <a:srgbClr val="FF0000"/>
                </a:solidFill>
                <a:latin typeface="Cascadia Mono" panose="020B0609020000020004" pitchFamily="49" charset="0"/>
              </a:rPr>
              <a:t>Tăng tính bảo trì: </a:t>
            </a:r>
            <a:r>
              <a:rPr lang="vi-VN" sz="1800" dirty="0">
                <a:latin typeface="Cascadia Mono" panose="020B0609020000020004" pitchFamily="49" charset="0"/>
              </a:rPr>
              <a:t>Giúp việc bảo trì hệ thống dễ dàng hơn do mã được tổ chức logic và hợp lý</a:t>
            </a: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Rectangle 3">
            <a:extLst>
              <a:ext uri="{FF2B5EF4-FFF2-40B4-BE49-F238E27FC236}">
                <a16:creationId xmlns:a16="http://schemas.microsoft.com/office/drawing/2014/main" id="{D707709A-2250-194C-9316-DBF7C2DE7B89}"/>
              </a:ext>
            </a:extLst>
          </p:cNvPr>
          <p:cNvSpPr/>
          <p:nvPr/>
        </p:nvSpPr>
        <p:spPr>
          <a:xfrm>
            <a:off x="1219200" y="3303814"/>
            <a:ext cx="2286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endParaRPr lang="en-US" dirty="0"/>
          </a:p>
        </p:txBody>
      </p:sp>
      <p:sp>
        <p:nvSpPr>
          <p:cNvPr id="5" name="Rectangle 4">
            <a:extLst>
              <a:ext uri="{FF2B5EF4-FFF2-40B4-BE49-F238E27FC236}">
                <a16:creationId xmlns:a16="http://schemas.microsoft.com/office/drawing/2014/main" id="{2D808508-B117-80DA-2D17-230AD89CB6E0}"/>
              </a:ext>
            </a:extLst>
          </p:cNvPr>
          <p:cNvSpPr/>
          <p:nvPr/>
        </p:nvSpPr>
        <p:spPr>
          <a:xfrm>
            <a:off x="1219200" y="4427311"/>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endParaRPr lang="en-US" dirty="0"/>
          </a:p>
        </p:txBody>
      </p:sp>
      <p:sp>
        <p:nvSpPr>
          <p:cNvPr id="8" name="Rectangle 7">
            <a:extLst>
              <a:ext uri="{FF2B5EF4-FFF2-40B4-BE49-F238E27FC236}">
                <a16:creationId xmlns:a16="http://schemas.microsoft.com/office/drawing/2014/main" id="{7850EB98-A32A-37B8-E141-2E2D6D74C478}"/>
              </a:ext>
            </a:extLst>
          </p:cNvPr>
          <p:cNvSpPr/>
          <p:nvPr/>
        </p:nvSpPr>
        <p:spPr>
          <a:xfrm>
            <a:off x="1219200" y="2874840"/>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a:t>
            </a:r>
          </a:p>
        </p:txBody>
      </p:sp>
      <p:sp>
        <p:nvSpPr>
          <p:cNvPr id="17" name="Rectangle 16">
            <a:extLst>
              <a:ext uri="{FF2B5EF4-FFF2-40B4-BE49-F238E27FC236}">
                <a16:creationId xmlns:a16="http://schemas.microsoft.com/office/drawing/2014/main" id="{4871266F-06A8-DAC9-34DE-2BD39DB195A5}"/>
              </a:ext>
            </a:extLst>
          </p:cNvPr>
          <p:cNvSpPr/>
          <p:nvPr/>
        </p:nvSpPr>
        <p:spPr>
          <a:xfrm>
            <a:off x="4894729" y="3385911"/>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r>
              <a:rPr lang="en-US" dirty="0"/>
              <a:t> </a:t>
            </a:r>
            <a:r>
              <a:rPr lang="en-US" dirty="0" err="1"/>
              <a:t>kế</a:t>
            </a:r>
            <a:r>
              <a:rPr lang="en-US" dirty="0"/>
              <a:t> </a:t>
            </a:r>
            <a:r>
              <a:rPr lang="en-US" dirty="0" err="1"/>
              <a:t>thừa</a:t>
            </a:r>
            <a:r>
              <a:rPr lang="en-US" dirty="0"/>
              <a:t> </a:t>
            </a:r>
            <a:r>
              <a:rPr lang="en-US" dirty="0" err="1"/>
              <a:t>từ</a:t>
            </a:r>
            <a:r>
              <a:rPr lang="en-US" dirty="0"/>
              <a:t> cha</a:t>
            </a:r>
          </a:p>
        </p:txBody>
      </p:sp>
      <p:sp>
        <p:nvSpPr>
          <p:cNvPr id="18" name="Rectangle 17">
            <a:extLst>
              <a:ext uri="{FF2B5EF4-FFF2-40B4-BE49-F238E27FC236}">
                <a16:creationId xmlns:a16="http://schemas.microsoft.com/office/drawing/2014/main" id="{7B93BCE7-178A-EF22-CE9E-5F64EDA5E8C7}"/>
              </a:ext>
            </a:extLst>
          </p:cNvPr>
          <p:cNvSpPr/>
          <p:nvPr/>
        </p:nvSpPr>
        <p:spPr>
          <a:xfrm>
            <a:off x="4894729" y="4427311"/>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cha</a:t>
            </a:r>
          </a:p>
          <a:p>
            <a:pPr algn="ctr"/>
            <a:r>
              <a:rPr lang="en-US" dirty="0" err="1">
                <a:solidFill>
                  <a:srgbClr val="00B0F0"/>
                </a:solidFill>
              </a:rPr>
              <a:t>Phương</a:t>
            </a:r>
            <a:r>
              <a:rPr lang="en-US" dirty="0">
                <a:solidFill>
                  <a:srgbClr val="00B0F0"/>
                </a:solidFill>
              </a:rPr>
              <a:t> </a:t>
            </a:r>
            <a:r>
              <a:rPr lang="en-US" dirty="0" err="1">
                <a:solidFill>
                  <a:srgbClr val="00B0F0"/>
                </a:solidFill>
              </a:rPr>
              <a:t>thức</a:t>
            </a:r>
            <a:r>
              <a:rPr lang="en-US" dirty="0">
                <a:solidFill>
                  <a:srgbClr val="00B0F0"/>
                </a:solidFill>
              </a:rPr>
              <a:t> </a:t>
            </a:r>
            <a:r>
              <a:rPr lang="en-US" dirty="0" err="1">
                <a:solidFill>
                  <a:srgbClr val="00B0F0"/>
                </a:solidFill>
              </a:rPr>
              <a:t>riêng</a:t>
            </a:r>
            <a:r>
              <a:rPr lang="en-US" dirty="0">
                <a:solidFill>
                  <a:srgbClr val="00B0F0"/>
                </a:solidFill>
              </a:rPr>
              <a:t> </a:t>
            </a:r>
            <a:r>
              <a:rPr lang="en-US" dirty="0" err="1">
                <a:solidFill>
                  <a:srgbClr val="00B0F0"/>
                </a:solidFill>
              </a:rPr>
              <a:t>của</a:t>
            </a:r>
            <a:r>
              <a:rPr lang="en-US" dirty="0">
                <a:solidFill>
                  <a:srgbClr val="00B0F0"/>
                </a:solidFill>
              </a:rPr>
              <a:t> con</a:t>
            </a:r>
          </a:p>
        </p:txBody>
      </p:sp>
      <p:sp>
        <p:nvSpPr>
          <p:cNvPr id="19" name="Rectangle 18">
            <a:extLst>
              <a:ext uri="{FF2B5EF4-FFF2-40B4-BE49-F238E27FC236}">
                <a16:creationId xmlns:a16="http://schemas.microsoft.com/office/drawing/2014/main" id="{5BD2654A-5290-EC85-09AC-F011A85500E9}"/>
              </a:ext>
            </a:extLst>
          </p:cNvPr>
          <p:cNvSpPr/>
          <p:nvPr/>
        </p:nvSpPr>
        <p:spPr>
          <a:xfrm>
            <a:off x="4894729" y="2956937"/>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a:t>
            </a:r>
          </a:p>
        </p:txBody>
      </p:sp>
      <p:sp>
        <p:nvSpPr>
          <p:cNvPr id="23" name="Rectangle 22">
            <a:extLst>
              <a:ext uri="{FF2B5EF4-FFF2-40B4-BE49-F238E27FC236}">
                <a16:creationId xmlns:a16="http://schemas.microsoft.com/office/drawing/2014/main" id="{2287787B-FFEC-12B2-16D0-FDDE1E3510D3}"/>
              </a:ext>
            </a:extLst>
          </p:cNvPr>
          <p:cNvSpPr/>
          <p:nvPr/>
        </p:nvSpPr>
        <p:spPr>
          <a:xfrm>
            <a:off x="4894729" y="3902879"/>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FFC000"/>
                </a:solidFill>
              </a:rPr>
              <a:t>Thuộc</a:t>
            </a:r>
            <a:r>
              <a:rPr lang="en-US" dirty="0">
                <a:solidFill>
                  <a:srgbClr val="FFC000"/>
                </a:solidFill>
              </a:rPr>
              <a:t> </a:t>
            </a:r>
            <a:r>
              <a:rPr lang="en-US" dirty="0" err="1">
                <a:solidFill>
                  <a:srgbClr val="FFC000"/>
                </a:solidFill>
              </a:rPr>
              <a:t>tính</a:t>
            </a:r>
            <a:r>
              <a:rPr lang="en-US" dirty="0">
                <a:solidFill>
                  <a:srgbClr val="FFC000"/>
                </a:solidFill>
              </a:rPr>
              <a:t> </a:t>
            </a:r>
            <a:r>
              <a:rPr lang="en-US" dirty="0" err="1">
                <a:solidFill>
                  <a:srgbClr val="FFC000"/>
                </a:solidFill>
              </a:rPr>
              <a:t>riêng</a:t>
            </a:r>
            <a:r>
              <a:rPr lang="en-US" dirty="0">
                <a:solidFill>
                  <a:srgbClr val="FFC000"/>
                </a:solidFill>
              </a:rPr>
              <a:t> </a:t>
            </a:r>
            <a:r>
              <a:rPr lang="en-US" dirty="0" err="1">
                <a:solidFill>
                  <a:srgbClr val="FFC000"/>
                </a:solidFill>
              </a:rPr>
              <a:t>của</a:t>
            </a:r>
            <a:r>
              <a:rPr lang="en-US" dirty="0">
                <a:solidFill>
                  <a:srgbClr val="FFC000"/>
                </a:solidFill>
              </a:rPr>
              <a:t> con</a:t>
            </a:r>
          </a:p>
        </p:txBody>
      </p:sp>
      <p:cxnSp>
        <p:nvCxnSpPr>
          <p:cNvPr id="29" name="Straight Arrow Connector 28">
            <a:extLst>
              <a:ext uri="{FF2B5EF4-FFF2-40B4-BE49-F238E27FC236}">
                <a16:creationId xmlns:a16="http://schemas.microsoft.com/office/drawing/2014/main" id="{0C1F2EC3-5710-E1AE-AC63-162EB4EB090F}"/>
              </a:ext>
            </a:extLst>
          </p:cNvPr>
          <p:cNvCxnSpPr>
            <a:endCxn id="23" idx="1"/>
          </p:cNvCxnSpPr>
          <p:nvPr/>
        </p:nvCxnSpPr>
        <p:spPr>
          <a:xfrm flipV="1">
            <a:off x="3533775" y="4181475"/>
            <a:ext cx="1381125"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89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363631" y="117293"/>
            <a:ext cx="8229600" cy="563562"/>
          </a:xfrm>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304800" y="685800"/>
            <a:ext cx="8265459" cy="5181600"/>
          </a:xfrm>
          <a:ln>
            <a:noFill/>
          </a:ln>
        </p:spPr>
        <p:txBody>
          <a:bodyPr>
            <a:noAutofit/>
          </a:bodyPr>
          <a:lstStyle/>
          <a:p>
            <a:pPr algn="l">
              <a:buFont typeface="Arial" panose="020B0604020202020204" pitchFamily="34" charset="0"/>
              <a:buChar char="•"/>
            </a:pPr>
            <a:r>
              <a:rPr lang="vi-VN" sz="1800" dirty="0">
                <a:solidFill>
                  <a:srgbClr val="FF0000"/>
                </a:solidFill>
                <a:latin typeface="Cascadia Mono" panose="020B0609020000020004" pitchFamily="49" charset="0"/>
              </a:rPr>
              <a:t>Tái sử dụng mã:</a:t>
            </a:r>
            <a:r>
              <a:rPr lang="vi-VN" sz="1800" dirty="0">
                <a:latin typeface="Cascadia Mono" panose="020B0609020000020004" pitchFamily="49" charset="0"/>
              </a:rPr>
              <a:t> Giúp giảm thiểu việc viết mã lặp lại, tiết kiệm thời gian và công sức.</a:t>
            </a:r>
          </a:p>
          <a:p>
            <a:pPr algn="l">
              <a:buFont typeface="Arial" panose="020B0604020202020204" pitchFamily="34" charset="0"/>
              <a:buChar char="•"/>
            </a:pPr>
            <a:r>
              <a:rPr lang="vi-VN" sz="1800" dirty="0">
                <a:solidFill>
                  <a:srgbClr val="FF0000"/>
                </a:solidFill>
                <a:latin typeface="Cascadia Mono" panose="020B0609020000020004" pitchFamily="49" charset="0"/>
              </a:rPr>
              <a:t>Tăng tính mở rộng: </a:t>
            </a:r>
            <a:r>
              <a:rPr lang="vi-VN" sz="1800" dirty="0">
                <a:latin typeface="Cascadia Mono" panose="020B0609020000020004" pitchFamily="49" charset="0"/>
              </a:rPr>
              <a:t>Cho phép dễ dàng mở rộng hệ thống bằng cách tạo ra các lớp con mới từ các lớp cha đã có.</a:t>
            </a:r>
          </a:p>
          <a:p>
            <a:pPr algn="l">
              <a:buFont typeface="Arial" panose="020B0604020202020204" pitchFamily="34" charset="0"/>
              <a:buChar char="•"/>
            </a:pPr>
            <a:r>
              <a:rPr lang="vi-VN" sz="1800" dirty="0">
                <a:solidFill>
                  <a:srgbClr val="FF0000"/>
                </a:solidFill>
                <a:latin typeface="Cascadia Mono" panose="020B0609020000020004" pitchFamily="49" charset="0"/>
              </a:rPr>
              <a:t>Tăng tính bảo trì: </a:t>
            </a:r>
            <a:r>
              <a:rPr lang="vi-VN" sz="1800" dirty="0">
                <a:latin typeface="Cascadia Mono" panose="020B0609020000020004" pitchFamily="49" charset="0"/>
              </a:rPr>
              <a:t>Giúp việc bảo trì hệ thống dễ dàng hơn do mã được tổ chức logic và hợp lý</a:t>
            </a: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Rectangle 3">
            <a:extLst>
              <a:ext uri="{FF2B5EF4-FFF2-40B4-BE49-F238E27FC236}">
                <a16:creationId xmlns:a16="http://schemas.microsoft.com/office/drawing/2014/main" id="{D707709A-2250-194C-9316-DBF7C2DE7B89}"/>
              </a:ext>
            </a:extLst>
          </p:cNvPr>
          <p:cNvSpPr/>
          <p:nvPr/>
        </p:nvSpPr>
        <p:spPr>
          <a:xfrm>
            <a:off x="214593" y="3143703"/>
            <a:ext cx="2286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endParaRPr lang="en-US" dirty="0"/>
          </a:p>
        </p:txBody>
      </p:sp>
      <p:sp>
        <p:nvSpPr>
          <p:cNvPr id="5" name="Rectangle 4">
            <a:extLst>
              <a:ext uri="{FF2B5EF4-FFF2-40B4-BE49-F238E27FC236}">
                <a16:creationId xmlns:a16="http://schemas.microsoft.com/office/drawing/2014/main" id="{2D808508-B117-80DA-2D17-230AD89CB6E0}"/>
              </a:ext>
            </a:extLst>
          </p:cNvPr>
          <p:cNvSpPr/>
          <p:nvPr/>
        </p:nvSpPr>
        <p:spPr>
          <a:xfrm>
            <a:off x="214593" y="4267200"/>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endParaRPr lang="en-US" dirty="0"/>
          </a:p>
        </p:txBody>
      </p:sp>
      <p:sp>
        <p:nvSpPr>
          <p:cNvPr id="8" name="Rectangle 7">
            <a:extLst>
              <a:ext uri="{FF2B5EF4-FFF2-40B4-BE49-F238E27FC236}">
                <a16:creationId xmlns:a16="http://schemas.microsoft.com/office/drawing/2014/main" id="{7850EB98-A32A-37B8-E141-2E2D6D74C478}"/>
              </a:ext>
            </a:extLst>
          </p:cNvPr>
          <p:cNvSpPr/>
          <p:nvPr/>
        </p:nvSpPr>
        <p:spPr>
          <a:xfrm>
            <a:off x="214593" y="2714729"/>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a:t>
            </a:r>
          </a:p>
        </p:txBody>
      </p:sp>
      <p:sp>
        <p:nvSpPr>
          <p:cNvPr id="17" name="Rectangle 16">
            <a:extLst>
              <a:ext uri="{FF2B5EF4-FFF2-40B4-BE49-F238E27FC236}">
                <a16:creationId xmlns:a16="http://schemas.microsoft.com/office/drawing/2014/main" id="{4871266F-06A8-DAC9-34DE-2BD39DB195A5}"/>
              </a:ext>
            </a:extLst>
          </p:cNvPr>
          <p:cNvSpPr/>
          <p:nvPr/>
        </p:nvSpPr>
        <p:spPr>
          <a:xfrm>
            <a:off x="3890122" y="3225800"/>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r>
              <a:rPr lang="en-US" dirty="0"/>
              <a:t> </a:t>
            </a:r>
            <a:r>
              <a:rPr lang="en-US" dirty="0" err="1"/>
              <a:t>kế</a:t>
            </a:r>
            <a:r>
              <a:rPr lang="en-US" dirty="0"/>
              <a:t> </a:t>
            </a:r>
            <a:r>
              <a:rPr lang="en-US" dirty="0" err="1"/>
              <a:t>thừa</a:t>
            </a:r>
            <a:r>
              <a:rPr lang="en-US" dirty="0"/>
              <a:t> </a:t>
            </a:r>
            <a:r>
              <a:rPr lang="en-US" dirty="0" err="1"/>
              <a:t>từ</a:t>
            </a:r>
            <a:r>
              <a:rPr lang="en-US" dirty="0"/>
              <a:t> cha</a:t>
            </a:r>
          </a:p>
        </p:txBody>
      </p:sp>
      <p:sp>
        <p:nvSpPr>
          <p:cNvPr id="18" name="Rectangle 17">
            <a:extLst>
              <a:ext uri="{FF2B5EF4-FFF2-40B4-BE49-F238E27FC236}">
                <a16:creationId xmlns:a16="http://schemas.microsoft.com/office/drawing/2014/main" id="{7B93BCE7-178A-EF22-CE9E-5F64EDA5E8C7}"/>
              </a:ext>
            </a:extLst>
          </p:cNvPr>
          <p:cNvSpPr/>
          <p:nvPr/>
        </p:nvSpPr>
        <p:spPr>
          <a:xfrm>
            <a:off x="3890122" y="4267200"/>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cha</a:t>
            </a:r>
          </a:p>
          <a:p>
            <a:pPr algn="ctr"/>
            <a:r>
              <a:rPr lang="en-US" dirty="0" err="1">
                <a:solidFill>
                  <a:srgbClr val="00B0F0"/>
                </a:solidFill>
              </a:rPr>
              <a:t>Phương</a:t>
            </a:r>
            <a:r>
              <a:rPr lang="en-US" dirty="0">
                <a:solidFill>
                  <a:srgbClr val="00B0F0"/>
                </a:solidFill>
              </a:rPr>
              <a:t> </a:t>
            </a:r>
            <a:r>
              <a:rPr lang="en-US" dirty="0" err="1">
                <a:solidFill>
                  <a:srgbClr val="00B0F0"/>
                </a:solidFill>
              </a:rPr>
              <a:t>thức</a:t>
            </a:r>
            <a:r>
              <a:rPr lang="en-US" dirty="0">
                <a:solidFill>
                  <a:srgbClr val="00B0F0"/>
                </a:solidFill>
              </a:rPr>
              <a:t> </a:t>
            </a:r>
            <a:r>
              <a:rPr lang="en-US" dirty="0" err="1">
                <a:solidFill>
                  <a:srgbClr val="00B0F0"/>
                </a:solidFill>
              </a:rPr>
              <a:t>riêng</a:t>
            </a:r>
            <a:r>
              <a:rPr lang="en-US" dirty="0">
                <a:solidFill>
                  <a:srgbClr val="00B0F0"/>
                </a:solidFill>
              </a:rPr>
              <a:t> </a:t>
            </a:r>
            <a:r>
              <a:rPr lang="en-US" dirty="0" err="1">
                <a:solidFill>
                  <a:srgbClr val="00B0F0"/>
                </a:solidFill>
              </a:rPr>
              <a:t>của</a:t>
            </a:r>
            <a:r>
              <a:rPr lang="en-US" dirty="0">
                <a:solidFill>
                  <a:srgbClr val="00B0F0"/>
                </a:solidFill>
              </a:rPr>
              <a:t> con</a:t>
            </a:r>
          </a:p>
        </p:txBody>
      </p:sp>
      <p:sp>
        <p:nvSpPr>
          <p:cNvPr id="19" name="Rectangle 18">
            <a:extLst>
              <a:ext uri="{FF2B5EF4-FFF2-40B4-BE49-F238E27FC236}">
                <a16:creationId xmlns:a16="http://schemas.microsoft.com/office/drawing/2014/main" id="{5BD2654A-5290-EC85-09AC-F011A85500E9}"/>
              </a:ext>
            </a:extLst>
          </p:cNvPr>
          <p:cNvSpPr/>
          <p:nvPr/>
        </p:nvSpPr>
        <p:spPr>
          <a:xfrm>
            <a:off x="3890122" y="2796826"/>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a:t>
            </a:r>
          </a:p>
        </p:txBody>
      </p:sp>
      <p:sp>
        <p:nvSpPr>
          <p:cNvPr id="23" name="Rectangle 22">
            <a:extLst>
              <a:ext uri="{FF2B5EF4-FFF2-40B4-BE49-F238E27FC236}">
                <a16:creationId xmlns:a16="http://schemas.microsoft.com/office/drawing/2014/main" id="{2287787B-FFEC-12B2-16D0-FDDE1E3510D3}"/>
              </a:ext>
            </a:extLst>
          </p:cNvPr>
          <p:cNvSpPr/>
          <p:nvPr/>
        </p:nvSpPr>
        <p:spPr>
          <a:xfrm>
            <a:off x="3890122" y="3742768"/>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FFC000"/>
                </a:solidFill>
              </a:rPr>
              <a:t>Thuộc</a:t>
            </a:r>
            <a:r>
              <a:rPr lang="en-US" dirty="0">
                <a:solidFill>
                  <a:srgbClr val="FFC000"/>
                </a:solidFill>
              </a:rPr>
              <a:t> </a:t>
            </a:r>
            <a:r>
              <a:rPr lang="en-US" dirty="0" err="1">
                <a:solidFill>
                  <a:srgbClr val="FFC000"/>
                </a:solidFill>
              </a:rPr>
              <a:t>tính</a:t>
            </a:r>
            <a:r>
              <a:rPr lang="en-US" dirty="0">
                <a:solidFill>
                  <a:srgbClr val="FFC000"/>
                </a:solidFill>
              </a:rPr>
              <a:t> </a:t>
            </a:r>
            <a:r>
              <a:rPr lang="en-US" dirty="0" err="1">
                <a:solidFill>
                  <a:srgbClr val="FFC000"/>
                </a:solidFill>
              </a:rPr>
              <a:t>riêng</a:t>
            </a:r>
            <a:r>
              <a:rPr lang="en-US" dirty="0">
                <a:solidFill>
                  <a:srgbClr val="FFC000"/>
                </a:solidFill>
              </a:rPr>
              <a:t> </a:t>
            </a:r>
            <a:r>
              <a:rPr lang="en-US" dirty="0" err="1">
                <a:solidFill>
                  <a:srgbClr val="FFC000"/>
                </a:solidFill>
              </a:rPr>
              <a:t>của</a:t>
            </a:r>
            <a:r>
              <a:rPr lang="en-US" dirty="0">
                <a:solidFill>
                  <a:srgbClr val="FFC000"/>
                </a:solidFill>
              </a:rPr>
              <a:t> con</a:t>
            </a:r>
          </a:p>
        </p:txBody>
      </p:sp>
      <p:cxnSp>
        <p:nvCxnSpPr>
          <p:cNvPr id="29" name="Straight Arrow Connector 28">
            <a:extLst>
              <a:ext uri="{FF2B5EF4-FFF2-40B4-BE49-F238E27FC236}">
                <a16:creationId xmlns:a16="http://schemas.microsoft.com/office/drawing/2014/main" id="{0C1F2EC3-5710-E1AE-AC63-162EB4EB090F}"/>
              </a:ext>
            </a:extLst>
          </p:cNvPr>
          <p:cNvCxnSpPr>
            <a:endCxn id="23" idx="1"/>
          </p:cNvCxnSpPr>
          <p:nvPr/>
        </p:nvCxnSpPr>
        <p:spPr>
          <a:xfrm flipV="1">
            <a:off x="2529168" y="4021364"/>
            <a:ext cx="1381125"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83DDE610-35E7-EABD-CBD4-5B21064DD286}"/>
              </a:ext>
            </a:extLst>
          </p:cNvPr>
          <p:cNvPicPr>
            <a:picLocks noChangeAspect="1"/>
          </p:cNvPicPr>
          <p:nvPr/>
        </p:nvPicPr>
        <p:blipFill>
          <a:blip r:embed="rId2"/>
          <a:stretch>
            <a:fillRect/>
          </a:stretch>
        </p:blipFill>
        <p:spPr>
          <a:xfrm>
            <a:off x="6204697" y="2288602"/>
            <a:ext cx="2857899" cy="4105848"/>
          </a:xfrm>
          <a:prstGeom prst="rect">
            <a:avLst/>
          </a:prstGeom>
        </p:spPr>
      </p:pic>
    </p:spTree>
    <p:extLst>
      <p:ext uri="{BB962C8B-B14F-4D97-AF65-F5344CB8AC3E}">
        <p14:creationId xmlns:p14="http://schemas.microsoft.com/office/powerpoint/2010/main" val="713121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br>
              <a:rPr lang="en-US" sz="2400" b="1" dirty="0"/>
            </a:b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58271" y="4876800"/>
            <a:ext cx="8265459" cy="5181600"/>
          </a:xfrm>
          <a:ln>
            <a:noFill/>
          </a:ln>
        </p:spPr>
        <p:txBody>
          <a:bodyPr>
            <a:noAutofit/>
          </a:bodyPr>
          <a:lstStyle/>
          <a:p>
            <a:pPr>
              <a:buFont typeface="Arial" panose="020B0604020202020204" pitchFamily="34" charset="0"/>
              <a:buChar char="•"/>
            </a:pPr>
            <a:r>
              <a:rPr lang="vi-VN" sz="1800" dirty="0">
                <a:latin typeface="Cascadia Mono" panose="020B0609020000020004" pitchFamily="49" charset="0"/>
              </a:rPr>
              <a:t>Gán lên (upcasting): Gán một đối tượng của lớp con cho một biến có kiểu dữ liệu là lớp cha</a:t>
            </a:r>
            <a:r>
              <a:rPr lang="en-US" sz="1800" dirty="0">
                <a:latin typeface="Cascadia Mono" panose="020B0609020000020004" pitchFamily="49" charset="0"/>
              </a:rPr>
              <a:t> -&gt; </a:t>
            </a:r>
            <a:r>
              <a:rPr lang="en-US" sz="1800" dirty="0">
                <a:solidFill>
                  <a:srgbClr val="FF0000"/>
                </a:solidFill>
                <a:latin typeface="Cascadia Mono" panose="020B0609020000020004" pitchFamily="49" charset="0"/>
              </a:rPr>
              <a:t>an </a:t>
            </a:r>
            <a:r>
              <a:rPr lang="en-US" sz="1800" dirty="0" err="1">
                <a:solidFill>
                  <a:srgbClr val="FF0000"/>
                </a:solidFill>
                <a:latin typeface="Cascadia Mono" panose="020B0609020000020004" pitchFamily="49" charset="0"/>
              </a:rPr>
              <a:t>toàn</a:t>
            </a:r>
            <a:r>
              <a:rPr lang="en-US" sz="1800" dirty="0">
                <a:solidFill>
                  <a:srgbClr val="FF0000"/>
                </a:solidFill>
                <a:latin typeface="Cascadia Mono" panose="020B0609020000020004" pitchFamily="49" charset="0"/>
              </a:rPr>
              <a:t> </a:t>
            </a:r>
            <a:r>
              <a:rPr lang="en-US" sz="1800" dirty="0" err="1">
                <a:latin typeface="Cascadia Mono" panose="020B0609020000020004" pitchFamily="49" charset="0"/>
              </a:rPr>
              <a:t>vì</a:t>
            </a:r>
            <a:r>
              <a:rPr lang="en-US" sz="1800" dirty="0">
                <a:latin typeface="Cascadia Mono" panose="020B0609020000020004" pitchFamily="49" charset="0"/>
              </a:rPr>
              <a:t> </a:t>
            </a:r>
            <a:r>
              <a:rPr lang="en-US" sz="1800" dirty="0" err="1">
                <a:latin typeface="Cascadia Mono" panose="020B0609020000020004" pitchFamily="49" charset="0"/>
              </a:rPr>
              <a:t>nó</a:t>
            </a:r>
            <a:r>
              <a:rPr lang="en-US" sz="1800" dirty="0">
                <a:latin typeface="Cascadia Mono" panose="020B0609020000020004" pitchFamily="49" charset="0"/>
              </a:rPr>
              <a:t> </a:t>
            </a:r>
            <a:r>
              <a:rPr lang="en-US" sz="1800" dirty="0" err="1">
                <a:latin typeface="Cascadia Mono" panose="020B0609020000020004" pitchFamily="49" charset="0"/>
              </a:rPr>
              <a:t>không</a:t>
            </a:r>
            <a:r>
              <a:rPr lang="en-US" sz="1800" dirty="0">
                <a:latin typeface="Cascadia Mono" panose="020B0609020000020004" pitchFamily="49" charset="0"/>
              </a:rPr>
              <a:t> </a:t>
            </a:r>
            <a:r>
              <a:rPr lang="en-US" sz="1800" dirty="0" err="1">
                <a:latin typeface="Cascadia Mono" panose="020B0609020000020004" pitchFamily="49" charset="0"/>
              </a:rPr>
              <a:t>thể</a:t>
            </a:r>
            <a:r>
              <a:rPr lang="en-US" sz="1800" dirty="0">
                <a:latin typeface="Cascadia Mono" panose="020B0609020000020004" pitchFamily="49" charset="0"/>
              </a:rPr>
              <a:t> </a:t>
            </a:r>
            <a:r>
              <a:rPr lang="en-US" sz="1800" dirty="0" err="1">
                <a:latin typeface="Cascadia Mono" panose="020B0609020000020004" pitchFamily="49" charset="0"/>
              </a:rPr>
              <a:t>dẫn</a:t>
            </a:r>
            <a:r>
              <a:rPr lang="en-US" sz="1800" dirty="0">
                <a:latin typeface="Cascadia Mono" panose="020B0609020000020004" pitchFamily="49" charset="0"/>
              </a:rPr>
              <a:t> </a:t>
            </a:r>
            <a:r>
              <a:rPr lang="en-US" sz="1800" dirty="0" err="1">
                <a:latin typeface="Cascadia Mono" panose="020B0609020000020004" pitchFamily="49" charset="0"/>
              </a:rPr>
              <a:t>đến</a:t>
            </a:r>
            <a:r>
              <a:rPr lang="en-US" sz="1800" dirty="0">
                <a:latin typeface="Cascadia Mono" panose="020B0609020000020004" pitchFamily="49" charset="0"/>
              </a:rPr>
              <a:t> </a:t>
            </a:r>
            <a:r>
              <a:rPr lang="en-US" sz="1800" dirty="0" err="1">
                <a:latin typeface="Cascadia Mono" panose="020B0609020000020004" pitchFamily="49" charset="0"/>
              </a:rPr>
              <a:t>lỗi</a:t>
            </a:r>
            <a:endParaRPr lang="vi-VN" sz="1800" dirty="0">
              <a:latin typeface="Cascadia Mono" panose="020B0609020000020004" pitchFamily="49" charset="0"/>
            </a:endParaRPr>
          </a:p>
          <a:p>
            <a:pPr algn="l">
              <a:buFont typeface="Arial" panose="020B0604020202020204" pitchFamily="34" charset="0"/>
              <a:buChar char="•"/>
            </a:pPr>
            <a:endParaRPr lang="en-US" sz="1800" dirty="0">
              <a:latin typeface="Cascadia Mono" panose="020B0609020000020004" pitchFamily="49" charset="0"/>
            </a:endParaRPr>
          </a:p>
          <a:p>
            <a:pPr algn="l">
              <a:buFont typeface="Arial" panose="020B0604020202020204" pitchFamily="34" charset="0"/>
              <a:buChar char="•"/>
            </a:pPr>
            <a:endParaRPr lang="vi-VN" sz="1800" dirty="0">
              <a:latin typeface="Cascadia Mono" panose="020B0609020000020004" pitchFamily="49" charset="0"/>
            </a:endParaRP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Rectangle 3">
            <a:extLst>
              <a:ext uri="{FF2B5EF4-FFF2-40B4-BE49-F238E27FC236}">
                <a16:creationId xmlns:a16="http://schemas.microsoft.com/office/drawing/2014/main" id="{D707709A-2250-194C-9316-DBF7C2DE7B89}"/>
              </a:ext>
            </a:extLst>
          </p:cNvPr>
          <p:cNvSpPr/>
          <p:nvPr/>
        </p:nvSpPr>
        <p:spPr>
          <a:xfrm>
            <a:off x="58271" y="1304811"/>
            <a:ext cx="2286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endParaRPr lang="en-US" dirty="0"/>
          </a:p>
        </p:txBody>
      </p:sp>
      <p:sp>
        <p:nvSpPr>
          <p:cNvPr id="5" name="Rectangle 4">
            <a:extLst>
              <a:ext uri="{FF2B5EF4-FFF2-40B4-BE49-F238E27FC236}">
                <a16:creationId xmlns:a16="http://schemas.microsoft.com/office/drawing/2014/main" id="{2D808508-B117-80DA-2D17-230AD89CB6E0}"/>
              </a:ext>
            </a:extLst>
          </p:cNvPr>
          <p:cNvSpPr/>
          <p:nvPr/>
        </p:nvSpPr>
        <p:spPr>
          <a:xfrm>
            <a:off x="58271" y="2428308"/>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endParaRPr lang="en-US" dirty="0"/>
          </a:p>
        </p:txBody>
      </p:sp>
      <p:sp>
        <p:nvSpPr>
          <p:cNvPr id="8" name="Rectangle 7">
            <a:extLst>
              <a:ext uri="{FF2B5EF4-FFF2-40B4-BE49-F238E27FC236}">
                <a16:creationId xmlns:a16="http://schemas.microsoft.com/office/drawing/2014/main" id="{7850EB98-A32A-37B8-E141-2E2D6D74C478}"/>
              </a:ext>
            </a:extLst>
          </p:cNvPr>
          <p:cNvSpPr/>
          <p:nvPr/>
        </p:nvSpPr>
        <p:spPr>
          <a:xfrm>
            <a:off x="58271" y="875837"/>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a:t>
            </a:r>
          </a:p>
        </p:txBody>
      </p:sp>
      <p:sp>
        <p:nvSpPr>
          <p:cNvPr id="17" name="Rectangle 16">
            <a:extLst>
              <a:ext uri="{FF2B5EF4-FFF2-40B4-BE49-F238E27FC236}">
                <a16:creationId xmlns:a16="http://schemas.microsoft.com/office/drawing/2014/main" id="{4871266F-06A8-DAC9-34DE-2BD39DB195A5}"/>
              </a:ext>
            </a:extLst>
          </p:cNvPr>
          <p:cNvSpPr/>
          <p:nvPr/>
        </p:nvSpPr>
        <p:spPr>
          <a:xfrm>
            <a:off x="3733800" y="1386908"/>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r>
              <a:rPr lang="en-US" dirty="0"/>
              <a:t> </a:t>
            </a:r>
            <a:r>
              <a:rPr lang="en-US" dirty="0" err="1"/>
              <a:t>kế</a:t>
            </a:r>
            <a:r>
              <a:rPr lang="en-US" dirty="0"/>
              <a:t> </a:t>
            </a:r>
            <a:r>
              <a:rPr lang="en-US" dirty="0" err="1"/>
              <a:t>thừa</a:t>
            </a:r>
            <a:r>
              <a:rPr lang="en-US" dirty="0"/>
              <a:t> </a:t>
            </a:r>
            <a:r>
              <a:rPr lang="en-US" dirty="0" err="1"/>
              <a:t>từ</a:t>
            </a:r>
            <a:r>
              <a:rPr lang="en-US" dirty="0"/>
              <a:t> cha</a:t>
            </a:r>
          </a:p>
        </p:txBody>
      </p:sp>
      <p:sp>
        <p:nvSpPr>
          <p:cNvPr id="18" name="Rectangle 17">
            <a:extLst>
              <a:ext uri="{FF2B5EF4-FFF2-40B4-BE49-F238E27FC236}">
                <a16:creationId xmlns:a16="http://schemas.microsoft.com/office/drawing/2014/main" id="{7B93BCE7-178A-EF22-CE9E-5F64EDA5E8C7}"/>
              </a:ext>
            </a:extLst>
          </p:cNvPr>
          <p:cNvSpPr/>
          <p:nvPr/>
        </p:nvSpPr>
        <p:spPr>
          <a:xfrm>
            <a:off x="3733800" y="2428308"/>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cha</a:t>
            </a:r>
          </a:p>
          <a:p>
            <a:pPr algn="ctr"/>
            <a:r>
              <a:rPr lang="en-US" dirty="0" err="1">
                <a:solidFill>
                  <a:srgbClr val="00B0F0"/>
                </a:solidFill>
              </a:rPr>
              <a:t>Phương</a:t>
            </a:r>
            <a:r>
              <a:rPr lang="en-US" dirty="0">
                <a:solidFill>
                  <a:srgbClr val="00B0F0"/>
                </a:solidFill>
              </a:rPr>
              <a:t> </a:t>
            </a:r>
            <a:r>
              <a:rPr lang="en-US" dirty="0" err="1">
                <a:solidFill>
                  <a:srgbClr val="00B0F0"/>
                </a:solidFill>
              </a:rPr>
              <a:t>thức</a:t>
            </a:r>
            <a:r>
              <a:rPr lang="en-US" dirty="0">
                <a:solidFill>
                  <a:srgbClr val="00B0F0"/>
                </a:solidFill>
              </a:rPr>
              <a:t> </a:t>
            </a:r>
            <a:r>
              <a:rPr lang="en-US" dirty="0" err="1">
                <a:solidFill>
                  <a:srgbClr val="00B0F0"/>
                </a:solidFill>
              </a:rPr>
              <a:t>riêng</a:t>
            </a:r>
            <a:r>
              <a:rPr lang="en-US" dirty="0">
                <a:solidFill>
                  <a:srgbClr val="00B0F0"/>
                </a:solidFill>
              </a:rPr>
              <a:t> </a:t>
            </a:r>
            <a:r>
              <a:rPr lang="en-US" dirty="0" err="1">
                <a:solidFill>
                  <a:srgbClr val="00B0F0"/>
                </a:solidFill>
              </a:rPr>
              <a:t>của</a:t>
            </a:r>
            <a:r>
              <a:rPr lang="en-US" dirty="0">
                <a:solidFill>
                  <a:srgbClr val="00B0F0"/>
                </a:solidFill>
              </a:rPr>
              <a:t> con</a:t>
            </a:r>
          </a:p>
        </p:txBody>
      </p:sp>
      <p:sp>
        <p:nvSpPr>
          <p:cNvPr id="19" name="Rectangle 18">
            <a:extLst>
              <a:ext uri="{FF2B5EF4-FFF2-40B4-BE49-F238E27FC236}">
                <a16:creationId xmlns:a16="http://schemas.microsoft.com/office/drawing/2014/main" id="{5BD2654A-5290-EC85-09AC-F011A85500E9}"/>
              </a:ext>
            </a:extLst>
          </p:cNvPr>
          <p:cNvSpPr/>
          <p:nvPr/>
        </p:nvSpPr>
        <p:spPr>
          <a:xfrm>
            <a:off x="3733800" y="957934"/>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a:t>
            </a:r>
          </a:p>
        </p:txBody>
      </p:sp>
      <p:sp>
        <p:nvSpPr>
          <p:cNvPr id="23" name="Rectangle 22">
            <a:extLst>
              <a:ext uri="{FF2B5EF4-FFF2-40B4-BE49-F238E27FC236}">
                <a16:creationId xmlns:a16="http://schemas.microsoft.com/office/drawing/2014/main" id="{2287787B-FFEC-12B2-16D0-FDDE1E3510D3}"/>
              </a:ext>
            </a:extLst>
          </p:cNvPr>
          <p:cNvSpPr/>
          <p:nvPr/>
        </p:nvSpPr>
        <p:spPr>
          <a:xfrm>
            <a:off x="3733800" y="1903876"/>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FFC000"/>
                </a:solidFill>
              </a:rPr>
              <a:t>Thuộc</a:t>
            </a:r>
            <a:r>
              <a:rPr lang="en-US" dirty="0">
                <a:solidFill>
                  <a:srgbClr val="FFC000"/>
                </a:solidFill>
              </a:rPr>
              <a:t> </a:t>
            </a:r>
            <a:r>
              <a:rPr lang="en-US" dirty="0" err="1">
                <a:solidFill>
                  <a:srgbClr val="FFC000"/>
                </a:solidFill>
              </a:rPr>
              <a:t>tính</a:t>
            </a:r>
            <a:r>
              <a:rPr lang="en-US" dirty="0">
                <a:solidFill>
                  <a:srgbClr val="FFC000"/>
                </a:solidFill>
              </a:rPr>
              <a:t> </a:t>
            </a:r>
            <a:r>
              <a:rPr lang="en-US" dirty="0" err="1">
                <a:solidFill>
                  <a:srgbClr val="FFC000"/>
                </a:solidFill>
              </a:rPr>
              <a:t>riêng</a:t>
            </a:r>
            <a:r>
              <a:rPr lang="en-US" dirty="0">
                <a:solidFill>
                  <a:srgbClr val="FFC000"/>
                </a:solidFill>
              </a:rPr>
              <a:t> </a:t>
            </a:r>
            <a:r>
              <a:rPr lang="en-US" dirty="0" err="1">
                <a:solidFill>
                  <a:srgbClr val="FFC000"/>
                </a:solidFill>
              </a:rPr>
              <a:t>của</a:t>
            </a:r>
            <a:r>
              <a:rPr lang="en-US" dirty="0">
                <a:solidFill>
                  <a:srgbClr val="FFC000"/>
                </a:solidFill>
              </a:rPr>
              <a:t> con</a:t>
            </a:r>
          </a:p>
        </p:txBody>
      </p:sp>
      <p:cxnSp>
        <p:nvCxnSpPr>
          <p:cNvPr id="29" name="Straight Arrow Connector 28">
            <a:extLst>
              <a:ext uri="{FF2B5EF4-FFF2-40B4-BE49-F238E27FC236}">
                <a16:creationId xmlns:a16="http://schemas.microsoft.com/office/drawing/2014/main" id="{0C1F2EC3-5710-E1AE-AC63-162EB4EB090F}"/>
              </a:ext>
            </a:extLst>
          </p:cNvPr>
          <p:cNvCxnSpPr>
            <a:endCxn id="23" idx="1"/>
          </p:cNvCxnSpPr>
          <p:nvPr/>
        </p:nvCxnSpPr>
        <p:spPr>
          <a:xfrm flipV="1">
            <a:off x="2372846" y="2182472"/>
            <a:ext cx="1381125"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75037F2-D970-124D-8B11-2F95BE35570E}"/>
              </a:ext>
            </a:extLst>
          </p:cNvPr>
          <p:cNvPicPr>
            <a:picLocks noChangeAspect="1"/>
          </p:cNvPicPr>
          <p:nvPr/>
        </p:nvPicPr>
        <p:blipFill>
          <a:blip r:embed="rId2"/>
          <a:stretch>
            <a:fillRect/>
          </a:stretch>
        </p:blipFill>
        <p:spPr>
          <a:xfrm>
            <a:off x="6227830" y="394887"/>
            <a:ext cx="2857899" cy="4105848"/>
          </a:xfrm>
          <a:prstGeom prst="rect">
            <a:avLst/>
          </a:prstGeom>
        </p:spPr>
      </p:pic>
      <p:pic>
        <p:nvPicPr>
          <p:cNvPr id="11" name="Picture 10">
            <a:extLst>
              <a:ext uri="{FF2B5EF4-FFF2-40B4-BE49-F238E27FC236}">
                <a16:creationId xmlns:a16="http://schemas.microsoft.com/office/drawing/2014/main" id="{A08DC9F0-E852-B5E5-A783-36C2A8C29BC1}"/>
              </a:ext>
            </a:extLst>
          </p:cNvPr>
          <p:cNvPicPr>
            <a:picLocks noChangeAspect="1"/>
          </p:cNvPicPr>
          <p:nvPr/>
        </p:nvPicPr>
        <p:blipFill>
          <a:blip r:embed="rId3"/>
          <a:stretch>
            <a:fillRect/>
          </a:stretch>
        </p:blipFill>
        <p:spPr>
          <a:xfrm>
            <a:off x="585075" y="3667115"/>
            <a:ext cx="2448267" cy="1105054"/>
          </a:xfrm>
          <a:prstGeom prst="rect">
            <a:avLst/>
          </a:prstGeom>
        </p:spPr>
      </p:pic>
    </p:spTree>
    <p:extLst>
      <p:ext uri="{BB962C8B-B14F-4D97-AF65-F5344CB8AC3E}">
        <p14:creationId xmlns:p14="http://schemas.microsoft.com/office/powerpoint/2010/main" val="2726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br>
              <a:rPr lang="en-US" sz="2400" b="1" dirty="0"/>
            </a:b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58271" y="4876800"/>
            <a:ext cx="8265459" cy="5181600"/>
          </a:xfrm>
          <a:ln>
            <a:noFill/>
          </a:ln>
        </p:spPr>
        <p:txBody>
          <a:bodyPr>
            <a:noAutofit/>
          </a:bodyPr>
          <a:lstStyle/>
          <a:p>
            <a:pPr>
              <a:buFont typeface="Arial" panose="020B0604020202020204" pitchFamily="34" charset="0"/>
              <a:buChar char="•"/>
            </a:pPr>
            <a:r>
              <a:rPr lang="vi-VN" sz="1800" dirty="0">
                <a:latin typeface="Cascadia Mono" panose="020B0609020000020004" pitchFamily="49" charset="0"/>
              </a:rPr>
              <a:t>Gán </a:t>
            </a:r>
            <a:r>
              <a:rPr lang="en-US" sz="1800" dirty="0" err="1">
                <a:latin typeface="Cascadia Mono" panose="020B0609020000020004" pitchFamily="49" charset="0"/>
              </a:rPr>
              <a:t>xuống</a:t>
            </a:r>
            <a:r>
              <a:rPr lang="vi-VN" sz="1800" dirty="0">
                <a:latin typeface="Cascadia Mono" panose="020B0609020000020004" pitchFamily="49" charset="0"/>
              </a:rPr>
              <a:t> (upcasting): Gán một đối tượng của lớp cha cho một biến có kiểu dữ liệu là lớp con</a:t>
            </a:r>
            <a:r>
              <a:rPr lang="en-US" sz="1800" dirty="0">
                <a:latin typeface="Cascadia Mono" panose="020B0609020000020004" pitchFamily="49" charset="0"/>
              </a:rPr>
              <a:t> -&gt; </a:t>
            </a:r>
            <a:r>
              <a:rPr lang="vi-VN" sz="1800" dirty="0">
                <a:solidFill>
                  <a:srgbClr val="FF0000"/>
                </a:solidFill>
                <a:latin typeface="Cascadia Mono" panose="020B0609020000020004" pitchFamily="49" charset="0"/>
              </a:rPr>
              <a:t>có thể dẫn đến lỗi </a:t>
            </a:r>
            <a:r>
              <a:rPr lang="vi-VN" sz="1800" dirty="0">
                <a:latin typeface="Cascadia Mono" panose="020B0609020000020004" pitchFamily="49" charset="0"/>
              </a:rPr>
              <a:t>nếu đối tượng được gán không phải là kiểu dữ liệu của biến con</a:t>
            </a:r>
          </a:p>
          <a:p>
            <a:pPr algn="l">
              <a:buFont typeface="Arial" panose="020B0604020202020204" pitchFamily="34" charset="0"/>
              <a:buChar char="•"/>
            </a:pPr>
            <a:endParaRPr lang="en-US" sz="1800" dirty="0">
              <a:latin typeface="Cascadia Mono" panose="020B0609020000020004" pitchFamily="49" charset="0"/>
            </a:endParaRPr>
          </a:p>
          <a:p>
            <a:pPr algn="l">
              <a:buFont typeface="Arial" panose="020B0604020202020204" pitchFamily="34" charset="0"/>
              <a:buChar char="•"/>
            </a:pPr>
            <a:endParaRPr lang="vi-VN" sz="1800" dirty="0">
              <a:latin typeface="Cascadia Mono" panose="020B0609020000020004" pitchFamily="49" charset="0"/>
            </a:endParaRP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Rectangle 3">
            <a:extLst>
              <a:ext uri="{FF2B5EF4-FFF2-40B4-BE49-F238E27FC236}">
                <a16:creationId xmlns:a16="http://schemas.microsoft.com/office/drawing/2014/main" id="{D707709A-2250-194C-9316-DBF7C2DE7B89}"/>
              </a:ext>
            </a:extLst>
          </p:cNvPr>
          <p:cNvSpPr/>
          <p:nvPr/>
        </p:nvSpPr>
        <p:spPr>
          <a:xfrm>
            <a:off x="58271" y="1304811"/>
            <a:ext cx="2286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endParaRPr lang="en-US" dirty="0"/>
          </a:p>
        </p:txBody>
      </p:sp>
      <p:sp>
        <p:nvSpPr>
          <p:cNvPr id="5" name="Rectangle 4">
            <a:extLst>
              <a:ext uri="{FF2B5EF4-FFF2-40B4-BE49-F238E27FC236}">
                <a16:creationId xmlns:a16="http://schemas.microsoft.com/office/drawing/2014/main" id="{2D808508-B117-80DA-2D17-230AD89CB6E0}"/>
              </a:ext>
            </a:extLst>
          </p:cNvPr>
          <p:cNvSpPr/>
          <p:nvPr/>
        </p:nvSpPr>
        <p:spPr>
          <a:xfrm>
            <a:off x="58271" y="2428308"/>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endParaRPr lang="en-US" dirty="0"/>
          </a:p>
        </p:txBody>
      </p:sp>
      <p:sp>
        <p:nvSpPr>
          <p:cNvPr id="8" name="Rectangle 7">
            <a:extLst>
              <a:ext uri="{FF2B5EF4-FFF2-40B4-BE49-F238E27FC236}">
                <a16:creationId xmlns:a16="http://schemas.microsoft.com/office/drawing/2014/main" id="{7850EB98-A32A-37B8-E141-2E2D6D74C478}"/>
              </a:ext>
            </a:extLst>
          </p:cNvPr>
          <p:cNvSpPr/>
          <p:nvPr/>
        </p:nvSpPr>
        <p:spPr>
          <a:xfrm>
            <a:off x="58271" y="875837"/>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a:t>
            </a:r>
          </a:p>
        </p:txBody>
      </p:sp>
      <p:sp>
        <p:nvSpPr>
          <p:cNvPr id="17" name="Rectangle 16">
            <a:extLst>
              <a:ext uri="{FF2B5EF4-FFF2-40B4-BE49-F238E27FC236}">
                <a16:creationId xmlns:a16="http://schemas.microsoft.com/office/drawing/2014/main" id="{4871266F-06A8-DAC9-34DE-2BD39DB195A5}"/>
              </a:ext>
            </a:extLst>
          </p:cNvPr>
          <p:cNvSpPr/>
          <p:nvPr/>
        </p:nvSpPr>
        <p:spPr>
          <a:xfrm>
            <a:off x="3733800" y="1386908"/>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Thuộc</a:t>
            </a:r>
            <a:r>
              <a:rPr lang="en-US" dirty="0"/>
              <a:t> </a:t>
            </a:r>
            <a:r>
              <a:rPr lang="en-US" dirty="0" err="1"/>
              <a:t>tính</a:t>
            </a:r>
            <a:r>
              <a:rPr lang="en-US" dirty="0"/>
              <a:t> </a:t>
            </a:r>
            <a:r>
              <a:rPr lang="en-US" dirty="0" err="1"/>
              <a:t>kế</a:t>
            </a:r>
            <a:r>
              <a:rPr lang="en-US" dirty="0"/>
              <a:t> </a:t>
            </a:r>
            <a:r>
              <a:rPr lang="en-US" dirty="0" err="1"/>
              <a:t>thừa</a:t>
            </a:r>
            <a:r>
              <a:rPr lang="en-US" dirty="0"/>
              <a:t> </a:t>
            </a:r>
            <a:r>
              <a:rPr lang="en-US" dirty="0" err="1"/>
              <a:t>từ</a:t>
            </a:r>
            <a:r>
              <a:rPr lang="en-US" dirty="0"/>
              <a:t> cha</a:t>
            </a:r>
          </a:p>
        </p:txBody>
      </p:sp>
      <p:sp>
        <p:nvSpPr>
          <p:cNvPr id="18" name="Rectangle 17">
            <a:extLst>
              <a:ext uri="{FF2B5EF4-FFF2-40B4-BE49-F238E27FC236}">
                <a16:creationId xmlns:a16="http://schemas.microsoft.com/office/drawing/2014/main" id="{7B93BCE7-178A-EF22-CE9E-5F64EDA5E8C7}"/>
              </a:ext>
            </a:extLst>
          </p:cNvPr>
          <p:cNvSpPr/>
          <p:nvPr/>
        </p:nvSpPr>
        <p:spPr>
          <a:xfrm>
            <a:off x="3733800" y="2428308"/>
            <a:ext cx="2286000" cy="1143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Phương</a:t>
            </a:r>
            <a:r>
              <a:rPr lang="en-US" dirty="0"/>
              <a:t> </a:t>
            </a:r>
            <a:r>
              <a:rPr lang="en-US" dirty="0" err="1"/>
              <a:t>thức</a:t>
            </a:r>
            <a:r>
              <a:rPr lang="en-US" dirty="0"/>
              <a:t> </a:t>
            </a:r>
            <a:r>
              <a:rPr lang="en-US" dirty="0" err="1"/>
              <a:t>kế</a:t>
            </a:r>
            <a:r>
              <a:rPr lang="en-US" dirty="0"/>
              <a:t> </a:t>
            </a:r>
            <a:r>
              <a:rPr lang="en-US" dirty="0" err="1"/>
              <a:t>thừa</a:t>
            </a:r>
            <a:r>
              <a:rPr lang="en-US" dirty="0"/>
              <a:t> </a:t>
            </a:r>
            <a:r>
              <a:rPr lang="en-US" dirty="0" err="1"/>
              <a:t>từ</a:t>
            </a:r>
            <a:r>
              <a:rPr lang="en-US" dirty="0"/>
              <a:t> cha</a:t>
            </a:r>
          </a:p>
          <a:p>
            <a:pPr algn="ctr"/>
            <a:r>
              <a:rPr lang="en-US" dirty="0" err="1">
                <a:solidFill>
                  <a:srgbClr val="00B0F0"/>
                </a:solidFill>
              </a:rPr>
              <a:t>Phương</a:t>
            </a:r>
            <a:r>
              <a:rPr lang="en-US" dirty="0">
                <a:solidFill>
                  <a:srgbClr val="00B0F0"/>
                </a:solidFill>
              </a:rPr>
              <a:t> </a:t>
            </a:r>
            <a:r>
              <a:rPr lang="en-US" dirty="0" err="1">
                <a:solidFill>
                  <a:srgbClr val="00B0F0"/>
                </a:solidFill>
              </a:rPr>
              <a:t>thức</a:t>
            </a:r>
            <a:r>
              <a:rPr lang="en-US" dirty="0">
                <a:solidFill>
                  <a:srgbClr val="00B0F0"/>
                </a:solidFill>
              </a:rPr>
              <a:t> </a:t>
            </a:r>
            <a:r>
              <a:rPr lang="en-US" dirty="0" err="1">
                <a:solidFill>
                  <a:srgbClr val="00B0F0"/>
                </a:solidFill>
              </a:rPr>
              <a:t>riêng</a:t>
            </a:r>
            <a:r>
              <a:rPr lang="en-US" dirty="0">
                <a:solidFill>
                  <a:srgbClr val="00B0F0"/>
                </a:solidFill>
              </a:rPr>
              <a:t> </a:t>
            </a:r>
            <a:r>
              <a:rPr lang="en-US" dirty="0" err="1">
                <a:solidFill>
                  <a:srgbClr val="00B0F0"/>
                </a:solidFill>
              </a:rPr>
              <a:t>của</a:t>
            </a:r>
            <a:r>
              <a:rPr lang="en-US" dirty="0">
                <a:solidFill>
                  <a:srgbClr val="00B0F0"/>
                </a:solidFill>
              </a:rPr>
              <a:t> con</a:t>
            </a:r>
          </a:p>
        </p:txBody>
      </p:sp>
      <p:sp>
        <p:nvSpPr>
          <p:cNvPr id="19" name="Rectangle 18">
            <a:extLst>
              <a:ext uri="{FF2B5EF4-FFF2-40B4-BE49-F238E27FC236}">
                <a16:creationId xmlns:a16="http://schemas.microsoft.com/office/drawing/2014/main" id="{5BD2654A-5290-EC85-09AC-F011A85500E9}"/>
              </a:ext>
            </a:extLst>
          </p:cNvPr>
          <p:cNvSpPr/>
          <p:nvPr/>
        </p:nvSpPr>
        <p:spPr>
          <a:xfrm>
            <a:off x="3733800" y="957934"/>
            <a:ext cx="2286000" cy="420006"/>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a:t>
            </a:r>
          </a:p>
        </p:txBody>
      </p:sp>
      <p:sp>
        <p:nvSpPr>
          <p:cNvPr id="23" name="Rectangle 22">
            <a:extLst>
              <a:ext uri="{FF2B5EF4-FFF2-40B4-BE49-F238E27FC236}">
                <a16:creationId xmlns:a16="http://schemas.microsoft.com/office/drawing/2014/main" id="{2287787B-FFEC-12B2-16D0-FDDE1E3510D3}"/>
              </a:ext>
            </a:extLst>
          </p:cNvPr>
          <p:cNvSpPr/>
          <p:nvPr/>
        </p:nvSpPr>
        <p:spPr>
          <a:xfrm>
            <a:off x="3733800" y="1903876"/>
            <a:ext cx="22860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FFC000"/>
                </a:solidFill>
              </a:rPr>
              <a:t>Thuộc</a:t>
            </a:r>
            <a:r>
              <a:rPr lang="en-US" dirty="0">
                <a:solidFill>
                  <a:srgbClr val="FFC000"/>
                </a:solidFill>
              </a:rPr>
              <a:t> </a:t>
            </a:r>
            <a:r>
              <a:rPr lang="en-US" dirty="0" err="1">
                <a:solidFill>
                  <a:srgbClr val="FFC000"/>
                </a:solidFill>
              </a:rPr>
              <a:t>tính</a:t>
            </a:r>
            <a:r>
              <a:rPr lang="en-US" dirty="0">
                <a:solidFill>
                  <a:srgbClr val="FFC000"/>
                </a:solidFill>
              </a:rPr>
              <a:t> </a:t>
            </a:r>
            <a:r>
              <a:rPr lang="en-US" dirty="0" err="1">
                <a:solidFill>
                  <a:srgbClr val="FFC000"/>
                </a:solidFill>
              </a:rPr>
              <a:t>riêng</a:t>
            </a:r>
            <a:r>
              <a:rPr lang="en-US" dirty="0">
                <a:solidFill>
                  <a:srgbClr val="FFC000"/>
                </a:solidFill>
              </a:rPr>
              <a:t> </a:t>
            </a:r>
            <a:r>
              <a:rPr lang="en-US" dirty="0" err="1">
                <a:solidFill>
                  <a:srgbClr val="FFC000"/>
                </a:solidFill>
              </a:rPr>
              <a:t>của</a:t>
            </a:r>
            <a:r>
              <a:rPr lang="en-US" dirty="0">
                <a:solidFill>
                  <a:srgbClr val="FFC000"/>
                </a:solidFill>
              </a:rPr>
              <a:t> con</a:t>
            </a:r>
          </a:p>
        </p:txBody>
      </p:sp>
      <p:cxnSp>
        <p:nvCxnSpPr>
          <p:cNvPr id="29" name="Straight Arrow Connector 28">
            <a:extLst>
              <a:ext uri="{FF2B5EF4-FFF2-40B4-BE49-F238E27FC236}">
                <a16:creationId xmlns:a16="http://schemas.microsoft.com/office/drawing/2014/main" id="{0C1F2EC3-5710-E1AE-AC63-162EB4EB090F}"/>
              </a:ext>
            </a:extLst>
          </p:cNvPr>
          <p:cNvCxnSpPr>
            <a:endCxn id="23" idx="1"/>
          </p:cNvCxnSpPr>
          <p:nvPr/>
        </p:nvCxnSpPr>
        <p:spPr>
          <a:xfrm flipV="1">
            <a:off x="2372846" y="2182472"/>
            <a:ext cx="1381125" cy="190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75037F2-D970-124D-8B11-2F95BE35570E}"/>
              </a:ext>
            </a:extLst>
          </p:cNvPr>
          <p:cNvPicPr>
            <a:picLocks noChangeAspect="1"/>
          </p:cNvPicPr>
          <p:nvPr/>
        </p:nvPicPr>
        <p:blipFill>
          <a:blip r:embed="rId2"/>
          <a:stretch>
            <a:fillRect/>
          </a:stretch>
        </p:blipFill>
        <p:spPr>
          <a:xfrm>
            <a:off x="6227830" y="394887"/>
            <a:ext cx="2857899" cy="4105848"/>
          </a:xfrm>
          <a:prstGeom prst="rect">
            <a:avLst/>
          </a:prstGeom>
        </p:spPr>
      </p:pic>
      <p:pic>
        <p:nvPicPr>
          <p:cNvPr id="7" name="Picture 6">
            <a:extLst>
              <a:ext uri="{FF2B5EF4-FFF2-40B4-BE49-F238E27FC236}">
                <a16:creationId xmlns:a16="http://schemas.microsoft.com/office/drawing/2014/main" id="{8C7F0B19-2D3F-F9F0-16DE-8E707F75FC5D}"/>
              </a:ext>
            </a:extLst>
          </p:cNvPr>
          <p:cNvPicPr>
            <a:picLocks noChangeAspect="1"/>
          </p:cNvPicPr>
          <p:nvPr/>
        </p:nvPicPr>
        <p:blipFill>
          <a:blip r:embed="rId3"/>
          <a:stretch>
            <a:fillRect/>
          </a:stretch>
        </p:blipFill>
        <p:spPr>
          <a:xfrm>
            <a:off x="421341" y="3764714"/>
            <a:ext cx="2029108" cy="924054"/>
          </a:xfrm>
          <a:prstGeom prst="rect">
            <a:avLst/>
          </a:prstGeom>
        </p:spPr>
      </p:pic>
    </p:spTree>
    <p:extLst>
      <p:ext uri="{BB962C8B-B14F-4D97-AF65-F5344CB8AC3E}">
        <p14:creationId xmlns:p14="http://schemas.microsoft.com/office/powerpoint/2010/main" val="2797400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a:t> </a:t>
            </a:r>
            <a:r>
              <a:rPr lang="en-US" sz="2400" b="1" dirty="0" err="1"/>
              <a:t>Tính</a:t>
            </a:r>
            <a:r>
              <a:rPr lang="en-US" sz="2400" b="1" dirty="0"/>
              <a:t> </a:t>
            </a:r>
            <a:r>
              <a:rPr lang="en-US" sz="2400" b="1" dirty="0" err="1"/>
              <a:t>kế</a:t>
            </a:r>
            <a:r>
              <a:rPr lang="en-US" sz="2400" b="1" dirty="0"/>
              <a:t> </a:t>
            </a:r>
            <a:r>
              <a:rPr lang="en-US" sz="2400" b="1" dirty="0" err="1"/>
              <a:t>thừa</a:t>
            </a:r>
            <a:br>
              <a:rPr lang="en-US" sz="2400" b="1" dirty="0"/>
            </a:b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108308" y="2500941"/>
            <a:ext cx="4437529" cy="5257800"/>
          </a:xfrm>
          <a:ln>
            <a:noFill/>
          </a:ln>
        </p:spPr>
        <p:txBody>
          <a:bodyPr>
            <a:noAutofit/>
          </a:bodyPr>
          <a:lstStyle/>
          <a:p>
            <a:pPr algn="l">
              <a:buFont typeface="Arial" panose="020B0604020202020204" pitchFamily="34" charset="0"/>
              <a:buChar char="•"/>
            </a:pPr>
            <a:r>
              <a:rPr lang="en-US" sz="1800" dirty="0" err="1">
                <a:latin typeface="Cascadia Mono" panose="020B0609020000020004" pitchFamily="49" charset="0"/>
              </a:rPr>
              <a:t>Ví</a:t>
            </a:r>
            <a:r>
              <a:rPr lang="en-US" sz="1800" dirty="0">
                <a:latin typeface="Cascadia Mono" panose="020B0609020000020004" pitchFamily="49" charset="0"/>
              </a:rPr>
              <a:t> </a:t>
            </a:r>
            <a:r>
              <a:rPr lang="en-US" sz="1800" dirty="0" err="1">
                <a:latin typeface="Cascadia Mono" panose="020B0609020000020004" pitchFamily="49" charset="0"/>
              </a:rPr>
              <a:t>dụ</a:t>
            </a:r>
            <a:r>
              <a:rPr lang="en-US" sz="1800" dirty="0">
                <a:latin typeface="Cascadia Mono" panose="020B0609020000020004" pitchFamily="49" charset="0"/>
              </a:rPr>
              <a:t> </a:t>
            </a:r>
            <a:r>
              <a:rPr lang="en-US" sz="1800" dirty="0" err="1">
                <a:latin typeface="Cascadia Mono" panose="020B0609020000020004" pitchFamily="49" charset="0"/>
              </a:rPr>
              <a:t>trên</a:t>
            </a:r>
            <a:r>
              <a:rPr lang="en-US" sz="1800" dirty="0">
                <a:latin typeface="Cascadia Mono" panose="020B0609020000020004" pitchFamily="49" charset="0"/>
              </a:rPr>
              <a:t> </a:t>
            </a:r>
            <a:r>
              <a:rPr lang="en-US" sz="1800" dirty="0" err="1">
                <a:latin typeface="Cascadia Mono" panose="020B0609020000020004" pitchFamily="49" charset="0"/>
              </a:rPr>
              <a:t>gây</a:t>
            </a:r>
            <a:r>
              <a:rPr lang="en-US" sz="1800" dirty="0">
                <a:latin typeface="Cascadia Mono" panose="020B0609020000020004" pitchFamily="49" charset="0"/>
              </a:rPr>
              <a:t> </a:t>
            </a:r>
            <a:r>
              <a:rPr lang="en-US" sz="1800" dirty="0" err="1">
                <a:latin typeface="Cascadia Mono" panose="020B0609020000020004" pitchFamily="49" charset="0"/>
              </a:rPr>
              <a:t>lỗi</a:t>
            </a:r>
            <a:endParaRPr lang="en-US" sz="1800" dirty="0">
              <a:latin typeface="Cascadia Mono" panose="020B0609020000020004" pitchFamily="49" charset="0"/>
            </a:endParaRPr>
          </a:p>
          <a:p>
            <a:pPr algn="l">
              <a:buFont typeface="Arial" panose="020B0604020202020204" pitchFamily="34" charset="0"/>
              <a:buChar char="•"/>
            </a:pPr>
            <a:endParaRPr lang="vi-VN" sz="1800" dirty="0">
              <a:latin typeface="Cascadia Mono" panose="020B0609020000020004" pitchFamily="49" charset="0"/>
            </a:endParaRP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7</a:t>
            </a:fld>
            <a:endParaRPr lang="en-US"/>
          </a:p>
        </p:txBody>
      </p:sp>
      <p:pic>
        <p:nvPicPr>
          <p:cNvPr id="21" name="Picture 20">
            <a:extLst>
              <a:ext uri="{FF2B5EF4-FFF2-40B4-BE49-F238E27FC236}">
                <a16:creationId xmlns:a16="http://schemas.microsoft.com/office/drawing/2014/main" id="{3E1E37DE-C305-4512-CA59-BA7563DDDE91}"/>
              </a:ext>
            </a:extLst>
          </p:cNvPr>
          <p:cNvPicPr>
            <a:picLocks noChangeAspect="1"/>
          </p:cNvPicPr>
          <p:nvPr/>
        </p:nvPicPr>
        <p:blipFill>
          <a:blip r:embed="rId2"/>
          <a:stretch>
            <a:fillRect/>
          </a:stretch>
        </p:blipFill>
        <p:spPr>
          <a:xfrm>
            <a:off x="4960834" y="594056"/>
            <a:ext cx="4086795" cy="5087060"/>
          </a:xfrm>
          <a:prstGeom prst="rect">
            <a:avLst/>
          </a:prstGeom>
        </p:spPr>
      </p:pic>
      <p:pic>
        <p:nvPicPr>
          <p:cNvPr id="24" name="Picture 23">
            <a:extLst>
              <a:ext uri="{FF2B5EF4-FFF2-40B4-BE49-F238E27FC236}">
                <a16:creationId xmlns:a16="http://schemas.microsoft.com/office/drawing/2014/main" id="{7002E7D1-DAE0-D980-081E-2E795A58B051}"/>
              </a:ext>
            </a:extLst>
          </p:cNvPr>
          <p:cNvPicPr>
            <a:picLocks noChangeAspect="1"/>
          </p:cNvPicPr>
          <p:nvPr/>
        </p:nvPicPr>
        <p:blipFill>
          <a:blip r:embed="rId3"/>
          <a:stretch>
            <a:fillRect/>
          </a:stretch>
        </p:blipFill>
        <p:spPr>
          <a:xfrm>
            <a:off x="609600" y="717715"/>
            <a:ext cx="2457793" cy="1381318"/>
          </a:xfrm>
          <a:prstGeom prst="rect">
            <a:avLst/>
          </a:prstGeom>
        </p:spPr>
      </p:pic>
      <p:pic>
        <p:nvPicPr>
          <p:cNvPr id="34" name="Picture 33">
            <a:extLst>
              <a:ext uri="{FF2B5EF4-FFF2-40B4-BE49-F238E27FC236}">
                <a16:creationId xmlns:a16="http://schemas.microsoft.com/office/drawing/2014/main" id="{2DC3F71D-18B0-31B5-F0A3-D544E4FD7CEE}"/>
              </a:ext>
            </a:extLst>
          </p:cNvPr>
          <p:cNvPicPr>
            <a:picLocks noChangeAspect="1"/>
          </p:cNvPicPr>
          <p:nvPr/>
        </p:nvPicPr>
        <p:blipFill>
          <a:blip r:embed="rId4"/>
          <a:stretch>
            <a:fillRect/>
          </a:stretch>
        </p:blipFill>
        <p:spPr>
          <a:xfrm>
            <a:off x="600075" y="2971800"/>
            <a:ext cx="2803379" cy="1905000"/>
          </a:xfrm>
          <a:prstGeom prst="rect">
            <a:avLst/>
          </a:prstGeom>
        </p:spPr>
      </p:pic>
    </p:spTree>
    <p:extLst>
      <p:ext uri="{BB962C8B-B14F-4D97-AF65-F5344CB8AC3E}">
        <p14:creationId xmlns:p14="http://schemas.microsoft.com/office/powerpoint/2010/main" val="3905116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Chỉ</a:t>
            </a:r>
            <a:r>
              <a:rPr lang="en-US" sz="2400" b="1" dirty="0"/>
              <a:t> </a:t>
            </a:r>
            <a:r>
              <a:rPr lang="en-US" sz="2400" b="1" dirty="0" err="1"/>
              <a:t>xuất</a:t>
            </a:r>
            <a:r>
              <a:rPr lang="en-US" sz="2400" b="1" dirty="0"/>
              <a:t> </a:t>
            </a:r>
            <a:r>
              <a:rPr lang="en-US" sz="2400" b="1" dirty="0" err="1"/>
              <a:t>truy</a:t>
            </a:r>
            <a:r>
              <a:rPr lang="en-US" sz="2400" b="1" dirty="0"/>
              <a:t> </a:t>
            </a:r>
            <a:r>
              <a:rPr lang="en-US" sz="2400" b="1" dirty="0" err="1"/>
              <a:t>cập</a:t>
            </a: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ln>
            <a:noFill/>
          </a:ln>
        </p:spPr>
        <p:txBody>
          <a:bodyPr>
            <a:noAutofit/>
          </a:bodyPr>
          <a:lstStyle/>
          <a:p>
            <a:pPr marL="0" indent="0">
              <a:lnSpc>
                <a:spcPct val="120000"/>
              </a:lnSpc>
              <a:buNone/>
            </a:pPr>
            <a:r>
              <a:rPr lang="en-US" sz="1800" dirty="0" err="1">
                <a:latin typeface="Cascadia Mono" panose="020B0609020000020004" pitchFamily="49" charset="0"/>
              </a:rPr>
              <a:t>Các</a:t>
            </a:r>
            <a:r>
              <a:rPr lang="en-US" sz="1800" dirty="0">
                <a:latin typeface="Cascadia Mono" panose="020B0609020000020004" pitchFamily="49" charset="0"/>
              </a:rPr>
              <a:t> </a:t>
            </a:r>
            <a:r>
              <a:rPr lang="en-US" sz="1800" dirty="0" err="1">
                <a:latin typeface="Cascadia Mono" panose="020B0609020000020004" pitchFamily="49" charset="0"/>
              </a:rPr>
              <a:t>thành</a:t>
            </a:r>
            <a:r>
              <a:rPr lang="en-US" sz="1800" dirty="0">
                <a:latin typeface="Cascadia Mono" panose="020B0609020000020004" pitchFamily="49" charset="0"/>
              </a:rPr>
              <a:t> </a:t>
            </a:r>
            <a:r>
              <a:rPr lang="en-US" sz="1800" dirty="0" err="1">
                <a:latin typeface="Cascadia Mono" panose="020B0609020000020004" pitchFamily="49" charset="0"/>
              </a:rPr>
              <a:t>viên</a:t>
            </a:r>
            <a:r>
              <a:rPr lang="en-US" sz="1800" dirty="0">
                <a:latin typeface="Cascadia Mono" panose="020B0609020000020004" pitchFamily="49" charset="0"/>
              </a:rPr>
              <a:t> </a:t>
            </a:r>
            <a:r>
              <a:rPr lang="en-US" sz="1800" dirty="0" err="1">
                <a:latin typeface="Cascadia Mono" panose="020B0609020000020004" pitchFamily="49" charset="0"/>
              </a:rPr>
              <a:t>được</a:t>
            </a:r>
            <a:r>
              <a:rPr lang="en-US" sz="1800" dirty="0">
                <a:latin typeface="Cascadia Mono" panose="020B0609020000020004" pitchFamily="49" charset="0"/>
              </a:rPr>
              <a:t> </a:t>
            </a:r>
            <a:r>
              <a:rPr lang="en-US" sz="1800" dirty="0" err="1">
                <a:latin typeface="Cascadia Mono" panose="020B0609020000020004" pitchFamily="49" charset="0"/>
              </a:rPr>
              <a:t>khai</a:t>
            </a:r>
            <a:r>
              <a:rPr lang="en-US" sz="1800" dirty="0">
                <a:latin typeface="Cascadia Mono" panose="020B0609020000020004" pitchFamily="49" charset="0"/>
              </a:rPr>
              <a:t> </a:t>
            </a:r>
            <a:r>
              <a:rPr lang="en-US" sz="1800" dirty="0" err="1">
                <a:latin typeface="Cascadia Mono" panose="020B0609020000020004" pitchFamily="49" charset="0"/>
              </a:rPr>
              <a:t>báo</a:t>
            </a:r>
            <a:r>
              <a:rPr lang="en-US" sz="1800" dirty="0">
                <a:latin typeface="Cascadia Mono" panose="020B0609020000020004" pitchFamily="49" charset="0"/>
              </a:rPr>
              <a:t> </a:t>
            </a:r>
            <a:r>
              <a:rPr lang="en-US" sz="1800" dirty="0">
                <a:solidFill>
                  <a:srgbClr val="FF0000"/>
                </a:solidFill>
                <a:latin typeface="Cascadia Mono" panose="020B0609020000020004" pitchFamily="49" charset="0"/>
              </a:rPr>
              <a:t>public</a:t>
            </a:r>
            <a:r>
              <a:rPr lang="en-US" sz="1800" dirty="0">
                <a:latin typeface="Cascadia Mono" panose="020B0609020000020004" pitchFamily="49" charset="0"/>
              </a:rPr>
              <a:t> </a:t>
            </a:r>
            <a:r>
              <a:rPr lang="en-US" sz="1800" dirty="0" err="1">
                <a:latin typeface="Cascadia Mono" panose="020B0609020000020004" pitchFamily="49" charset="0"/>
              </a:rPr>
              <a:t>có</a:t>
            </a:r>
            <a:r>
              <a:rPr lang="en-US" sz="1800" dirty="0">
                <a:latin typeface="Cascadia Mono" panose="020B0609020000020004" pitchFamily="49" charset="0"/>
              </a:rPr>
              <a:t> </a:t>
            </a:r>
            <a:r>
              <a:rPr lang="en-US" sz="1800" dirty="0" err="1">
                <a:latin typeface="Cascadia Mono" panose="020B0609020000020004" pitchFamily="49" charset="0"/>
              </a:rPr>
              <a:t>thể</a:t>
            </a:r>
            <a:r>
              <a:rPr lang="en-US" sz="1800" dirty="0">
                <a:latin typeface="Cascadia Mono" panose="020B0609020000020004" pitchFamily="49" charset="0"/>
              </a:rPr>
              <a:t> </a:t>
            </a:r>
            <a:r>
              <a:rPr lang="en-US" sz="1800" dirty="0" err="1">
                <a:latin typeface="Cascadia Mono" panose="020B0609020000020004" pitchFamily="49" charset="0"/>
              </a:rPr>
              <a:t>được</a:t>
            </a:r>
            <a:r>
              <a:rPr lang="en-US" sz="1800" dirty="0">
                <a:latin typeface="Cascadia Mono" panose="020B0609020000020004" pitchFamily="49" charset="0"/>
              </a:rPr>
              <a:t> </a:t>
            </a:r>
            <a:r>
              <a:rPr lang="en-US" sz="1800" dirty="0" err="1">
                <a:latin typeface="Cascadia Mono" panose="020B0609020000020004" pitchFamily="49" charset="0"/>
              </a:rPr>
              <a:t>truy</a:t>
            </a:r>
            <a:r>
              <a:rPr lang="en-US" sz="1800" dirty="0">
                <a:latin typeface="Cascadia Mono" panose="020B0609020000020004" pitchFamily="49" charset="0"/>
              </a:rPr>
              <a:t> </a:t>
            </a:r>
            <a:r>
              <a:rPr lang="en-US" sz="1800" dirty="0" err="1">
                <a:latin typeface="Cascadia Mono" panose="020B0609020000020004" pitchFamily="49" charset="0"/>
              </a:rPr>
              <a:t>cập</a:t>
            </a:r>
            <a:r>
              <a:rPr lang="en-US" sz="1800" dirty="0">
                <a:latin typeface="Cascadia Mono" panose="020B0609020000020004" pitchFamily="49" charset="0"/>
              </a:rPr>
              <a:t> </a:t>
            </a:r>
            <a:r>
              <a:rPr lang="en-US" sz="1800" dirty="0" err="1">
                <a:latin typeface="Cascadia Mono" panose="020B0609020000020004" pitchFamily="49" charset="0"/>
              </a:rPr>
              <a:t>bên</a:t>
            </a:r>
            <a:r>
              <a:rPr lang="en-US" sz="1800" dirty="0">
                <a:latin typeface="Cascadia Mono" panose="020B0609020000020004" pitchFamily="49" charset="0"/>
              </a:rPr>
              <a:t> </a:t>
            </a:r>
            <a:r>
              <a:rPr lang="en-US" sz="1800" dirty="0" err="1">
                <a:latin typeface="Cascadia Mono" panose="020B0609020000020004" pitchFamily="49" charset="0"/>
              </a:rPr>
              <a:t>ngoài</a:t>
            </a:r>
            <a:r>
              <a:rPr lang="en-US" sz="1800" dirty="0">
                <a:latin typeface="Cascadia Mono" panose="020B0609020000020004" pitchFamily="49" charset="0"/>
              </a:rPr>
              <a:t> </a:t>
            </a:r>
            <a:r>
              <a:rPr lang="en-US" sz="1800" dirty="0" err="1">
                <a:latin typeface="Cascadia Mono" panose="020B0609020000020004" pitchFamily="49" charset="0"/>
              </a:rPr>
              <a:t>lớp</a:t>
            </a:r>
            <a:r>
              <a:rPr lang="en-US" sz="1800" dirty="0">
                <a:latin typeface="Cascadia Mono" panose="020B0609020000020004" pitchFamily="49" charset="0"/>
              </a:rPr>
              <a:t>.</a:t>
            </a:r>
          </a:p>
          <a:p>
            <a:pPr marL="0" indent="0">
              <a:lnSpc>
                <a:spcPct val="120000"/>
              </a:lnSpc>
              <a:buNone/>
            </a:pPr>
            <a:r>
              <a:rPr lang="en-US" sz="1800" dirty="0" err="1">
                <a:latin typeface="Cascadia Mono" panose="020B0609020000020004" pitchFamily="49" charset="0"/>
              </a:rPr>
              <a:t>Các</a:t>
            </a:r>
            <a:r>
              <a:rPr lang="en-US" sz="1800" dirty="0">
                <a:latin typeface="Cascadia Mono" panose="020B0609020000020004" pitchFamily="49" charset="0"/>
              </a:rPr>
              <a:t> </a:t>
            </a:r>
            <a:r>
              <a:rPr lang="en-US" sz="1800" dirty="0" err="1">
                <a:latin typeface="Cascadia Mono" panose="020B0609020000020004" pitchFamily="49" charset="0"/>
              </a:rPr>
              <a:t>thành</a:t>
            </a:r>
            <a:r>
              <a:rPr lang="en-US" sz="1800" dirty="0">
                <a:latin typeface="Cascadia Mono" panose="020B0609020000020004" pitchFamily="49" charset="0"/>
              </a:rPr>
              <a:t> </a:t>
            </a:r>
            <a:r>
              <a:rPr lang="en-US" sz="1800" dirty="0" err="1">
                <a:latin typeface="Cascadia Mono" panose="020B0609020000020004" pitchFamily="49" charset="0"/>
              </a:rPr>
              <a:t>viên</a:t>
            </a:r>
            <a:r>
              <a:rPr lang="en-US" sz="1800" dirty="0">
                <a:latin typeface="Cascadia Mono" panose="020B0609020000020004" pitchFamily="49" charset="0"/>
              </a:rPr>
              <a:t> </a:t>
            </a:r>
            <a:r>
              <a:rPr lang="en-US" sz="1800" dirty="0" err="1">
                <a:latin typeface="Cascadia Mono" panose="020B0609020000020004" pitchFamily="49" charset="0"/>
              </a:rPr>
              <a:t>khai</a:t>
            </a:r>
            <a:r>
              <a:rPr lang="en-US" sz="1800" dirty="0">
                <a:latin typeface="Cascadia Mono" panose="020B0609020000020004" pitchFamily="49" charset="0"/>
              </a:rPr>
              <a:t> </a:t>
            </a:r>
            <a:r>
              <a:rPr lang="en-US" sz="1800" dirty="0" err="1">
                <a:latin typeface="Cascadia Mono" panose="020B0609020000020004" pitchFamily="49" charset="0"/>
              </a:rPr>
              <a:t>báo</a:t>
            </a:r>
            <a:r>
              <a:rPr lang="en-US" sz="1800" dirty="0">
                <a:latin typeface="Cascadia Mono" panose="020B0609020000020004" pitchFamily="49" charset="0"/>
              </a:rPr>
              <a:t> </a:t>
            </a:r>
            <a:r>
              <a:rPr lang="en-US" sz="1800" dirty="0">
                <a:solidFill>
                  <a:srgbClr val="FF0000"/>
                </a:solidFill>
                <a:latin typeface="Cascadia Mono" panose="020B0609020000020004" pitchFamily="49" charset="0"/>
              </a:rPr>
              <a:t>private</a:t>
            </a:r>
            <a:r>
              <a:rPr lang="en-US" sz="1800" dirty="0">
                <a:latin typeface="Cascadia Mono" panose="020B0609020000020004" pitchFamily="49" charset="0"/>
              </a:rPr>
              <a:t> </a:t>
            </a:r>
            <a:r>
              <a:rPr lang="en-US" sz="1800" dirty="0" err="1">
                <a:latin typeface="Cascadia Mono" panose="020B0609020000020004" pitchFamily="49" charset="0"/>
              </a:rPr>
              <a:t>chỉ</a:t>
            </a:r>
            <a:r>
              <a:rPr lang="en-US" sz="1800" dirty="0">
                <a:latin typeface="Cascadia Mono" panose="020B0609020000020004" pitchFamily="49" charset="0"/>
              </a:rPr>
              <a:t> </a:t>
            </a:r>
            <a:r>
              <a:rPr lang="en-US" sz="1800" dirty="0" err="1">
                <a:latin typeface="Cascadia Mono" panose="020B0609020000020004" pitchFamily="49" charset="0"/>
              </a:rPr>
              <a:t>được</a:t>
            </a:r>
            <a:r>
              <a:rPr lang="en-US" sz="1800" dirty="0">
                <a:latin typeface="Cascadia Mono" panose="020B0609020000020004" pitchFamily="49" charset="0"/>
              </a:rPr>
              <a:t> </a:t>
            </a:r>
            <a:r>
              <a:rPr lang="en-US" sz="1800" dirty="0" err="1">
                <a:latin typeface="Cascadia Mono" panose="020B0609020000020004" pitchFamily="49" charset="0"/>
              </a:rPr>
              <a:t>truy</a:t>
            </a:r>
            <a:r>
              <a:rPr lang="en-US" sz="1800" dirty="0">
                <a:latin typeface="Cascadia Mono" panose="020B0609020000020004" pitchFamily="49" charset="0"/>
              </a:rPr>
              <a:t> </a:t>
            </a:r>
            <a:r>
              <a:rPr lang="en-US" sz="1800" dirty="0" err="1">
                <a:latin typeface="Cascadia Mono" panose="020B0609020000020004" pitchFamily="49" charset="0"/>
              </a:rPr>
              <a:t>cập</a:t>
            </a:r>
            <a:r>
              <a:rPr lang="en-US" sz="1800" dirty="0">
                <a:latin typeface="Cascadia Mono" panose="020B0609020000020004" pitchFamily="49" charset="0"/>
              </a:rPr>
              <a:t> </a:t>
            </a:r>
            <a:r>
              <a:rPr lang="en-US" sz="1800" dirty="0" err="1">
                <a:latin typeface="Cascadia Mono" panose="020B0609020000020004" pitchFamily="49" charset="0"/>
              </a:rPr>
              <a:t>trong</a:t>
            </a:r>
            <a:r>
              <a:rPr lang="en-US" sz="1800" dirty="0">
                <a:latin typeface="Cascadia Mono" panose="020B0609020000020004" pitchFamily="49" charset="0"/>
              </a:rPr>
              <a:t> </a:t>
            </a:r>
            <a:r>
              <a:rPr lang="en-US" sz="1800" dirty="0" err="1">
                <a:latin typeface="Cascadia Mono" panose="020B0609020000020004" pitchFamily="49" charset="0"/>
              </a:rPr>
              <a:t>lớp</a:t>
            </a:r>
            <a:r>
              <a:rPr lang="en-US" sz="1800" dirty="0">
                <a:latin typeface="Cascadia Mono" panose="020B0609020000020004" pitchFamily="49" charset="0"/>
              </a:rPr>
              <a:t> </a:t>
            </a:r>
            <a:r>
              <a:rPr lang="en-US" sz="1800" dirty="0" err="1">
                <a:latin typeface="Cascadia Mono" panose="020B0609020000020004" pitchFamily="49" charset="0"/>
              </a:rPr>
              <a:t>được</a:t>
            </a:r>
            <a:r>
              <a:rPr lang="en-US" sz="1800" dirty="0">
                <a:latin typeface="Cascadia Mono" panose="020B0609020000020004" pitchFamily="49" charset="0"/>
              </a:rPr>
              <a:t> </a:t>
            </a:r>
            <a:r>
              <a:rPr lang="en-US" sz="1800" dirty="0" err="1">
                <a:latin typeface="Cascadia Mono" panose="020B0609020000020004" pitchFamily="49" charset="0"/>
              </a:rPr>
              <a:t>khai</a:t>
            </a:r>
            <a:r>
              <a:rPr lang="en-US" sz="1800" dirty="0">
                <a:latin typeface="Cascadia Mono" panose="020B0609020000020004" pitchFamily="49" charset="0"/>
              </a:rPr>
              <a:t> </a:t>
            </a:r>
            <a:r>
              <a:rPr lang="en-US" sz="1800" dirty="0" err="1">
                <a:latin typeface="Cascadia Mono" panose="020B0609020000020004" pitchFamily="49" charset="0"/>
              </a:rPr>
              <a:t>báo</a:t>
            </a:r>
            <a:r>
              <a:rPr lang="en-US" sz="1800" dirty="0">
                <a:latin typeface="Cascadia Mono" panose="020B0609020000020004" pitchFamily="49" charset="0"/>
              </a:rPr>
              <a:t>.</a:t>
            </a:r>
          </a:p>
          <a:p>
            <a:pPr marL="0" indent="0">
              <a:lnSpc>
                <a:spcPct val="120000"/>
              </a:lnSpc>
              <a:buNone/>
            </a:pPr>
            <a:endParaRPr lang="en-US" sz="1800" dirty="0">
              <a:latin typeface="Cascadia Mono" panose="020B0609020000020004" pitchFamily="49" charset="0"/>
            </a:endParaRPr>
          </a:p>
          <a:p>
            <a:pPr marL="0" indent="0">
              <a:lnSpc>
                <a:spcPct val="120000"/>
              </a:lnSpc>
              <a:buNone/>
            </a:pPr>
            <a:r>
              <a:rPr lang="en-US" sz="1800" dirty="0" err="1">
                <a:latin typeface="Cascadia Mono" panose="020B0609020000020004" pitchFamily="49" charset="0"/>
              </a:rPr>
              <a:t>Nếu</a:t>
            </a:r>
            <a:r>
              <a:rPr lang="en-US" sz="1800" dirty="0">
                <a:latin typeface="Cascadia Mono" panose="020B0609020000020004" pitchFamily="49" charset="0"/>
              </a:rPr>
              <a:t> </a:t>
            </a:r>
            <a:r>
              <a:rPr lang="en-US" sz="1800" dirty="0" err="1">
                <a:latin typeface="Cascadia Mono" panose="020B0609020000020004" pitchFamily="49" charset="0"/>
              </a:rPr>
              <a:t>không</a:t>
            </a:r>
            <a:r>
              <a:rPr lang="en-US" sz="1800" dirty="0">
                <a:latin typeface="Cascadia Mono" panose="020B0609020000020004" pitchFamily="49" charset="0"/>
              </a:rPr>
              <a:t> </a:t>
            </a:r>
            <a:r>
              <a:rPr lang="en-US" sz="1800" dirty="0" err="1">
                <a:latin typeface="Cascadia Mono" panose="020B0609020000020004" pitchFamily="49" charset="0"/>
              </a:rPr>
              <a:t>khai</a:t>
            </a:r>
            <a:r>
              <a:rPr lang="en-US" sz="1800" dirty="0">
                <a:latin typeface="Cascadia Mono" panose="020B0609020000020004" pitchFamily="49" charset="0"/>
              </a:rPr>
              <a:t> </a:t>
            </a:r>
            <a:r>
              <a:rPr lang="en-US" sz="1800" dirty="0" err="1">
                <a:latin typeface="Cascadia Mono" panose="020B0609020000020004" pitchFamily="49" charset="0"/>
              </a:rPr>
              <a:t>báo</a:t>
            </a:r>
            <a:r>
              <a:rPr lang="en-US" sz="1800" dirty="0">
                <a:latin typeface="Cascadia Mono" panose="020B0609020000020004" pitchFamily="49" charset="0"/>
              </a:rPr>
              <a:t> </a:t>
            </a:r>
            <a:r>
              <a:rPr lang="en-US" sz="1800" dirty="0" err="1">
                <a:latin typeface="Cascadia Mono" panose="020B0609020000020004" pitchFamily="49" charset="0"/>
              </a:rPr>
              <a:t>mặc</a:t>
            </a:r>
            <a:r>
              <a:rPr lang="en-US" sz="1800" dirty="0">
                <a:latin typeface="Cascadia Mono" panose="020B0609020000020004" pitchFamily="49" charset="0"/>
              </a:rPr>
              <a:t> </a:t>
            </a:r>
            <a:r>
              <a:rPr lang="en-US" sz="1800" dirty="0" err="1">
                <a:latin typeface="Cascadia Mono" panose="020B0609020000020004" pitchFamily="49" charset="0"/>
              </a:rPr>
              <a:t>định</a:t>
            </a:r>
            <a:r>
              <a:rPr lang="en-US" sz="1800" dirty="0">
                <a:latin typeface="Cascadia Mono" panose="020B0609020000020004" pitchFamily="49" charset="0"/>
              </a:rPr>
              <a:t> </a:t>
            </a:r>
            <a:r>
              <a:rPr lang="en-US" sz="1800" dirty="0" err="1">
                <a:latin typeface="Cascadia Mono" panose="020B0609020000020004" pitchFamily="49" charset="0"/>
              </a:rPr>
              <a:t>là</a:t>
            </a:r>
            <a:r>
              <a:rPr lang="en-US" sz="1800" dirty="0">
                <a:latin typeface="Cascadia Mono" panose="020B0609020000020004" pitchFamily="49" charset="0"/>
              </a:rPr>
              <a:t> </a:t>
            </a:r>
            <a:r>
              <a:rPr lang="en-US" sz="1800" dirty="0">
                <a:solidFill>
                  <a:srgbClr val="FF0000"/>
                </a:solidFill>
                <a:latin typeface="Cascadia Mono" panose="020B0609020000020004" pitchFamily="49" charset="0"/>
              </a:rPr>
              <a:t>private</a:t>
            </a:r>
          </a:p>
          <a:p>
            <a:pPr marL="0" indent="0">
              <a:lnSpc>
                <a:spcPct val="120000"/>
              </a:lnSpc>
              <a:buNone/>
            </a:pPr>
            <a:endParaRPr lang="en-US" sz="1800" dirty="0">
              <a:latin typeface="Cascadia Mono" panose="020B0609020000020004" pitchFamily="49" charset="0"/>
            </a:endParaRPr>
          </a:p>
          <a:p>
            <a:pPr algn="l">
              <a:buFont typeface="Arial" panose="020B0604020202020204" pitchFamily="34" charset="0"/>
              <a:buChar char="•"/>
            </a:pPr>
            <a:r>
              <a:rPr lang="vi-VN" sz="1800" dirty="0">
                <a:solidFill>
                  <a:srgbClr val="FF0000"/>
                </a:solidFill>
                <a:latin typeface="Cascadia Mono" panose="020B0609020000020004" pitchFamily="49" charset="0"/>
              </a:rPr>
              <a:t>Tăng tính bảo mật: </a:t>
            </a:r>
            <a:r>
              <a:rPr lang="vi-VN" sz="1800" dirty="0">
                <a:latin typeface="Cascadia Mono" panose="020B0609020000020004" pitchFamily="49" charset="0"/>
              </a:rPr>
              <a:t>Giúp che giấu các chi tiết triển khai nội bộ của lớp, bảo vệ dữ liệu nhạy cảm và hạn chế việc sửa đổi trái phép.</a:t>
            </a:r>
          </a:p>
          <a:p>
            <a:pPr algn="l">
              <a:buFont typeface="Arial" panose="020B0604020202020204" pitchFamily="34" charset="0"/>
              <a:buChar char="•"/>
            </a:pPr>
            <a:r>
              <a:rPr lang="vi-VN" sz="1800" dirty="0">
                <a:solidFill>
                  <a:srgbClr val="FF0000"/>
                </a:solidFill>
                <a:latin typeface="Cascadia Mono" panose="020B0609020000020004" pitchFamily="49" charset="0"/>
              </a:rPr>
              <a:t>Tăng tính bảo trì: </a:t>
            </a:r>
            <a:r>
              <a:rPr lang="vi-VN" sz="1800" dirty="0">
                <a:latin typeface="Cascadia Mono" panose="020B0609020000020004" pitchFamily="49" charset="0"/>
              </a:rPr>
              <a:t>Giúp mã dễ hiểu và dễ sửa đổi hơn, vì chỉ cần quan tâm đến các thành viên </a:t>
            </a:r>
            <a:r>
              <a:rPr lang="vi-VN" sz="1800" dirty="0" err="1">
                <a:latin typeface="Cascadia Mono" panose="020B0609020000020004" pitchFamily="49" charset="0"/>
              </a:rPr>
              <a:t>public</a:t>
            </a:r>
            <a:r>
              <a:rPr lang="vi-VN" sz="1800" dirty="0">
                <a:latin typeface="Cascadia Mono" panose="020B0609020000020004" pitchFamily="49" charset="0"/>
              </a:rPr>
              <a:t>.</a:t>
            </a:r>
          </a:p>
          <a:p>
            <a:pPr algn="l">
              <a:buFont typeface="Arial" panose="020B0604020202020204" pitchFamily="34" charset="0"/>
              <a:buChar char="•"/>
            </a:pPr>
            <a:r>
              <a:rPr lang="vi-VN" sz="1800" dirty="0">
                <a:solidFill>
                  <a:srgbClr val="FF0000"/>
                </a:solidFill>
                <a:latin typeface="Cascadia Mono" panose="020B0609020000020004" pitchFamily="49" charset="0"/>
              </a:rPr>
              <a:t>Giảm thiểu</a:t>
            </a:r>
            <a:r>
              <a:rPr lang="en-US" sz="1800" dirty="0">
                <a:solidFill>
                  <a:srgbClr val="FF0000"/>
                </a:solidFill>
                <a:latin typeface="Cascadia Mono" panose="020B0609020000020004" pitchFamily="49" charset="0"/>
              </a:rPr>
              <a:t> </a:t>
            </a:r>
            <a:r>
              <a:rPr lang="en-US" altLang="ja-JP" sz="1800" dirty="0" err="1">
                <a:solidFill>
                  <a:srgbClr val="FF0000"/>
                </a:solidFill>
                <a:latin typeface="Cascadia Mono" panose="020B0609020000020004" pitchFamily="49" charset="0"/>
              </a:rPr>
              <a:t>phụ</a:t>
            </a:r>
            <a:r>
              <a:rPr lang="en-US" altLang="ja-JP" sz="1800" dirty="0">
                <a:solidFill>
                  <a:srgbClr val="FF0000"/>
                </a:solidFill>
                <a:latin typeface="Cascadia Mono" panose="020B0609020000020004" pitchFamily="49" charset="0"/>
              </a:rPr>
              <a:t> </a:t>
            </a:r>
            <a:r>
              <a:rPr lang="en-US" altLang="ja-JP" sz="1800" dirty="0" err="1">
                <a:solidFill>
                  <a:srgbClr val="FF0000"/>
                </a:solidFill>
                <a:latin typeface="Cascadia Mono" panose="020B0609020000020004" pitchFamily="49" charset="0"/>
              </a:rPr>
              <a:t>thuộc</a:t>
            </a:r>
            <a:r>
              <a:rPr lang="en-US" altLang="ja-JP" sz="1800" dirty="0">
                <a:solidFill>
                  <a:srgbClr val="FF0000"/>
                </a:solidFill>
                <a:latin typeface="Cascadia Mono" panose="020B0609020000020004" pitchFamily="49" charset="0"/>
              </a:rPr>
              <a:t>:</a:t>
            </a:r>
            <a:r>
              <a:rPr lang="ja-JP" altLang="en-US" sz="1800" dirty="0">
                <a:solidFill>
                  <a:srgbClr val="FF0000"/>
                </a:solidFill>
                <a:latin typeface="Cascadia Mono" panose="020B0609020000020004" pitchFamily="49" charset="0"/>
              </a:rPr>
              <a:t> </a:t>
            </a:r>
            <a:r>
              <a:rPr lang="vi-VN" sz="1800" dirty="0">
                <a:latin typeface="Cascadia Mono" panose="020B0609020000020004" pitchFamily="49" charset="0"/>
              </a:rPr>
              <a:t>Giúp các lớp độc lập hơn nhau, giảm thiểu sự phụ thuộc vào các chi tiết nội bộ của nhau.</a:t>
            </a:r>
          </a:p>
          <a:p>
            <a:pPr marL="0" indent="0">
              <a:lnSpc>
                <a:spcPct val="120000"/>
              </a:lnSpc>
              <a:buNone/>
            </a:pPr>
            <a:endParaRPr lang="en-US" sz="1800" dirty="0">
              <a:solidFill>
                <a:srgbClr val="FF0000"/>
              </a:solidFill>
              <a:latin typeface="Cascadia Mono" panose="020B0609020000020004" pitchFamily="49" charset="0"/>
            </a:endParaRPr>
          </a:p>
          <a:p>
            <a:pPr marL="0" indent="0">
              <a:lnSpc>
                <a:spcPct val="120000"/>
              </a:lnSpc>
              <a:buNone/>
            </a:pPr>
            <a:endParaRPr lang="en-US" sz="1800" dirty="0">
              <a:latin typeface="Cascadia Mono" panose="020B0609020000020004" pitchFamily="49" charset="0"/>
            </a:endParaRPr>
          </a:p>
          <a:p>
            <a:pPr marL="0" indent="0">
              <a:lnSpc>
                <a:spcPct val="120000"/>
              </a:lnSpc>
              <a:buNone/>
            </a:pPr>
            <a:endParaRPr lang="vi-VN" sz="1800" dirty="0">
              <a:latin typeface="Cascadia Mono" panose="020B0609020000020004" pitchFamily="49" charset="0"/>
            </a:endParaRPr>
          </a:p>
          <a:p>
            <a:pPr marL="0" indent="0">
              <a:lnSpc>
                <a:spcPct val="120000"/>
              </a:lnSpc>
              <a:buNone/>
            </a:pPr>
            <a:endParaRPr lang="en-US" sz="1800" dirty="0">
              <a:latin typeface="Cascadia Mono" panose="020B0609020000020004" pitchFamily="49" charset="0"/>
            </a:endParaRP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76084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9</a:t>
            </a:fld>
            <a:endParaRPr lang="en-US"/>
          </a:p>
        </p:txBody>
      </p:sp>
      <p:pic>
        <p:nvPicPr>
          <p:cNvPr id="7" name="Picture 6">
            <a:extLst>
              <a:ext uri="{FF2B5EF4-FFF2-40B4-BE49-F238E27FC236}">
                <a16:creationId xmlns:a16="http://schemas.microsoft.com/office/drawing/2014/main" id="{4915FBF4-F67C-4012-7749-52317F8941F1}"/>
              </a:ext>
            </a:extLst>
          </p:cNvPr>
          <p:cNvPicPr>
            <a:picLocks noChangeAspect="1"/>
          </p:cNvPicPr>
          <p:nvPr/>
        </p:nvPicPr>
        <p:blipFill>
          <a:blip r:embed="rId2"/>
          <a:stretch>
            <a:fillRect/>
          </a:stretch>
        </p:blipFill>
        <p:spPr>
          <a:xfrm>
            <a:off x="1904201" y="1095525"/>
            <a:ext cx="2478741" cy="3538149"/>
          </a:xfrm>
          <a:prstGeom prst="rect">
            <a:avLst/>
          </a:prstGeom>
        </p:spPr>
      </p:pic>
      <p:pic>
        <p:nvPicPr>
          <p:cNvPr id="9" name="Picture 8">
            <a:extLst>
              <a:ext uri="{FF2B5EF4-FFF2-40B4-BE49-F238E27FC236}">
                <a16:creationId xmlns:a16="http://schemas.microsoft.com/office/drawing/2014/main" id="{5A1C258C-754B-57A8-D5FA-3C6AFE5E059B}"/>
              </a:ext>
            </a:extLst>
          </p:cNvPr>
          <p:cNvPicPr>
            <a:picLocks noChangeAspect="1"/>
          </p:cNvPicPr>
          <p:nvPr/>
        </p:nvPicPr>
        <p:blipFill>
          <a:blip r:embed="rId3"/>
          <a:stretch>
            <a:fillRect/>
          </a:stretch>
        </p:blipFill>
        <p:spPr>
          <a:xfrm>
            <a:off x="5240229" y="1093669"/>
            <a:ext cx="3429000" cy="3323865"/>
          </a:xfrm>
          <a:prstGeom prst="rect">
            <a:avLst/>
          </a:prstGeom>
        </p:spPr>
      </p:pic>
      <p:pic>
        <p:nvPicPr>
          <p:cNvPr id="11" name="Picture 10">
            <a:extLst>
              <a:ext uri="{FF2B5EF4-FFF2-40B4-BE49-F238E27FC236}">
                <a16:creationId xmlns:a16="http://schemas.microsoft.com/office/drawing/2014/main" id="{DD726D14-0CE8-2A2D-D1AA-CFCC295814E8}"/>
              </a:ext>
            </a:extLst>
          </p:cNvPr>
          <p:cNvPicPr>
            <a:picLocks noChangeAspect="1"/>
          </p:cNvPicPr>
          <p:nvPr/>
        </p:nvPicPr>
        <p:blipFill>
          <a:blip r:embed="rId4"/>
          <a:stretch>
            <a:fillRect/>
          </a:stretch>
        </p:blipFill>
        <p:spPr>
          <a:xfrm>
            <a:off x="838200" y="4848528"/>
            <a:ext cx="2305372" cy="1143160"/>
          </a:xfrm>
          <a:prstGeom prst="rect">
            <a:avLst/>
          </a:prstGeom>
        </p:spPr>
      </p:pic>
      <p:pic>
        <p:nvPicPr>
          <p:cNvPr id="14" name="Picture 13">
            <a:extLst>
              <a:ext uri="{FF2B5EF4-FFF2-40B4-BE49-F238E27FC236}">
                <a16:creationId xmlns:a16="http://schemas.microsoft.com/office/drawing/2014/main" id="{2DE3CCA4-C1AD-4BA9-0E0F-62FBBB96D1CE}"/>
              </a:ext>
            </a:extLst>
          </p:cNvPr>
          <p:cNvPicPr>
            <a:picLocks noChangeAspect="1"/>
          </p:cNvPicPr>
          <p:nvPr/>
        </p:nvPicPr>
        <p:blipFill>
          <a:blip r:embed="rId5"/>
          <a:stretch>
            <a:fillRect/>
          </a:stretch>
        </p:blipFill>
        <p:spPr>
          <a:xfrm>
            <a:off x="3549039" y="5049392"/>
            <a:ext cx="3717782" cy="942295"/>
          </a:xfrm>
          <a:prstGeom prst="rect">
            <a:avLst/>
          </a:prstGeom>
        </p:spPr>
      </p:pic>
      <p:sp>
        <p:nvSpPr>
          <p:cNvPr id="3" name="TextBox 2">
            <a:extLst>
              <a:ext uri="{FF2B5EF4-FFF2-40B4-BE49-F238E27FC236}">
                <a16:creationId xmlns:a16="http://schemas.microsoft.com/office/drawing/2014/main" id="{232AFFA7-7A6C-7599-EBDB-792F001A4A81}"/>
              </a:ext>
            </a:extLst>
          </p:cNvPr>
          <p:cNvSpPr txBox="1"/>
          <p:nvPr/>
        </p:nvSpPr>
        <p:spPr>
          <a:xfrm>
            <a:off x="1118471" y="6396335"/>
            <a:ext cx="6148350" cy="461665"/>
          </a:xfrm>
          <a:prstGeom prst="rect">
            <a:avLst/>
          </a:prstGeom>
          <a:noFill/>
        </p:spPr>
        <p:txBody>
          <a:bodyPr wrap="none" rtlCol="0">
            <a:spAutoFit/>
          </a:bodyPr>
          <a:lstStyle/>
          <a:p>
            <a:r>
              <a:rPr lang="en-US" sz="2400" b="1" dirty="0" err="1">
                <a:solidFill>
                  <a:srgbClr val="FF0000"/>
                </a:solidFill>
              </a:rPr>
              <a:t>Chúng</a:t>
            </a:r>
            <a:r>
              <a:rPr lang="en-US" sz="2400" b="1" dirty="0">
                <a:solidFill>
                  <a:srgbClr val="FF0000"/>
                </a:solidFill>
              </a:rPr>
              <a:t> ta </a:t>
            </a:r>
            <a:r>
              <a:rPr lang="en-US" sz="2400" b="1" dirty="0" err="1">
                <a:solidFill>
                  <a:srgbClr val="FF0000"/>
                </a:solidFill>
              </a:rPr>
              <a:t>muốn</a:t>
            </a:r>
            <a:r>
              <a:rPr lang="en-US" sz="2400" b="1" dirty="0">
                <a:solidFill>
                  <a:srgbClr val="FF0000"/>
                </a:solidFill>
              </a:rPr>
              <a:t> dog1.Speak() </a:t>
            </a:r>
            <a:r>
              <a:rPr lang="en-US" sz="2400" b="1" dirty="0" err="1">
                <a:solidFill>
                  <a:srgbClr val="FF0000"/>
                </a:solidFill>
              </a:rPr>
              <a:t>phải</a:t>
            </a:r>
            <a:r>
              <a:rPr lang="en-US" sz="2400" b="1" dirty="0">
                <a:solidFill>
                  <a:srgbClr val="FF0000"/>
                </a:solidFill>
              </a:rPr>
              <a:t> </a:t>
            </a:r>
            <a:r>
              <a:rPr lang="en-US" sz="2400" b="1" dirty="0" err="1">
                <a:solidFill>
                  <a:srgbClr val="FF0000"/>
                </a:solidFill>
              </a:rPr>
              <a:t>kêu</a:t>
            </a:r>
            <a:r>
              <a:rPr lang="en-US" sz="2400" b="1" dirty="0">
                <a:solidFill>
                  <a:srgbClr val="FF0000"/>
                </a:solidFill>
              </a:rPr>
              <a:t> </a:t>
            </a:r>
            <a:r>
              <a:rPr lang="en-US" sz="2400" b="1" dirty="0" err="1">
                <a:solidFill>
                  <a:srgbClr val="FF0000"/>
                </a:solidFill>
              </a:rPr>
              <a:t>gâu</a:t>
            </a:r>
            <a:r>
              <a:rPr lang="en-US" sz="2400" b="1" dirty="0">
                <a:solidFill>
                  <a:srgbClr val="FF0000"/>
                </a:solidFill>
              </a:rPr>
              <a:t> </a:t>
            </a:r>
            <a:r>
              <a:rPr lang="en-US" sz="2400" b="1" dirty="0" err="1">
                <a:solidFill>
                  <a:srgbClr val="FF0000"/>
                </a:solidFill>
              </a:rPr>
              <a:t>gâu</a:t>
            </a:r>
            <a:r>
              <a:rPr lang="en-US" sz="2400" b="1" dirty="0">
                <a:solidFill>
                  <a:srgbClr val="FF0000"/>
                </a:solidFill>
              </a:rPr>
              <a:t> </a:t>
            </a:r>
          </a:p>
        </p:txBody>
      </p:sp>
      <p:sp>
        <p:nvSpPr>
          <p:cNvPr id="4" name="TextBox 3">
            <a:extLst>
              <a:ext uri="{FF2B5EF4-FFF2-40B4-BE49-F238E27FC236}">
                <a16:creationId xmlns:a16="http://schemas.microsoft.com/office/drawing/2014/main" id="{AEF33096-5601-B8CB-48D0-3A7913797255}"/>
              </a:ext>
            </a:extLst>
          </p:cNvPr>
          <p:cNvSpPr txBox="1"/>
          <p:nvPr/>
        </p:nvSpPr>
        <p:spPr>
          <a:xfrm>
            <a:off x="44532" y="714477"/>
            <a:ext cx="1066318" cy="461665"/>
          </a:xfrm>
          <a:prstGeom prst="rect">
            <a:avLst/>
          </a:prstGeom>
          <a:noFill/>
        </p:spPr>
        <p:txBody>
          <a:bodyPr wrap="none" rtlCol="0">
            <a:spAutoFit/>
          </a:body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1</a:t>
            </a:r>
          </a:p>
        </p:txBody>
      </p:sp>
    </p:spTree>
    <p:extLst>
      <p:ext uri="{BB962C8B-B14F-4D97-AF65-F5344CB8AC3E}">
        <p14:creationId xmlns:p14="http://schemas.microsoft.com/office/powerpoint/2010/main" val="230471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Các</a:t>
            </a:r>
            <a:r>
              <a:rPr lang="en-US" sz="2400" b="1" dirty="0"/>
              <a:t> </a:t>
            </a:r>
            <a:r>
              <a:rPr lang="en-US" sz="2400" b="1" dirty="0" err="1"/>
              <a:t>ví</a:t>
            </a:r>
            <a:r>
              <a:rPr lang="en-US" sz="2400" b="1" dirty="0"/>
              <a:t> </a:t>
            </a:r>
            <a:r>
              <a:rPr lang="en-US" sz="2400" b="1" dirty="0" err="1"/>
              <a:t>dụ</a:t>
            </a:r>
            <a:endParaRPr lang="en-US" sz="2400" dirty="0"/>
          </a:p>
        </p:txBody>
      </p:sp>
      <p:sp>
        <p:nvSpPr>
          <p:cNvPr id="3" name="Content Placeholder 2">
            <a:extLst>
              <a:ext uri="{FF2B5EF4-FFF2-40B4-BE49-F238E27FC236}">
                <a16:creationId xmlns:a16="http://schemas.microsoft.com/office/drawing/2014/main" id="{719E81F0-BC69-4FD0-8DC3-19914F51B9F5}"/>
              </a:ext>
            </a:extLst>
          </p:cNvPr>
          <p:cNvSpPr>
            <a:spLocks noGrp="1"/>
          </p:cNvSpPr>
          <p:nvPr>
            <p:ph idx="1"/>
          </p:nvPr>
        </p:nvSpPr>
        <p:spPr>
          <a:xfrm>
            <a:off x="299357" y="968323"/>
            <a:ext cx="8265459" cy="5181600"/>
          </a:xfrm>
          <a:ln>
            <a:noFill/>
          </a:ln>
        </p:spPr>
        <p:txBody>
          <a:bodyPr>
            <a:noAutofit/>
          </a:bodyPr>
          <a:lstStyle/>
          <a:p>
            <a:pPr marL="0" indent="0">
              <a:lnSpc>
                <a:spcPct val="120000"/>
              </a:lnSpc>
              <a:buNone/>
            </a:pPr>
            <a:r>
              <a:rPr lang="en-US" sz="2400" dirty="0" err="1">
                <a:solidFill>
                  <a:srgbClr val="FF0000"/>
                </a:solidFill>
                <a:latin typeface="Cascadia Mono" panose="020B0609020000020004" pitchFamily="49" charset="0"/>
              </a:rPr>
              <a:t>Ví</a:t>
            </a:r>
            <a:r>
              <a:rPr lang="en-US" sz="2400" dirty="0">
                <a:solidFill>
                  <a:srgbClr val="FF0000"/>
                </a:solidFill>
                <a:latin typeface="Cascadia Mono" panose="020B0609020000020004" pitchFamily="49" charset="0"/>
              </a:rPr>
              <a:t> </a:t>
            </a:r>
            <a:r>
              <a:rPr lang="en-US" sz="2400" dirty="0" err="1">
                <a:solidFill>
                  <a:srgbClr val="FF0000"/>
                </a:solidFill>
                <a:latin typeface="Cascadia Mono" panose="020B0609020000020004" pitchFamily="49" charset="0"/>
              </a:rPr>
              <a:t>dụ</a:t>
            </a:r>
            <a:r>
              <a:rPr lang="en-US" sz="2400" dirty="0">
                <a:solidFill>
                  <a:srgbClr val="FF0000"/>
                </a:solidFill>
                <a:latin typeface="Cascadia Mono" panose="020B0609020000020004" pitchFamily="49" charset="0"/>
              </a:rPr>
              <a:t> 1: </a:t>
            </a:r>
            <a:r>
              <a:rPr lang="en-US" sz="2400" dirty="0" err="1">
                <a:latin typeface="Cascadia Mono" panose="020B0609020000020004" pitchFamily="49" charset="0"/>
              </a:rPr>
              <a:t>Quản</a:t>
            </a:r>
            <a:r>
              <a:rPr lang="en-US" sz="2400" dirty="0">
                <a:latin typeface="Cascadia Mono" panose="020B0609020000020004" pitchFamily="49" charset="0"/>
              </a:rPr>
              <a:t> </a:t>
            </a:r>
            <a:r>
              <a:rPr lang="en-US" sz="2400" dirty="0" err="1">
                <a:latin typeface="Cascadia Mono" panose="020B0609020000020004" pitchFamily="49" charset="0"/>
              </a:rPr>
              <a:t>lý</a:t>
            </a:r>
            <a:r>
              <a:rPr lang="en-US" sz="2400" dirty="0">
                <a:latin typeface="Cascadia Mono" panose="020B0609020000020004" pitchFamily="49" charset="0"/>
              </a:rPr>
              <a:t> </a:t>
            </a:r>
            <a:r>
              <a:rPr lang="en-US" sz="2400" dirty="0" err="1">
                <a:latin typeface="Cascadia Mono" panose="020B0609020000020004" pitchFamily="49" charset="0"/>
              </a:rPr>
              <a:t>động</a:t>
            </a:r>
            <a:r>
              <a:rPr lang="en-US" sz="2400" dirty="0">
                <a:latin typeface="Cascadia Mono" panose="020B0609020000020004" pitchFamily="49" charset="0"/>
              </a:rPr>
              <a:t> </a:t>
            </a:r>
            <a:r>
              <a:rPr lang="en-US" sz="2400" dirty="0" err="1">
                <a:latin typeface="Cascadia Mono" panose="020B0609020000020004" pitchFamily="49" charset="0"/>
              </a:rPr>
              <a:t>vật</a:t>
            </a:r>
            <a:r>
              <a:rPr lang="en-US" sz="2400" dirty="0">
                <a:latin typeface="Cascadia Mono" panose="020B0609020000020004" pitchFamily="49" charset="0"/>
              </a:rPr>
              <a:t> (</a:t>
            </a:r>
            <a:r>
              <a:rPr lang="en-US" sz="2400" dirty="0" err="1">
                <a:latin typeface="Cascadia Mono" panose="020B0609020000020004" pitchFamily="49" charset="0"/>
              </a:rPr>
              <a:t>chó</a:t>
            </a:r>
            <a:r>
              <a:rPr lang="en-US" sz="2400" dirty="0">
                <a:latin typeface="Cascadia Mono" panose="020B0609020000020004" pitchFamily="49" charset="0"/>
              </a:rPr>
              <a:t>, </a:t>
            </a:r>
            <a:r>
              <a:rPr lang="en-US" sz="2400" dirty="0" err="1">
                <a:latin typeface="Cascadia Mono" panose="020B0609020000020004" pitchFamily="49" charset="0"/>
              </a:rPr>
              <a:t>mèo</a:t>
            </a:r>
            <a:r>
              <a:rPr lang="en-US" sz="2400" dirty="0">
                <a:latin typeface="Cascadia Mono" panose="020B0609020000020004" pitchFamily="49" charset="0"/>
              </a:rPr>
              <a:t>, </a:t>
            </a:r>
            <a:r>
              <a:rPr lang="en-US" sz="2400" dirty="0" err="1">
                <a:latin typeface="Cascadia Mono" panose="020B0609020000020004" pitchFamily="49" charset="0"/>
              </a:rPr>
              <a:t>sư</a:t>
            </a:r>
            <a:r>
              <a:rPr lang="en-US" sz="2400" dirty="0">
                <a:latin typeface="Cascadia Mono" panose="020B0609020000020004" pitchFamily="49" charset="0"/>
              </a:rPr>
              <a:t> </a:t>
            </a:r>
            <a:r>
              <a:rPr lang="en-US" sz="2400" dirty="0" err="1">
                <a:latin typeface="Cascadia Mono" panose="020B0609020000020004" pitchFamily="49" charset="0"/>
              </a:rPr>
              <a:t>tử</a:t>
            </a:r>
            <a:r>
              <a:rPr lang="en-US" sz="2400" dirty="0">
                <a:latin typeface="Cascadia Mono" panose="020B0609020000020004" pitchFamily="49" charset="0"/>
              </a:rPr>
              <a:t> …)</a:t>
            </a:r>
          </a:p>
          <a:p>
            <a:pPr marL="0" indent="0">
              <a:lnSpc>
                <a:spcPct val="120000"/>
              </a:lnSpc>
              <a:buNone/>
            </a:pPr>
            <a:r>
              <a:rPr lang="en-US" sz="2400" dirty="0" err="1">
                <a:solidFill>
                  <a:srgbClr val="FF0000"/>
                </a:solidFill>
                <a:latin typeface="Cascadia Mono" panose="020B0609020000020004" pitchFamily="49" charset="0"/>
              </a:rPr>
              <a:t>Ví</a:t>
            </a:r>
            <a:r>
              <a:rPr lang="en-US" sz="2400" dirty="0">
                <a:solidFill>
                  <a:srgbClr val="FF0000"/>
                </a:solidFill>
                <a:latin typeface="Cascadia Mono" panose="020B0609020000020004" pitchFamily="49" charset="0"/>
              </a:rPr>
              <a:t> </a:t>
            </a:r>
            <a:r>
              <a:rPr lang="en-US" sz="2400" dirty="0" err="1">
                <a:solidFill>
                  <a:srgbClr val="FF0000"/>
                </a:solidFill>
                <a:latin typeface="Cascadia Mono" panose="020B0609020000020004" pitchFamily="49" charset="0"/>
              </a:rPr>
              <a:t>dụ</a:t>
            </a:r>
            <a:r>
              <a:rPr lang="en-US" sz="2400" dirty="0">
                <a:solidFill>
                  <a:srgbClr val="FF0000"/>
                </a:solidFill>
                <a:latin typeface="Cascadia Mono" panose="020B0609020000020004" pitchFamily="49" charset="0"/>
              </a:rPr>
              <a:t> 2: </a:t>
            </a:r>
            <a:r>
              <a:rPr lang="en-US" sz="2400" dirty="0" err="1">
                <a:latin typeface="Cascadia Mono" panose="020B0609020000020004" pitchFamily="49" charset="0"/>
              </a:rPr>
              <a:t>Quản</a:t>
            </a:r>
            <a:r>
              <a:rPr lang="en-US" sz="2400" dirty="0">
                <a:latin typeface="Cascadia Mono" panose="020B0609020000020004" pitchFamily="49" charset="0"/>
              </a:rPr>
              <a:t> </a:t>
            </a:r>
            <a:r>
              <a:rPr lang="en-US" sz="2400" dirty="0" err="1">
                <a:latin typeface="Cascadia Mono" panose="020B0609020000020004" pitchFamily="49" charset="0"/>
              </a:rPr>
              <a:t>lý</a:t>
            </a:r>
            <a:r>
              <a:rPr lang="en-US" sz="2400" dirty="0">
                <a:latin typeface="Cascadia Mono" panose="020B0609020000020004" pitchFamily="49" charset="0"/>
              </a:rPr>
              <a:t> </a:t>
            </a:r>
            <a:r>
              <a:rPr lang="en-US" sz="2400" dirty="0" err="1">
                <a:latin typeface="Cascadia Mono" panose="020B0609020000020004" pitchFamily="49" charset="0"/>
              </a:rPr>
              <a:t>người</a:t>
            </a:r>
            <a:r>
              <a:rPr lang="en-US" sz="2400" dirty="0">
                <a:latin typeface="Cascadia Mono" panose="020B0609020000020004" pitchFamily="49" charset="0"/>
              </a:rPr>
              <a:t> (</a:t>
            </a:r>
            <a:r>
              <a:rPr lang="en-US" sz="2400" dirty="0" err="1">
                <a:latin typeface="Cascadia Mono" panose="020B0609020000020004" pitchFamily="49" charset="0"/>
              </a:rPr>
              <a:t>giáo</a:t>
            </a:r>
            <a:r>
              <a:rPr lang="en-US" sz="2400" dirty="0">
                <a:latin typeface="Cascadia Mono" panose="020B0609020000020004" pitchFamily="49" charset="0"/>
              </a:rPr>
              <a:t> </a:t>
            </a:r>
            <a:r>
              <a:rPr lang="en-US" sz="2400" dirty="0" err="1">
                <a:latin typeface="Cascadia Mono" panose="020B0609020000020004" pitchFamily="49" charset="0"/>
              </a:rPr>
              <a:t>viên</a:t>
            </a:r>
            <a:r>
              <a:rPr lang="en-US" sz="2400" dirty="0">
                <a:latin typeface="Cascadia Mono" panose="020B0609020000020004" pitchFamily="49" charset="0"/>
              </a:rPr>
              <a:t>, </a:t>
            </a:r>
            <a:r>
              <a:rPr lang="en-US" sz="2400" dirty="0" err="1">
                <a:latin typeface="Cascadia Mono" panose="020B0609020000020004" pitchFamily="49" charset="0"/>
              </a:rPr>
              <a:t>sinh</a:t>
            </a:r>
            <a:r>
              <a:rPr lang="en-US" sz="2400" dirty="0">
                <a:latin typeface="Cascadia Mono" panose="020B0609020000020004" pitchFamily="49" charset="0"/>
              </a:rPr>
              <a:t> </a:t>
            </a:r>
            <a:r>
              <a:rPr lang="en-US" sz="2400" dirty="0" err="1">
                <a:latin typeface="Cascadia Mono" panose="020B0609020000020004" pitchFamily="49" charset="0"/>
              </a:rPr>
              <a:t>viên</a:t>
            </a:r>
            <a:r>
              <a:rPr lang="en-US" sz="2400" dirty="0">
                <a:latin typeface="Cascadia Mono" panose="020B0609020000020004" pitchFamily="49" charset="0"/>
              </a:rPr>
              <a:t>, </a:t>
            </a:r>
            <a:r>
              <a:rPr lang="en-US" sz="2400" dirty="0" err="1">
                <a:latin typeface="Cascadia Mono" panose="020B0609020000020004" pitchFamily="49" charset="0"/>
              </a:rPr>
              <a:t>nhân</a:t>
            </a:r>
            <a:r>
              <a:rPr lang="en-US" sz="2400" dirty="0">
                <a:latin typeface="Cascadia Mono" panose="020B0609020000020004" pitchFamily="49" charset="0"/>
              </a:rPr>
              <a:t> </a:t>
            </a:r>
            <a:r>
              <a:rPr lang="en-US" sz="2400" dirty="0" err="1">
                <a:latin typeface="Cascadia Mono" panose="020B0609020000020004" pitchFamily="49" charset="0"/>
              </a:rPr>
              <a:t>viên</a:t>
            </a:r>
            <a:r>
              <a:rPr lang="en-US" sz="2400" dirty="0">
                <a:latin typeface="Cascadia Mono" panose="020B0609020000020004" pitchFamily="49" charset="0"/>
              </a:rPr>
              <a:t> …)</a:t>
            </a:r>
          </a:p>
          <a:p>
            <a:pPr marL="0" indent="0">
              <a:lnSpc>
                <a:spcPct val="120000"/>
              </a:lnSpc>
              <a:buNone/>
            </a:pPr>
            <a:r>
              <a:rPr lang="en-US" sz="2400" dirty="0" err="1">
                <a:solidFill>
                  <a:srgbClr val="FF0000"/>
                </a:solidFill>
                <a:latin typeface="Cascadia Mono" panose="020B0609020000020004" pitchFamily="49" charset="0"/>
              </a:rPr>
              <a:t>Ví</a:t>
            </a:r>
            <a:r>
              <a:rPr lang="en-US" sz="2400" dirty="0">
                <a:solidFill>
                  <a:srgbClr val="FF0000"/>
                </a:solidFill>
                <a:latin typeface="Cascadia Mono" panose="020B0609020000020004" pitchFamily="49" charset="0"/>
              </a:rPr>
              <a:t> </a:t>
            </a:r>
            <a:r>
              <a:rPr lang="en-US" sz="2400" dirty="0" err="1">
                <a:solidFill>
                  <a:srgbClr val="FF0000"/>
                </a:solidFill>
                <a:latin typeface="Cascadia Mono" panose="020B0609020000020004" pitchFamily="49" charset="0"/>
              </a:rPr>
              <a:t>dụ</a:t>
            </a:r>
            <a:r>
              <a:rPr lang="en-US" sz="2400" dirty="0">
                <a:solidFill>
                  <a:srgbClr val="FF0000"/>
                </a:solidFill>
                <a:latin typeface="Cascadia Mono" panose="020B0609020000020004" pitchFamily="49" charset="0"/>
              </a:rPr>
              <a:t> 3: </a:t>
            </a:r>
            <a:r>
              <a:rPr lang="en-US" sz="2400" dirty="0" err="1">
                <a:latin typeface="Cascadia Mono" panose="020B0609020000020004" pitchFamily="49" charset="0"/>
              </a:rPr>
              <a:t>Quản</a:t>
            </a:r>
            <a:r>
              <a:rPr lang="en-US" sz="2400" dirty="0">
                <a:latin typeface="Cascadia Mono" panose="020B0609020000020004" pitchFamily="49" charset="0"/>
              </a:rPr>
              <a:t> </a:t>
            </a:r>
            <a:r>
              <a:rPr lang="en-US" sz="2400" dirty="0" err="1">
                <a:latin typeface="Cascadia Mono" panose="020B0609020000020004" pitchFamily="49" charset="0"/>
              </a:rPr>
              <a:t>lý</a:t>
            </a:r>
            <a:r>
              <a:rPr lang="en-US" sz="2400" dirty="0">
                <a:latin typeface="Cascadia Mono" panose="020B0609020000020004" pitchFamily="49" charset="0"/>
              </a:rPr>
              <a:t> </a:t>
            </a:r>
            <a:r>
              <a:rPr lang="en-US" sz="2400" dirty="0" err="1">
                <a:latin typeface="Cascadia Mono" panose="020B0609020000020004" pitchFamily="49" charset="0"/>
              </a:rPr>
              <a:t>các</a:t>
            </a:r>
            <a:r>
              <a:rPr lang="en-US" sz="2400" dirty="0">
                <a:latin typeface="Cascadia Mono" panose="020B0609020000020004" pitchFamily="49" charset="0"/>
              </a:rPr>
              <a:t> </a:t>
            </a:r>
            <a:r>
              <a:rPr lang="en-US" sz="2400" dirty="0" err="1">
                <a:latin typeface="Cascadia Mono" panose="020B0609020000020004" pitchFamily="49" charset="0"/>
              </a:rPr>
              <a:t>đối</a:t>
            </a:r>
            <a:r>
              <a:rPr lang="en-US" sz="2400" dirty="0">
                <a:latin typeface="Cascadia Mono" panose="020B0609020000020004" pitchFamily="49" charset="0"/>
              </a:rPr>
              <a:t> </a:t>
            </a:r>
            <a:r>
              <a:rPr lang="en-US" sz="2400" dirty="0" err="1">
                <a:latin typeface="Cascadia Mono" panose="020B0609020000020004" pitchFamily="49" charset="0"/>
              </a:rPr>
              <a:t>tượng</a:t>
            </a:r>
            <a:r>
              <a:rPr lang="en-US" sz="2400" dirty="0">
                <a:latin typeface="Cascadia Mono" panose="020B0609020000020004" pitchFamily="49" charset="0"/>
              </a:rPr>
              <a:t> </a:t>
            </a:r>
            <a:r>
              <a:rPr lang="en-US" sz="2400" dirty="0" err="1">
                <a:latin typeface="Cascadia Mono" panose="020B0609020000020004" pitchFamily="49" charset="0"/>
              </a:rPr>
              <a:t>xe</a:t>
            </a:r>
            <a:r>
              <a:rPr lang="en-US" sz="2400" dirty="0">
                <a:latin typeface="Cascadia Mono" panose="020B0609020000020004" pitchFamily="49" charset="0"/>
              </a:rPr>
              <a:t> (</a:t>
            </a:r>
            <a:r>
              <a:rPr lang="en-US" sz="2400" dirty="0" err="1">
                <a:latin typeface="Cascadia Mono" panose="020B0609020000020004" pitchFamily="49" charset="0"/>
              </a:rPr>
              <a:t>xe</a:t>
            </a:r>
            <a:r>
              <a:rPr lang="en-US" sz="2400" dirty="0">
                <a:latin typeface="Cascadia Mono" panose="020B0609020000020004" pitchFamily="49" charset="0"/>
              </a:rPr>
              <a:t> </a:t>
            </a:r>
            <a:r>
              <a:rPr lang="en-US" sz="2400" dirty="0" err="1">
                <a:latin typeface="Cascadia Mono" panose="020B0609020000020004" pitchFamily="49" charset="0"/>
              </a:rPr>
              <a:t>máy</a:t>
            </a:r>
            <a:r>
              <a:rPr lang="en-US" sz="2400" dirty="0">
                <a:latin typeface="Cascadia Mono" panose="020B0609020000020004" pitchFamily="49" charset="0"/>
              </a:rPr>
              <a:t>, </a:t>
            </a:r>
            <a:r>
              <a:rPr lang="en-US" sz="2400" dirty="0" err="1">
                <a:latin typeface="Cascadia Mono" panose="020B0609020000020004" pitchFamily="49" charset="0"/>
              </a:rPr>
              <a:t>xe</a:t>
            </a:r>
            <a:r>
              <a:rPr lang="en-US" sz="2400" dirty="0">
                <a:latin typeface="Cascadia Mono" panose="020B0609020000020004" pitchFamily="49" charset="0"/>
              </a:rPr>
              <a:t> </a:t>
            </a:r>
            <a:r>
              <a:rPr lang="en-US" sz="2400" dirty="0" err="1">
                <a:latin typeface="Cascadia Mono" panose="020B0609020000020004" pitchFamily="49" charset="0"/>
              </a:rPr>
              <a:t>hơi</a:t>
            </a:r>
            <a:r>
              <a:rPr lang="en-US" sz="2400" dirty="0">
                <a:latin typeface="Cascadia Mono" panose="020B0609020000020004" pitchFamily="49" charset="0"/>
              </a:rPr>
              <a:t>, </a:t>
            </a:r>
            <a:r>
              <a:rPr lang="en-US" sz="2400" dirty="0" err="1">
                <a:latin typeface="Cascadia Mono" panose="020B0609020000020004" pitchFamily="49" charset="0"/>
              </a:rPr>
              <a:t>xe</a:t>
            </a:r>
            <a:r>
              <a:rPr lang="en-US" sz="2400" dirty="0">
                <a:latin typeface="Cascadia Mono" panose="020B0609020000020004" pitchFamily="49" charset="0"/>
              </a:rPr>
              <a:t> </a:t>
            </a:r>
            <a:r>
              <a:rPr lang="en-US" sz="2400" dirty="0" err="1">
                <a:latin typeface="Cascadia Mono" panose="020B0609020000020004" pitchFamily="49" charset="0"/>
              </a:rPr>
              <a:t>tải</a:t>
            </a:r>
            <a:r>
              <a:rPr lang="en-US" sz="2400" dirty="0">
                <a:latin typeface="Cascadia Mono" panose="020B0609020000020004" pitchFamily="49" charset="0"/>
              </a:rPr>
              <a:t> …)</a:t>
            </a:r>
          </a:p>
          <a:p>
            <a:pPr marL="0" indent="0">
              <a:lnSpc>
                <a:spcPct val="120000"/>
              </a:lnSpc>
              <a:buNone/>
            </a:pPr>
            <a:r>
              <a:rPr lang="en-US" sz="2400" dirty="0" err="1">
                <a:solidFill>
                  <a:srgbClr val="FF0000"/>
                </a:solidFill>
                <a:latin typeface="Cascadia Mono" panose="020B0609020000020004" pitchFamily="49" charset="0"/>
              </a:rPr>
              <a:t>Ví</a:t>
            </a:r>
            <a:r>
              <a:rPr lang="en-US" sz="2400" dirty="0">
                <a:solidFill>
                  <a:srgbClr val="FF0000"/>
                </a:solidFill>
                <a:latin typeface="Cascadia Mono" panose="020B0609020000020004" pitchFamily="49" charset="0"/>
              </a:rPr>
              <a:t> </a:t>
            </a:r>
            <a:r>
              <a:rPr lang="en-US" sz="2400" dirty="0" err="1">
                <a:solidFill>
                  <a:srgbClr val="FF0000"/>
                </a:solidFill>
                <a:latin typeface="Cascadia Mono" panose="020B0609020000020004" pitchFamily="49" charset="0"/>
              </a:rPr>
              <a:t>dụ</a:t>
            </a:r>
            <a:r>
              <a:rPr lang="en-US" sz="2400" dirty="0">
                <a:solidFill>
                  <a:srgbClr val="FF0000"/>
                </a:solidFill>
                <a:latin typeface="Cascadia Mono" panose="020B0609020000020004" pitchFamily="49" charset="0"/>
              </a:rPr>
              <a:t> 4: </a:t>
            </a:r>
            <a:r>
              <a:rPr lang="en-US" sz="2400" dirty="0" err="1">
                <a:latin typeface="Cascadia Mono" panose="020B0609020000020004" pitchFamily="49" charset="0"/>
              </a:rPr>
              <a:t>Quản</a:t>
            </a:r>
            <a:r>
              <a:rPr lang="en-US" sz="2400" dirty="0">
                <a:latin typeface="Cascadia Mono" panose="020B0609020000020004" pitchFamily="49" charset="0"/>
              </a:rPr>
              <a:t> </a:t>
            </a:r>
            <a:r>
              <a:rPr lang="en-US" sz="2400" dirty="0" err="1">
                <a:latin typeface="Cascadia Mono" panose="020B0609020000020004" pitchFamily="49" charset="0"/>
              </a:rPr>
              <a:t>lý</a:t>
            </a:r>
            <a:r>
              <a:rPr lang="en-US" sz="2400" dirty="0">
                <a:latin typeface="Cascadia Mono" panose="020B0609020000020004" pitchFamily="49" charset="0"/>
              </a:rPr>
              <a:t> </a:t>
            </a:r>
            <a:r>
              <a:rPr lang="en-US" sz="2400" dirty="0" err="1">
                <a:latin typeface="Cascadia Mono" panose="020B0609020000020004" pitchFamily="49" charset="0"/>
              </a:rPr>
              <a:t>các</a:t>
            </a:r>
            <a:r>
              <a:rPr lang="en-US" sz="2400" dirty="0">
                <a:latin typeface="Cascadia Mono" panose="020B0609020000020004" pitchFamily="49" charset="0"/>
              </a:rPr>
              <a:t> </a:t>
            </a:r>
            <a:r>
              <a:rPr lang="en-US" sz="2400" dirty="0" err="1">
                <a:latin typeface="Cascadia Mono" panose="020B0609020000020004" pitchFamily="49" charset="0"/>
              </a:rPr>
              <a:t>đối</a:t>
            </a:r>
            <a:r>
              <a:rPr lang="en-US" sz="2400" dirty="0">
                <a:latin typeface="Cascadia Mono" panose="020B0609020000020004" pitchFamily="49" charset="0"/>
              </a:rPr>
              <a:t> </a:t>
            </a:r>
            <a:r>
              <a:rPr lang="en-US" sz="2400" dirty="0" err="1">
                <a:latin typeface="Cascadia Mono" panose="020B0609020000020004" pitchFamily="49" charset="0"/>
              </a:rPr>
              <a:t>tượng</a:t>
            </a:r>
            <a:r>
              <a:rPr lang="en-US" sz="2400" dirty="0">
                <a:latin typeface="Cascadia Mono" panose="020B0609020000020004" pitchFamily="49" charset="0"/>
              </a:rPr>
              <a:t> </a:t>
            </a:r>
            <a:r>
              <a:rPr lang="en-US" sz="2400" dirty="0" err="1">
                <a:latin typeface="Cascadia Mono" panose="020B0609020000020004" pitchFamily="49" charset="0"/>
              </a:rPr>
              <a:t>hình</a:t>
            </a:r>
            <a:r>
              <a:rPr lang="en-US" sz="2400" dirty="0">
                <a:latin typeface="Cascadia Mono" panose="020B0609020000020004" pitchFamily="49" charset="0"/>
              </a:rPr>
              <a:t> </a:t>
            </a:r>
            <a:r>
              <a:rPr lang="en-US" sz="2400" dirty="0" err="1">
                <a:latin typeface="Cascadia Mono" panose="020B0609020000020004" pitchFamily="49" charset="0"/>
              </a:rPr>
              <a:t>học</a:t>
            </a:r>
            <a:r>
              <a:rPr lang="en-US" sz="2400" dirty="0">
                <a:latin typeface="Cascadia Mono" panose="020B0609020000020004" pitchFamily="49" charset="0"/>
              </a:rPr>
              <a:t> (</a:t>
            </a:r>
            <a:r>
              <a:rPr lang="en-US" sz="2400" dirty="0" err="1">
                <a:latin typeface="Cascadia Mono" panose="020B0609020000020004" pitchFamily="49" charset="0"/>
              </a:rPr>
              <a:t>tròn</a:t>
            </a:r>
            <a:r>
              <a:rPr lang="en-US" sz="2400" dirty="0">
                <a:latin typeface="Cascadia Mono" panose="020B0609020000020004" pitchFamily="49" charset="0"/>
              </a:rPr>
              <a:t>, tam </a:t>
            </a:r>
            <a:r>
              <a:rPr lang="en-US" sz="2400" dirty="0" err="1">
                <a:latin typeface="Cascadia Mono" panose="020B0609020000020004" pitchFamily="49" charset="0"/>
              </a:rPr>
              <a:t>giác</a:t>
            </a:r>
            <a:r>
              <a:rPr lang="en-US" sz="2400" dirty="0">
                <a:latin typeface="Cascadia Mono" panose="020B0609020000020004" pitchFamily="49" charset="0"/>
              </a:rPr>
              <a:t> …)</a:t>
            </a:r>
          </a:p>
          <a:p>
            <a:pPr marL="0" indent="0">
              <a:lnSpc>
                <a:spcPct val="120000"/>
              </a:lnSpc>
              <a:buNone/>
            </a:pPr>
            <a:r>
              <a:rPr lang="en-US" sz="2400" dirty="0" err="1">
                <a:solidFill>
                  <a:srgbClr val="FF0000"/>
                </a:solidFill>
                <a:latin typeface="Cascadia Mono" panose="020B0609020000020004" pitchFamily="49" charset="0"/>
              </a:rPr>
              <a:t>Ví</a:t>
            </a:r>
            <a:r>
              <a:rPr lang="en-US" sz="2400" dirty="0">
                <a:solidFill>
                  <a:srgbClr val="FF0000"/>
                </a:solidFill>
                <a:latin typeface="Cascadia Mono" panose="020B0609020000020004" pitchFamily="49" charset="0"/>
              </a:rPr>
              <a:t> </a:t>
            </a:r>
            <a:r>
              <a:rPr lang="en-US" sz="2400" dirty="0" err="1">
                <a:solidFill>
                  <a:srgbClr val="FF0000"/>
                </a:solidFill>
                <a:latin typeface="Cascadia Mono" panose="020B0609020000020004" pitchFamily="49" charset="0"/>
              </a:rPr>
              <a:t>dụ</a:t>
            </a:r>
            <a:r>
              <a:rPr lang="en-US" sz="2400" dirty="0">
                <a:solidFill>
                  <a:srgbClr val="FF0000"/>
                </a:solidFill>
                <a:latin typeface="Cascadia Mono" panose="020B0609020000020004" pitchFamily="49" charset="0"/>
              </a:rPr>
              <a:t> 5: </a:t>
            </a:r>
            <a:r>
              <a:rPr lang="en-US" sz="2400" dirty="0" err="1">
                <a:latin typeface="Cascadia Mono" panose="020B0609020000020004" pitchFamily="49" charset="0"/>
              </a:rPr>
              <a:t>Quản</a:t>
            </a:r>
            <a:r>
              <a:rPr lang="en-US" sz="2400" dirty="0">
                <a:latin typeface="Cascadia Mono" panose="020B0609020000020004" pitchFamily="49" charset="0"/>
              </a:rPr>
              <a:t> </a:t>
            </a:r>
            <a:r>
              <a:rPr lang="en-US" sz="2400" dirty="0" err="1">
                <a:latin typeface="Cascadia Mono" panose="020B0609020000020004" pitchFamily="49" charset="0"/>
              </a:rPr>
              <a:t>lý</a:t>
            </a:r>
            <a:r>
              <a:rPr lang="en-US" sz="2400" dirty="0">
                <a:latin typeface="Cascadia Mono" panose="020B0609020000020004" pitchFamily="49" charset="0"/>
              </a:rPr>
              <a:t> </a:t>
            </a:r>
            <a:r>
              <a:rPr lang="en-US" sz="2400" dirty="0" err="1">
                <a:latin typeface="Cascadia Mono" panose="020B0609020000020004" pitchFamily="49" charset="0"/>
              </a:rPr>
              <a:t>chè</a:t>
            </a:r>
            <a:r>
              <a:rPr lang="en-US" sz="2400" dirty="0">
                <a:latin typeface="Cascadia Mono" panose="020B0609020000020004" pitchFamily="49" charset="0"/>
              </a:rPr>
              <a:t> </a:t>
            </a:r>
            <a:r>
              <a:rPr lang="en-US" sz="2400" dirty="0" err="1">
                <a:latin typeface="Cascadia Mono" panose="020B0609020000020004" pitchFamily="49" charset="0"/>
              </a:rPr>
              <a:t>trái</a:t>
            </a:r>
            <a:r>
              <a:rPr lang="en-US" sz="2400" dirty="0">
                <a:latin typeface="Cascadia Mono" panose="020B0609020000020004" pitchFamily="49" charset="0"/>
              </a:rPr>
              <a:t> </a:t>
            </a:r>
            <a:r>
              <a:rPr lang="en-US" sz="2400" dirty="0" err="1">
                <a:latin typeface="Cascadia Mono" panose="020B0609020000020004" pitchFamily="49" charset="0"/>
              </a:rPr>
              <a:t>cây</a:t>
            </a:r>
            <a:r>
              <a:rPr lang="en-US" sz="2400" dirty="0">
                <a:latin typeface="Cascadia Mono" panose="020B0609020000020004" pitchFamily="49" charset="0"/>
              </a:rPr>
              <a:t> (</a:t>
            </a:r>
            <a:r>
              <a:rPr lang="en-US" sz="2400" dirty="0" err="1">
                <a:latin typeface="Cascadia Mono" panose="020B0609020000020004" pitchFamily="49" charset="0"/>
              </a:rPr>
              <a:t>xoài</a:t>
            </a:r>
            <a:r>
              <a:rPr lang="en-US" sz="2400" dirty="0">
                <a:latin typeface="Cascadia Mono" panose="020B0609020000020004" pitchFamily="49" charset="0"/>
              </a:rPr>
              <a:t>, </a:t>
            </a:r>
            <a:r>
              <a:rPr lang="en-US" sz="2400" dirty="0" err="1">
                <a:latin typeface="Cascadia Mono" panose="020B0609020000020004" pitchFamily="49" charset="0"/>
              </a:rPr>
              <a:t>mít</a:t>
            </a:r>
            <a:r>
              <a:rPr lang="en-US" sz="2400" dirty="0">
                <a:latin typeface="Cascadia Mono" panose="020B0609020000020004" pitchFamily="49" charset="0"/>
              </a:rPr>
              <a:t>, </a:t>
            </a:r>
            <a:r>
              <a:rPr lang="en-US" sz="2400" dirty="0" err="1">
                <a:latin typeface="Cascadia Mono" panose="020B0609020000020004" pitchFamily="49" charset="0"/>
              </a:rPr>
              <a:t>cóc</a:t>
            </a:r>
            <a:r>
              <a:rPr lang="en-US" sz="2400" dirty="0">
                <a:latin typeface="Cascadia Mono" panose="020B0609020000020004" pitchFamily="49" charset="0"/>
              </a:rPr>
              <a:t> …)</a:t>
            </a:r>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760732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r>
              <a:rPr lang="en-US" sz="2400" b="1" dirty="0"/>
              <a:t> (</a:t>
            </a:r>
            <a:r>
              <a:rPr lang="en-US" sz="2400" b="1" dirty="0" err="1"/>
              <a:t>sử</a:t>
            </a:r>
            <a:r>
              <a:rPr lang="en-US" sz="2400" b="1" dirty="0"/>
              <a:t> </a:t>
            </a:r>
            <a:r>
              <a:rPr lang="en-US" sz="2400" b="1" dirty="0" err="1"/>
              <a:t>dụng</a:t>
            </a:r>
            <a:r>
              <a:rPr lang="en-US" sz="2400" b="1" dirty="0"/>
              <a:t> </a:t>
            </a:r>
            <a:r>
              <a:rPr lang="en-US" sz="2400" b="1" dirty="0" err="1"/>
              <a:t>từ</a:t>
            </a:r>
            <a:r>
              <a:rPr lang="en-US" sz="2400" b="1" dirty="0"/>
              <a:t> </a:t>
            </a:r>
            <a:r>
              <a:rPr lang="en-US" sz="2400" b="1" dirty="0" err="1"/>
              <a:t>khóa</a:t>
            </a:r>
            <a:r>
              <a:rPr lang="en-US" sz="2400" b="1" dirty="0"/>
              <a:t> </a:t>
            </a:r>
            <a:r>
              <a:rPr lang="en-US" sz="2400" b="1" dirty="0">
                <a:solidFill>
                  <a:srgbClr val="FF0000"/>
                </a:solidFill>
              </a:rPr>
              <a:t>virtual</a:t>
            </a:r>
            <a:r>
              <a:rPr lang="en-US" sz="2400" b="1" dirty="0"/>
              <a:t>)</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11</a:t>
            </a:fld>
            <a:endParaRPr lang="en-US"/>
          </a:p>
        </p:txBody>
      </p:sp>
      <p:sp>
        <p:nvSpPr>
          <p:cNvPr id="3" name="Content Placeholder 2">
            <a:extLst>
              <a:ext uri="{FF2B5EF4-FFF2-40B4-BE49-F238E27FC236}">
                <a16:creationId xmlns:a16="http://schemas.microsoft.com/office/drawing/2014/main" id="{6C4D95E1-69E6-5865-4B32-A502EBBFE6D4}"/>
              </a:ext>
            </a:extLst>
          </p:cNvPr>
          <p:cNvSpPr>
            <a:spLocks noGrp="1"/>
          </p:cNvSpPr>
          <p:nvPr>
            <p:ph idx="1"/>
          </p:nvPr>
        </p:nvSpPr>
        <p:spPr>
          <a:xfrm>
            <a:off x="299357" y="968323"/>
            <a:ext cx="8265459" cy="5181600"/>
          </a:xfrm>
          <a:ln>
            <a:noFill/>
          </a:ln>
        </p:spPr>
        <p:txBody>
          <a:bodyPr>
            <a:noAutofit/>
          </a:bodyPr>
          <a:lstStyle/>
          <a:p>
            <a:pPr marL="0" indent="0">
              <a:lnSpc>
                <a:spcPct val="120000"/>
              </a:lnSpc>
              <a:buNone/>
            </a:pPr>
            <a:r>
              <a:rPr lang="vi-VN" sz="1800" dirty="0">
                <a:solidFill>
                  <a:srgbClr val="FF0000"/>
                </a:solidFill>
                <a:latin typeface="Cascadia Mono" panose="020B0609020000020004" pitchFamily="49" charset="0"/>
              </a:rPr>
              <a:t>virtual</a:t>
            </a:r>
            <a:r>
              <a:rPr lang="vi-VN" sz="1800" dirty="0">
                <a:latin typeface="Cascadia Mono" panose="020B0609020000020004" pitchFamily="49" charset="0"/>
              </a:rPr>
              <a:t> là một từ khóa được sử dụng để khai báo phương thức ảo (virtual method). </a:t>
            </a:r>
            <a:endParaRPr lang="en-US" sz="1800" dirty="0">
              <a:latin typeface="Cascadia Mono" panose="020B0609020000020004" pitchFamily="49" charset="0"/>
            </a:endParaRPr>
          </a:p>
          <a:p>
            <a:pPr marL="0" indent="0">
              <a:lnSpc>
                <a:spcPct val="120000"/>
              </a:lnSpc>
              <a:buNone/>
            </a:pPr>
            <a:r>
              <a:rPr lang="vi-VN" sz="1800" dirty="0">
                <a:solidFill>
                  <a:srgbClr val="FF0000"/>
                </a:solidFill>
                <a:latin typeface="Cascadia Mono" panose="020B0609020000020004" pitchFamily="49" charset="0"/>
              </a:rPr>
              <a:t>Phương thức ảo</a:t>
            </a:r>
            <a:r>
              <a:rPr lang="vi-VN" sz="1800" dirty="0">
                <a:latin typeface="Cascadia Mono" panose="020B0609020000020004" pitchFamily="49" charset="0"/>
              </a:rPr>
              <a:t> là phương thức có thể được ghi đè (override) bởi phương thức con trong lớp kế thừa</a:t>
            </a:r>
            <a:endParaRPr lang="en-US" sz="1800" dirty="0">
              <a:latin typeface="Cascadia Mono" panose="020B0609020000020004" pitchFamily="49" charset="0"/>
            </a:endParaRPr>
          </a:p>
          <a:p>
            <a:pPr marL="0" indent="0">
              <a:lnSpc>
                <a:spcPct val="120000"/>
              </a:lnSpc>
              <a:buNone/>
            </a:pPr>
            <a:endParaRPr lang="vi-VN" sz="1800" dirty="0">
              <a:latin typeface="Cascadia Mono" panose="020B0609020000020004" pitchFamily="49" charset="0"/>
            </a:endParaRPr>
          </a:p>
          <a:p>
            <a:pPr marL="0" indent="0">
              <a:lnSpc>
                <a:spcPct val="120000"/>
              </a:lnSpc>
              <a:buNone/>
            </a:pPr>
            <a:r>
              <a:rPr lang="vi-VN" sz="1800" dirty="0">
                <a:solidFill>
                  <a:srgbClr val="FF0000"/>
                </a:solidFill>
                <a:latin typeface="Cascadia Mono" panose="020B0609020000020004" pitchFamily="49" charset="0"/>
              </a:rPr>
              <a:t>Đặc điểm của phương thức ảo:</a:t>
            </a:r>
          </a:p>
          <a:p>
            <a:pPr marL="0" indent="0">
              <a:lnSpc>
                <a:spcPct val="120000"/>
              </a:lnSpc>
              <a:buNone/>
            </a:pPr>
            <a:endParaRPr lang="vi-VN" sz="1800" dirty="0">
              <a:latin typeface="Cascadia Mono" panose="020B0609020000020004" pitchFamily="49" charset="0"/>
            </a:endParaRPr>
          </a:p>
          <a:p>
            <a:pPr>
              <a:lnSpc>
                <a:spcPct val="120000"/>
              </a:lnSpc>
            </a:pPr>
            <a:r>
              <a:rPr lang="vi-VN" sz="1800" dirty="0">
                <a:latin typeface="Cascadia Mono" panose="020B0609020000020004" pitchFamily="49" charset="0"/>
              </a:rPr>
              <a:t>Khai báo bằng từ khóa </a:t>
            </a:r>
            <a:r>
              <a:rPr lang="vi-VN" sz="1800" dirty="0">
                <a:solidFill>
                  <a:srgbClr val="FF0000"/>
                </a:solidFill>
                <a:latin typeface="Cascadia Mono" panose="020B0609020000020004" pitchFamily="49" charset="0"/>
              </a:rPr>
              <a:t>virtual</a:t>
            </a:r>
            <a:r>
              <a:rPr lang="vi-VN" sz="1800" dirty="0">
                <a:latin typeface="Cascadia Mono" panose="020B0609020000020004" pitchFamily="49" charset="0"/>
              </a:rPr>
              <a:t>.</a:t>
            </a:r>
          </a:p>
          <a:p>
            <a:pPr>
              <a:lnSpc>
                <a:spcPct val="120000"/>
              </a:lnSpc>
            </a:pPr>
            <a:r>
              <a:rPr lang="vi-VN" sz="1800" dirty="0">
                <a:solidFill>
                  <a:srgbClr val="FF0000"/>
                </a:solidFill>
                <a:latin typeface="Cascadia Mono" panose="020B0609020000020004" pitchFamily="49" charset="0"/>
              </a:rPr>
              <a:t>Có thể được ghi đè </a:t>
            </a:r>
            <a:r>
              <a:rPr lang="vi-VN" sz="1800" dirty="0">
                <a:latin typeface="Cascadia Mono" panose="020B0609020000020004" pitchFamily="49" charset="0"/>
              </a:rPr>
              <a:t>bởi phương thức con trong lớp kế thừa.</a:t>
            </a:r>
          </a:p>
          <a:p>
            <a:pPr>
              <a:lnSpc>
                <a:spcPct val="120000"/>
              </a:lnSpc>
            </a:pPr>
            <a:r>
              <a:rPr lang="vi-VN" sz="1800" dirty="0">
                <a:latin typeface="Cascadia Mono" panose="020B0609020000020004" pitchFamily="49" charset="0"/>
              </a:rPr>
              <a:t>Khi gọi phương thức ảo, kiểu của đối tượng tại thời điểm thực thi (run-time type) được kiểm tra và phương thức được ghi đè từ lớp con sẽ được gọi.</a:t>
            </a:r>
          </a:p>
        </p:txBody>
      </p:sp>
    </p:spTree>
    <p:extLst>
      <p:ext uri="{BB962C8B-B14F-4D97-AF65-F5344CB8AC3E}">
        <p14:creationId xmlns:p14="http://schemas.microsoft.com/office/powerpoint/2010/main" val="3411808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r>
              <a:rPr lang="en-US" sz="2400" b="1" dirty="0"/>
              <a:t> (</a:t>
            </a:r>
            <a:r>
              <a:rPr lang="en-US" sz="2400" b="1" dirty="0" err="1"/>
              <a:t>sử</a:t>
            </a:r>
            <a:r>
              <a:rPr lang="en-US" sz="2400" b="1" dirty="0"/>
              <a:t> </a:t>
            </a:r>
            <a:r>
              <a:rPr lang="en-US" sz="2400" b="1" dirty="0" err="1"/>
              <a:t>dụng</a:t>
            </a:r>
            <a:r>
              <a:rPr lang="en-US" sz="2400" b="1" dirty="0"/>
              <a:t> </a:t>
            </a:r>
            <a:r>
              <a:rPr lang="en-US" sz="2400" b="1" dirty="0" err="1"/>
              <a:t>từ</a:t>
            </a:r>
            <a:r>
              <a:rPr lang="en-US" sz="2400" b="1" dirty="0"/>
              <a:t> </a:t>
            </a:r>
            <a:r>
              <a:rPr lang="en-US" sz="2400" b="1" dirty="0" err="1"/>
              <a:t>khóa</a:t>
            </a:r>
            <a:r>
              <a:rPr lang="en-US" sz="2400" b="1" dirty="0"/>
              <a:t> </a:t>
            </a:r>
            <a:r>
              <a:rPr lang="en-US" sz="2400" b="1" dirty="0">
                <a:solidFill>
                  <a:srgbClr val="FF0000"/>
                </a:solidFill>
              </a:rPr>
              <a:t>virtual</a:t>
            </a:r>
            <a:r>
              <a:rPr lang="en-US" sz="2400" b="1" dirty="0"/>
              <a:t>)</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12</a:t>
            </a:fld>
            <a:endParaRPr lang="en-US"/>
          </a:p>
        </p:txBody>
      </p:sp>
      <p:sp>
        <p:nvSpPr>
          <p:cNvPr id="3" name="Content Placeholder 2">
            <a:extLst>
              <a:ext uri="{FF2B5EF4-FFF2-40B4-BE49-F238E27FC236}">
                <a16:creationId xmlns:a16="http://schemas.microsoft.com/office/drawing/2014/main" id="{6C4D95E1-69E6-5865-4B32-A502EBBFE6D4}"/>
              </a:ext>
            </a:extLst>
          </p:cNvPr>
          <p:cNvSpPr>
            <a:spLocks noGrp="1"/>
          </p:cNvSpPr>
          <p:nvPr>
            <p:ph idx="1"/>
          </p:nvPr>
        </p:nvSpPr>
        <p:spPr>
          <a:xfrm>
            <a:off x="299357" y="968323"/>
            <a:ext cx="8265459" cy="5181600"/>
          </a:xfrm>
          <a:ln>
            <a:noFill/>
          </a:ln>
        </p:spPr>
        <p:txBody>
          <a:bodyPr>
            <a:noAutofit/>
          </a:bodyPr>
          <a:lstStyle/>
          <a:p>
            <a:pPr marL="0" indent="0">
              <a:lnSpc>
                <a:spcPct val="120000"/>
              </a:lnSpc>
              <a:buNone/>
            </a:pPr>
            <a:r>
              <a:rPr lang="vi-VN" sz="1800" dirty="0">
                <a:solidFill>
                  <a:srgbClr val="FF0000"/>
                </a:solidFill>
                <a:latin typeface="Cascadia Mono" panose="020B0609020000020004" pitchFamily="49" charset="0"/>
              </a:rPr>
              <a:t>Lợi ích của phương thức ảo:</a:t>
            </a:r>
          </a:p>
          <a:p>
            <a:pPr marL="0" indent="0">
              <a:lnSpc>
                <a:spcPct val="120000"/>
              </a:lnSpc>
              <a:buNone/>
            </a:pPr>
            <a:endParaRPr lang="vi-VN" sz="1800" dirty="0">
              <a:latin typeface="Cascadia Mono" panose="020B0609020000020004" pitchFamily="49" charset="0"/>
            </a:endParaRPr>
          </a:p>
          <a:p>
            <a:pPr>
              <a:lnSpc>
                <a:spcPct val="120000"/>
              </a:lnSpc>
            </a:pPr>
            <a:r>
              <a:rPr lang="vi-VN" sz="1800" dirty="0">
                <a:latin typeface="Cascadia Mono" panose="020B0609020000020004" pitchFamily="49" charset="0"/>
              </a:rPr>
              <a:t>Tăng tính linh hoạt cho chương trình.</a:t>
            </a:r>
          </a:p>
          <a:p>
            <a:pPr>
              <a:lnSpc>
                <a:spcPct val="120000"/>
              </a:lnSpc>
            </a:pPr>
            <a:r>
              <a:rPr lang="vi-VN" sz="1800" dirty="0">
                <a:latin typeface="Cascadia Mono" panose="020B0609020000020004" pitchFamily="49" charset="0"/>
              </a:rPr>
              <a:t>Cho phép tạo ra các lớp kế thừa có thể thay đổi hành vi của phương thức được kế thừa.</a:t>
            </a:r>
          </a:p>
          <a:p>
            <a:pPr>
              <a:lnSpc>
                <a:spcPct val="120000"/>
              </a:lnSpc>
            </a:pPr>
            <a:r>
              <a:rPr lang="vi-VN" sz="1800" dirty="0">
                <a:latin typeface="Cascadia Mono" panose="020B0609020000020004" pitchFamily="49" charset="0"/>
              </a:rPr>
              <a:t>Hỗ trợ đa hình (polymorphism) trong lập trình hướng đối tượng.</a:t>
            </a:r>
            <a:endParaRPr lang="en-US" sz="1800" dirty="0">
              <a:latin typeface="Cascadia Mono" panose="020B0609020000020004" pitchFamily="49" charset="0"/>
            </a:endParaRPr>
          </a:p>
        </p:txBody>
      </p:sp>
    </p:spTree>
    <p:extLst>
      <p:ext uri="{BB962C8B-B14F-4D97-AF65-F5344CB8AC3E}">
        <p14:creationId xmlns:p14="http://schemas.microsoft.com/office/powerpoint/2010/main" val="2084437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r>
              <a:rPr lang="en-US" sz="2400" b="1" dirty="0"/>
              <a:t> </a:t>
            </a:r>
            <a:r>
              <a:rPr lang="en-US" sz="2400" b="1" dirty="0" err="1"/>
              <a:t>và</a:t>
            </a:r>
            <a:r>
              <a:rPr lang="en-US" sz="2400" b="1" dirty="0"/>
              <a:t> </a:t>
            </a:r>
            <a:r>
              <a:rPr lang="en-US" sz="2400" b="1" dirty="0" err="1"/>
              <a:t>tính</a:t>
            </a:r>
            <a:r>
              <a:rPr lang="en-US" sz="2400" b="1" dirty="0"/>
              <a:t> </a:t>
            </a:r>
            <a:r>
              <a:rPr lang="en-US" sz="2400" b="1" dirty="0" err="1"/>
              <a:t>đa</a:t>
            </a:r>
            <a:r>
              <a:rPr lang="en-US" sz="2400" b="1" dirty="0"/>
              <a:t> </a:t>
            </a:r>
            <a:r>
              <a:rPr lang="en-US" sz="2400" b="1" dirty="0" err="1"/>
              <a:t>hình</a:t>
            </a:r>
            <a:r>
              <a:rPr lang="en-US" sz="2400" b="1" dirty="0"/>
              <a:t> (</a:t>
            </a:r>
            <a:r>
              <a:rPr lang="en-US" sz="2400" b="1" dirty="0" err="1"/>
              <a:t>sử</a:t>
            </a:r>
            <a:r>
              <a:rPr lang="en-US" sz="2400" b="1" dirty="0"/>
              <a:t> </a:t>
            </a:r>
            <a:r>
              <a:rPr lang="en-US" sz="2400" b="1" dirty="0" err="1"/>
              <a:t>dụng</a:t>
            </a:r>
            <a:r>
              <a:rPr lang="en-US" sz="2400" b="1" dirty="0"/>
              <a:t> </a:t>
            </a:r>
            <a:r>
              <a:rPr lang="en-US" sz="2400" b="1" dirty="0" err="1"/>
              <a:t>từ</a:t>
            </a:r>
            <a:r>
              <a:rPr lang="en-US" sz="2400" b="1" dirty="0"/>
              <a:t> </a:t>
            </a:r>
            <a:r>
              <a:rPr lang="en-US" sz="2400" b="1" dirty="0" err="1"/>
              <a:t>khóa</a:t>
            </a:r>
            <a:r>
              <a:rPr lang="en-US" sz="2400" b="1" dirty="0"/>
              <a:t> </a:t>
            </a:r>
            <a:r>
              <a:rPr lang="en-US" sz="2400" b="1" dirty="0">
                <a:solidFill>
                  <a:srgbClr val="FF0000"/>
                </a:solidFill>
              </a:rPr>
              <a:t>virtual</a:t>
            </a:r>
            <a:r>
              <a:rPr lang="en-US" sz="2400" b="1" dirty="0"/>
              <a:t>)</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13</a:t>
            </a:fld>
            <a:endParaRPr lang="en-US"/>
          </a:p>
        </p:txBody>
      </p:sp>
      <p:pic>
        <p:nvPicPr>
          <p:cNvPr id="7" name="Picture 6">
            <a:extLst>
              <a:ext uri="{FF2B5EF4-FFF2-40B4-BE49-F238E27FC236}">
                <a16:creationId xmlns:a16="http://schemas.microsoft.com/office/drawing/2014/main" id="{4915FBF4-F67C-4012-7749-52317F8941F1}"/>
              </a:ext>
            </a:extLst>
          </p:cNvPr>
          <p:cNvPicPr>
            <a:picLocks noChangeAspect="1"/>
          </p:cNvPicPr>
          <p:nvPr/>
        </p:nvPicPr>
        <p:blipFill>
          <a:blip r:embed="rId2"/>
          <a:stretch>
            <a:fillRect/>
          </a:stretch>
        </p:blipFill>
        <p:spPr>
          <a:xfrm>
            <a:off x="474008" y="1097870"/>
            <a:ext cx="2478741" cy="3538149"/>
          </a:xfrm>
          <a:prstGeom prst="rect">
            <a:avLst/>
          </a:prstGeom>
        </p:spPr>
      </p:pic>
      <p:pic>
        <p:nvPicPr>
          <p:cNvPr id="9" name="Picture 8">
            <a:extLst>
              <a:ext uri="{FF2B5EF4-FFF2-40B4-BE49-F238E27FC236}">
                <a16:creationId xmlns:a16="http://schemas.microsoft.com/office/drawing/2014/main" id="{5A1C258C-754B-57A8-D5FA-3C6AFE5E059B}"/>
              </a:ext>
            </a:extLst>
          </p:cNvPr>
          <p:cNvPicPr>
            <a:picLocks noChangeAspect="1"/>
          </p:cNvPicPr>
          <p:nvPr/>
        </p:nvPicPr>
        <p:blipFill>
          <a:blip r:embed="rId3"/>
          <a:stretch>
            <a:fillRect/>
          </a:stretch>
        </p:blipFill>
        <p:spPr>
          <a:xfrm>
            <a:off x="3148339" y="894887"/>
            <a:ext cx="3023863" cy="3390174"/>
          </a:xfrm>
          <a:prstGeom prst="rect">
            <a:avLst/>
          </a:prstGeom>
        </p:spPr>
      </p:pic>
      <p:pic>
        <p:nvPicPr>
          <p:cNvPr id="11" name="Picture 10">
            <a:extLst>
              <a:ext uri="{FF2B5EF4-FFF2-40B4-BE49-F238E27FC236}">
                <a16:creationId xmlns:a16="http://schemas.microsoft.com/office/drawing/2014/main" id="{DD726D14-0CE8-2A2D-D1AA-CFCC295814E8}"/>
              </a:ext>
            </a:extLst>
          </p:cNvPr>
          <p:cNvPicPr>
            <a:picLocks noChangeAspect="1"/>
          </p:cNvPicPr>
          <p:nvPr/>
        </p:nvPicPr>
        <p:blipFill>
          <a:blip r:embed="rId4"/>
          <a:stretch>
            <a:fillRect/>
          </a:stretch>
        </p:blipFill>
        <p:spPr>
          <a:xfrm>
            <a:off x="838200" y="4848528"/>
            <a:ext cx="2305372" cy="1143160"/>
          </a:xfrm>
          <a:prstGeom prst="rect">
            <a:avLst/>
          </a:prstGeom>
        </p:spPr>
      </p:pic>
      <p:pic>
        <p:nvPicPr>
          <p:cNvPr id="6" name="Picture 5">
            <a:extLst>
              <a:ext uri="{FF2B5EF4-FFF2-40B4-BE49-F238E27FC236}">
                <a16:creationId xmlns:a16="http://schemas.microsoft.com/office/drawing/2014/main" id="{16DC6003-4F30-064C-F707-76802A2CBAC3}"/>
              </a:ext>
            </a:extLst>
          </p:cNvPr>
          <p:cNvPicPr>
            <a:picLocks noChangeAspect="1"/>
          </p:cNvPicPr>
          <p:nvPr/>
        </p:nvPicPr>
        <p:blipFill>
          <a:blip r:embed="rId5"/>
          <a:stretch>
            <a:fillRect/>
          </a:stretch>
        </p:blipFill>
        <p:spPr>
          <a:xfrm>
            <a:off x="6200777" y="894886"/>
            <a:ext cx="3082437" cy="3390173"/>
          </a:xfrm>
          <a:prstGeom prst="rect">
            <a:avLst/>
          </a:prstGeom>
        </p:spPr>
      </p:pic>
      <p:pic>
        <p:nvPicPr>
          <p:cNvPr id="10" name="Picture 9">
            <a:extLst>
              <a:ext uri="{FF2B5EF4-FFF2-40B4-BE49-F238E27FC236}">
                <a16:creationId xmlns:a16="http://schemas.microsoft.com/office/drawing/2014/main" id="{3A4B976D-6D81-8782-B4AC-0F2D813103A5}"/>
              </a:ext>
            </a:extLst>
          </p:cNvPr>
          <p:cNvPicPr>
            <a:picLocks noChangeAspect="1"/>
          </p:cNvPicPr>
          <p:nvPr/>
        </p:nvPicPr>
        <p:blipFill>
          <a:blip r:embed="rId6"/>
          <a:stretch>
            <a:fillRect/>
          </a:stretch>
        </p:blipFill>
        <p:spPr>
          <a:xfrm>
            <a:off x="3505200" y="4848528"/>
            <a:ext cx="2386624" cy="790272"/>
          </a:xfrm>
          <a:prstGeom prst="rect">
            <a:avLst/>
          </a:prstGeom>
        </p:spPr>
      </p:pic>
      <p:sp>
        <p:nvSpPr>
          <p:cNvPr id="3" name="TextBox 3">
            <a:extLst>
              <a:ext uri="{FF2B5EF4-FFF2-40B4-BE49-F238E27FC236}">
                <a16:creationId xmlns:a16="http://schemas.microsoft.com/office/drawing/2014/main" id="{3121DCCB-0680-7E5F-EC31-182253A40771}"/>
              </a:ext>
            </a:extLst>
          </p:cNvPr>
          <p:cNvSpPr txBox="1"/>
          <p:nvPr/>
        </p:nvSpPr>
        <p:spPr>
          <a:xfrm>
            <a:off x="0" y="584531"/>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1</a:t>
            </a:r>
          </a:p>
        </p:txBody>
      </p:sp>
    </p:spTree>
    <p:extLst>
      <p:ext uri="{BB962C8B-B14F-4D97-AF65-F5344CB8AC3E}">
        <p14:creationId xmlns:p14="http://schemas.microsoft.com/office/powerpoint/2010/main" val="3958934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1600200" y="-129381"/>
            <a:ext cx="8229600" cy="563562"/>
          </a:xfrm>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14</a:t>
            </a:fld>
            <a:endParaRPr lang="en-US"/>
          </a:p>
        </p:txBody>
      </p:sp>
      <p:pic>
        <p:nvPicPr>
          <p:cNvPr id="4" name="Picture 3">
            <a:extLst>
              <a:ext uri="{FF2B5EF4-FFF2-40B4-BE49-F238E27FC236}">
                <a16:creationId xmlns:a16="http://schemas.microsoft.com/office/drawing/2014/main" id="{2B600CA0-4528-FFEE-BD22-34FA885268E9}"/>
              </a:ext>
            </a:extLst>
          </p:cNvPr>
          <p:cNvPicPr>
            <a:picLocks noChangeAspect="1"/>
          </p:cNvPicPr>
          <p:nvPr/>
        </p:nvPicPr>
        <p:blipFill>
          <a:blip r:embed="rId2"/>
          <a:stretch>
            <a:fillRect/>
          </a:stretch>
        </p:blipFill>
        <p:spPr>
          <a:xfrm>
            <a:off x="421341" y="847262"/>
            <a:ext cx="3239942" cy="3419938"/>
          </a:xfrm>
          <a:prstGeom prst="rect">
            <a:avLst/>
          </a:prstGeom>
        </p:spPr>
      </p:pic>
      <p:pic>
        <p:nvPicPr>
          <p:cNvPr id="14" name="Picture 13">
            <a:extLst>
              <a:ext uri="{FF2B5EF4-FFF2-40B4-BE49-F238E27FC236}">
                <a16:creationId xmlns:a16="http://schemas.microsoft.com/office/drawing/2014/main" id="{071192D6-494C-3FBC-E6AB-FF6E31BB5391}"/>
              </a:ext>
            </a:extLst>
          </p:cNvPr>
          <p:cNvPicPr>
            <a:picLocks noChangeAspect="1"/>
          </p:cNvPicPr>
          <p:nvPr/>
        </p:nvPicPr>
        <p:blipFill>
          <a:blip r:embed="rId3"/>
          <a:stretch>
            <a:fillRect/>
          </a:stretch>
        </p:blipFill>
        <p:spPr>
          <a:xfrm>
            <a:off x="3759064" y="47993"/>
            <a:ext cx="2943581" cy="2248363"/>
          </a:xfrm>
          <a:prstGeom prst="rect">
            <a:avLst/>
          </a:prstGeom>
        </p:spPr>
      </p:pic>
      <p:pic>
        <p:nvPicPr>
          <p:cNvPr id="16" name="Picture 15">
            <a:extLst>
              <a:ext uri="{FF2B5EF4-FFF2-40B4-BE49-F238E27FC236}">
                <a16:creationId xmlns:a16="http://schemas.microsoft.com/office/drawing/2014/main" id="{D126E569-DFF3-D7F3-02BB-C3D0D086DECD}"/>
              </a:ext>
            </a:extLst>
          </p:cNvPr>
          <p:cNvPicPr>
            <a:picLocks noChangeAspect="1"/>
          </p:cNvPicPr>
          <p:nvPr/>
        </p:nvPicPr>
        <p:blipFill>
          <a:blip r:embed="rId4"/>
          <a:stretch>
            <a:fillRect/>
          </a:stretch>
        </p:blipFill>
        <p:spPr>
          <a:xfrm>
            <a:off x="5798096" y="2237609"/>
            <a:ext cx="3349892" cy="4577156"/>
          </a:xfrm>
          <a:prstGeom prst="rect">
            <a:avLst/>
          </a:prstGeom>
        </p:spPr>
      </p:pic>
      <p:pic>
        <p:nvPicPr>
          <p:cNvPr id="18" name="Picture 17">
            <a:extLst>
              <a:ext uri="{FF2B5EF4-FFF2-40B4-BE49-F238E27FC236}">
                <a16:creationId xmlns:a16="http://schemas.microsoft.com/office/drawing/2014/main" id="{4EDAF770-6092-6A5D-F32E-5EE3E093D39F}"/>
              </a:ext>
            </a:extLst>
          </p:cNvPr>
          <p:cNvPicPr>
            <a:picLocks noChangeAspect="1"/>
          </p:cNvPicPr>
          <p:nvPr/>
        </p:nvPicPr>
        <p:blipFill>
          <a:blip r:embed="rId5"/>
          <a:stretch>
            <a:fillRect/>
          </a:stretch>
        </p:blipFill>
        <p:spPr>
          <a:xfrm>
            <a:off x="304800" y="4507137"/>
            <a:ext cx="2353003" cy="704948"/>
          </a:xfrm>
          <a:prstGeom prst="rect">
            <a:avLst/>
          </a:prstGeom>
        </p:spPr>
      </p:pic>
      <p:pic>
        <p:nvPicPr>
          <p:cNvPr id="20" name="Picture 19">
            <a:extLst>
              <a:ext uri="{FF2B5EF4-FFF2-40B4-BE49-F238E27FC236}">
                <a16:creationId xmlns:a16="http://schemas.microsoft.com/office/drawing/2014/main" id="{B0EAF646-E401-B012-7476-1739C945F98B}"/>
              </a:ext>
            </a:extLst>
          </p:cNvPr>
          <p:cNvPicPr>
            <a:picLocks noChangeAspect="1"/>
          </p:cNvPicPr>
          <p:nvPr/>
        </p:nvPicPr>
        <p:blipFill>
          <a:blip r:embed="rId6"/>
          <a:stretch>
            <a:fillRect/>
          </a:stretch>
        </p:blipFill>
        <p:spPr>
          <a:xfrm>
            <a:off x="2471950" y="5490122"/>
            <a:ext cx="1505160" cy="447737"/>
          </a:xfrm>
          <a:prstGeom prst="rect">
            <a:avLst/>
          </a:prstGeom>
        </p:spPr>
      </p:pic>
      <p:sp>
        <p:nvSpPr>
          <p:cNvPr id="3" name="TextBox 3">
            <a:extLst>
              <a:ext uri="{FF2B5EF4-FFF2-40B4-BE49-F238E27FC236}">
                <a16:creationId xmlns:a16="http://schemas.microsoft.com/office/drawing/2014/main" id="{CB8584EF-6F41-A016-C520-BF58AB23D882}"/>
              </a:ext>
            </a:extLst>
          </p:cNvPr>
          <p:cNvSpPr txBox="1"/>
          <p:nvPr/>
        </p:nvSpPr>
        <p:spPr>
          <a:xfrm>
            <a:off x="13114" y="409889"/>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2</a:t>
            </a:r>
          </a:p>
        </p:txBody>
      </p:sp>
    </p:spTree>
    <p:extLst>
      <p:ext uri="{BB962C8B-B14F-4D97-AF65-F5344CB8AC3E}">
        <p14:creationId xmlns:p14="http://schemas.microsoft.com/office/powerpoint/2010/main" val="34355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1600200" y="-129381"/>
            <a:ext cx="8229600" cy="563562"/>
          </a:xfrm>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15</a:t>
            </a:fld>
            <a:endParaRPr lang="en-US"/>
          </a:p>
        </p:txBody>
      </p:sp>
      <p:pic>
        <p:nvPicPr>
          <p:cNvPr id="4" name="Picture 3">
            <a:extLst>
              <a:ext uri="{FF2B5EF4-FFF2-40B4-BE49-F238E27FC236}">
                <a16:creationId xmlns:a16="http://schemas.microsoft.com/office/drawing/2014/main" id="{2B600CA0-4528-FFEE-BD22-34FA885268E9}"/>
              </a:ext>
            </a:extLst>
          </p:cNvPr>
          <p:cNvPicPr>
            <a:picLocks noChangeAspect="1"/>
          </p:cNvPicPr>
          <p:nvPr/>
        </p:nvPicPr>
        <p:blipFill>
          <a:blip r:embed="rId2"/>
          <a:stretch>
            <a:fillRect/>
          </a:stretch>
        </p:blipFill>
        <p:spPr>
          <a:xfrm>
            <a:off x="421341" y="847262"/>
            <a:ext cx="3239942" cy="3419938"/>
          </a:xfrm>
          <a:prstGeom prst="rect">
            <a:avLst/>
          </a:prstGeom>
        </p:spPr>
      </p:pic>
      <p:pic>
        <p:nvPicPr>
          <p:cNvPr id="14" name="Picture 13">
            <a:extLst>
              <a:ext uri="{FF2B5EF4-FFF2-40B4-BE49-F238E27FC236}">
                <a16:creationId xmlns:a16="http://schemas.microsoft.com/office/drawing/2014/main" id="{071192D6-494C-3FBC-E6AB-FF6E31BB5391}"/>
              </a:ext>
            </a:extLst>
          </p:cNvPr>
          <p:cNvPicPr>
            <a:picLocks noChangeAspect="1"/>
          </p:cNvPicPr>
          <p:nvPr/>
        </p:nvPicPr>
        <p:blipFill>
          <a:blip r:embed="rId3"/>
          <a:stretch>
            <a:fillRect/>
          </a:stretch>
        </p:blipFill>
        <p:spPr>
          <a:xfrm>
            <a:off x="3759064" y="47993"/>
            <a:ext cx="2943581" cy="2248363"/>
          </a:xfrm>
          <a:prstGeom prst="rect">
            <a:avLst/>
          </a:prstGeom>
        </p:spPr>
      </p:pic>
      <p:pic>
        <p:nvPicPr>
          <p:cNvPr id="16" name="Picture 15">
            <a:extLst>
              <a:ext uri="{FF2B5EF4-FFF2-40B4-BE49-F238E27FC236}">
                <a16:creationId xmlns:a16="http://schemas.microsoft.com/office/drawing/2014/main" id="{D126E569-DFF3-D7F3-02BB-C3D0D086DECD}"/>
              </a:ext>
            </a:extLst>
          </p:cNvPr>
          <p:cNvPicPr>
            <a:picLocks noChangeAspect="1"/>
          </p:cNvPicPr>
          <p:nvPr/>
        </p:nvPicPr>
        <p:blipFill>
          <a:blip r:embed="rId4"/>
          <a:stretch>
            <a:fillRect/>
          </a:stretch>
        </p:blipFill>
        <p:spPr>
          <a:xfrm>
            <a:off x="5798096" y="2237609"/>
            <a:ext cx="3349892" cy="4577156"/>
          </a:xfrm>
          <a:prstGeom prst="rect">
            <a:avLst/>
          </a:prstGeom>
        </p:spPr>
      </p:pic>
      <p:pic>
        <p:nvPicPr>
          <p:cNvPr id="18" name="Picture 17">
            <a:extLst>
              <a:ext uri="{FF2B5EF4-FFF2-40B4-BE49-F238E27FC236}">
                <a16:creationId xmlns:a16="http://schemas.microsoft.com/office/drawing/2014/main" id="{4EDAF770-6092-6A5D-F32E-5EE3E093D39F}"/>
              </a:ext>
            </a:extLst>
          </p:cNvPr>
          <p:cNvPicPr>
            <a:picLocks noChangeAspect="1"/>
          </p:cNvPicPr>
          <p:nvPr/>
        </p:nvPicPr>
        <p:blipFill>
          <a:blip r:embed="rId5"/>
          <a:stretch>
            <a:fillRect/>
          </a:stretch>
        </p:blipFill>
        <p:spPr>
          <a:xfrm>
            <a:off x="304800" y="4507137"/>
            <a:ext cx="2353003" cy="704948"/>
          </a:xfrm>
          <a:prstGeom prst="rect">
            <a:avLst/>
          </a:prstGeom>
        </p:spPr>
      </p:pic>
      <p:pic>
        <p:nvPicPr>
          <p:cNvPr id="20" name="Picture 19">
            <a:extLst>
              <a:ext uri="{FF2B5EF4-FFF2-40B4-BE49-F238E27FC236}">
                <a16:creationId xmlns:a16="http://schemas.microsoft.com/office/drawing/2014/main" id="{B0EAF646-E401-B012-7476-1739C945F98B}"/>
              </a:ext>
            </a:extLst>
          </p:cNvPr>
          <p:cNvPicPr>
            <a:picLocks noChangeAspect="1"/>
          </p:cNvPicPr>
          <p:nvPr/>
        </p:nvPicPr>
        <p:blipFill>
          <a:blip r:embed="rId6"/>
          <a:stretch>
            <a:fillRect/>
          </a:stretch>
        </p:blipFill>
        <p:spPr>
          <a:xfrm>
            <a:off x="2471950" y="5490122"/>
            <a:ext cx="1505160" cy="447737"/>
          </a:xfrm>
          <a:prstGeom prst="rect">
            <a:avLst/>
          </a:prstGeom>
        </p:spPr>
      </p:pic>
      <p:sp>
        <p:nvSpPr>
          <p:cNvPr id="3" name="TextBox 3">
            <a:extLst>
              <a:ext uri="{FF2B5EF4-FFF2-40B4-BE49-F238E27FC236}">
                <a16:creationId xmlns:a16="http://schemas.microsoft.com/office/drawing/2014/main" id="{F051129B-84CE-DC66-20D8-1C6BC83191EF}"/>
              </a:ext>
            </a:extLst>
          </p:cNvPr>
          <p:cNvSpPr txBox="1"/>
          <p:nvPr/>
        </p:nvSpPr>
        <p:spPr>
          <a:xfrm>
            <a:off x="13114" y="376492"/>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2</a:t>
            </a:r>
          </a:p>
        </p:txBody>
      </p:sp>
    </p:spTree>
    <p:extLst>
      <p:ext uri="{BB962C8B-B14F-4D97-AF65-F5344CB8AC3E}">
        <p14:creationId xmlns:p14="http://schemas.microsoft.com/office/powerpoint/2010/main" val="131569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1600200" y="-129381"/>
            <a:ext cx="8229600" cy="563562"/>
          </a:xfrm>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16</a:t>
            </a:fld>
            <a:endParaRPr lang="en-US"/>
          </a:p>
        </p:txBody>
      </p:sp>
      <p:pic>
        <p:nvPicPr>
          <p:cNvPr id="4" name="Picture 3">
            <a:extLst>
              <a:ext uri="{FF2B5EF4-FFF2-40B4-BE49-F238E27FC236}">
                <a16:creationId xmlns:a16="http://schemas.microsoft.com/office/drawing/2014/main" id="{2B600CA0-4528-FFEE-BD22-34FA885268E9}"/>
              </a:ext>
            </a:extLst>
          </p:cNvPr>
          <p:cNvPicPr>
            <a:picLocks noChangeAspect="1"/>
          </p:cNvPicPr>
          <p:nvPr/>
        </p:nvPicPr>
        <p:blipFill>
          <a:blip r:embed="rId2"/>
          <a:stretch>
            <a:fillRect/>
          </a:stretch>
        </p:blipFill>
        <p:spPr>
          <a:xfrm>
            <a:off x="0" y="586387"/>
            <a:ext cx="3239942" cy="3419938"/>
          </a:xfrm>
          <a:prstGeom prst="rect">
            <a:avLst/>
          </a:prstGeom>
        </p:spPr>
      </p:pic>
      <p:pic>
        <p:nvPicPr>
          <p:cNvPr id="14" name="Picture 13">
            <a:extLst>
              <a:ext uri="{FF2B5EF4-FFF2-40B4-BE49-F238E27FC236}">
                <a16:creationId xmlns:a16="http://schemas.microsoft.com/office/drawing/2014/main" id="{071192D6-494C-3FBC-E6AB-FF6E31BB5391}"/>
              </a:ext>
            </a:extLst>
          </p:cNvPr>
          <p:cNvPicPr>
            <a:picLocks noChangeAspect="1"/>
          </p:cNvPicPr>
          <p:nvPr/>
        </p:nvPicPr>
        <p:blipFill>
          <a:blip r:embed="rId3"/>
          <a:stretch>
            <a:fillRect/>
          </a:stretch>
        </p:blipFill>
        <p:spPr>
          <a:xfrm>
            <a:off x="3249467" y="405606"/>
            <a:ext cx="2943581" cy="2248363"/>
          </a:xfrm>
          <a:prstGeom prst="rect">
            <a:avLst/>
          </a:prstGeom>
        </p:spPr>
      </p:pic>
      <p:pic>
        <p:nvPicPr>
          <p:cNvPr id="16" name="Picture 15">
            <a:extLst>
              <a:ext uri="{FF2B5EF4-FFF2-40B4-BE49-F238E27FC236}">
                <a16:creationId xmlns:a16="http://schemas.microsoft.com/office/drawing/2014/main" id="{D126E569-DFF3-D7F3-02BB-C3D0D086DECD}"/>
              </a:ext>
            </a:extLst>
          </p:cNvPr>
          <p:cNvPicPr>
            <a:picLocks noChangeAspect="1"/>
          </p:cNvPicPr>
          <p:nvPr/>
        </p:nvPicPr>
        <p:blipFill>
          <a:blip r:embed="rId4"/>
          <a:stretch>
            <a:fillRect/>
          </a:stretch>
        </p:blipFill>
        <p:spPr>
          <a:xfrm>
            <a:off x="6228497" y="472281"/>
            <a:ext cx="2937437" cy="4013594"/>
          </a:xfrm>
          <a:prstGeom prst="rect">
            <a:avLst/>
          </a:prstGeom>
        </p:spPr>
      </p:pic>
      <p:pic>
        <p:nvPicPr>
          <p:cNvPr id="5" name="Picture 4">
            <a:extLst>
              <a:ext uri="{FF2B5EF4-FFF2-40B4-BE49-F238E27FC236}">
                <a16:creationId xmlns:a16="http://schemas.microsoft.com/office/drawing/2014/main" id="{E5AAC92E-A951-58D5-FDFA-025A1D630C4C}"/>
              </a:ext>
            </a:extLst>
          </p:cNvPr>
          <p:cNvPicPr>
            <a:picLocks noChangeAspect="1"/>
          </p:cNvPicPr>
          <p:nvPr/>
        </p:nvPicPr>
        <p:blipFill>
          <a:blip r:embed="rId5"/>
          <a:stretch>
            <a:fillRect/>
          </a:stretch>
        </p:blipFill>
        <p:spPr>
          <a:xfrm>
            <a:off x="0" y="4734035"/>
            <a:ext cx="9144000" cy="1518528"/>
          </a:xfrm>
          <a:prstGeom prst="rect">
            <a:avLst/>
          </a:prstGeom>
        </p:spPr>
      </p:pic>
      <p:sp>
        <p:nvSpPr>
          <p:cNvPr id="3" name="TextBox 3">
            <a:extLst>
              <a:ext uri="{FF2B5EF4-FFF2-40B4-BE49-F238E27FC236}">
                <a16:creationId xmlns:a16="http://schemas.microsoft.com/office/drawing/2014/main" id="{89428508-AAFB-8836-6A64-DDC1C3945066}"/>
              </a:ext>
            </a:extLst>
          </p:cNvPr>
          <p:cNvSpPr txBox="1"/>
          <p:nvPr/>
        </p:nvSpPr>
        <p:spPr>
          <a:xfrm>
            <a:off x="0" y="174773"/>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2</a:t>
            </a:r>
          </a:p>
        </p:txBody>
      </p:sp>
    </p:spTree>
    <p:extLst>
      <p:ext uri="{BB962C8B-B14F-4D97-AF65-F5344CB8AC3E}">
        <p14:creationId xmlns:p14="http://schemas.microsoft.com/office/powerpoint/2010/main" val="262852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1600200" y="-129381"/>
            <a:ext cx="8229600" cy="563562"/>
          </a:xfrm>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17</a:t>
            </a:fld>
            <a:endParaRPr lang="en-US"/>
          </a:p>
        </p:txBody>
      </p:sp>
      <p:pic>
        <p:nvPicPr>
          <p:cNvPr id="4" name="Picture 3">
            <a:extLst>
              <a:ext uri="{FF2B5EF4-FFF2-40B4-BE49-F238E27FC236}">
                <a16:creationId xmlns:a16="http://schemas.microsoft.com/office/drawing/2014/main" id="{2B600CA0-4528-FFEE-BD22-34FA885268E9}"/>
              </a:ext>
            </a:extLst>
          </p:cNvPr>
          <p:cNvPicPr>
            <a:picLocks noChangeAspect="1"/>
          </p:cNvPicPr>
          <p:nvPr/>
        </p:nvPicPr>
        <p:blipFill>
          <a:blip r:embed="rId2"/>
          <a:stretch>
            <a:fillRect/>
          </a:stretch>
        </p:blipFill>
        <p:spPr>
          <a:xfrm>
            <a:off x="-39542" y="1075462"/>
            <a:ext cx="3239942" cy="3419938"/>
          </a:xfrm>
          <a:prstGeom prst="rect">
            <a:avLst/>
          </a:prstGeom>
        </p:spPr>
      </p:pic>
      <p:pic>
        <p:nvPicPr>
          <p:cNvPr id="14" name="Picture 13">
            <a:extLst>
              <a:ext uri="{FF2B5EF4-FFF2-40B4-BE49-F238E27FC236}">
                <a16:creationId xmlns:a16="http://schemas.microsoft.com/office/drawing/2014/main" id="{071192D6-494C-3FBC-E6AB-FF6E31BB5391}"/>
              </a:ext>
            </a:extLst>
          </p:cNvPr>
          <p:cNvPicPr>
            <a:picLocks noChangeAspect="1"/>
          </p:cNvPicPr>
          <p:nvPr/>
        </p:nvPicPr>
        <p:blipFill>
          <a:blip r:embed="rId3"/>
          <a:stretch>
            <a:fillRect/>
          </a:stretch>
        </p:blipFill>
        <p:spPr>
          <a:xfrm>
            <a:off x="3249467" y="405606"/>
            <a:ext cx="2943581" cy="2248363"/>
          </a:xfrm>
          <a:prstGeom prst="rect">
            <a:avLst/>
          </a:prstGeom>
        </p:spPr>
      </p:pic>
      <p:pic>
        <p:nvPicPr>
          <p:cNvPr id="16" name="Picture 15">
            <a:extLst>
              <a:ext uri="{FF2B5EF4-FFF2-40B4-BE49-F238E27FC236}">
                <a16:creationId xmlns:a16="http://schemas.microsoft.com/office/drawing/2014/main" id="{D126E569-DFF3-D7F3-02BB-C3D0D086DECD}"/>
              </a:ext>
            </a:extLst>
          </p:cNvPr>
          <p:cNvPicPr>
            <a:picLocks noChangeAspect="1"/>
          </p:cNvPicPr>
          <p:nvPr/>
        </p:nvPicPr>
        <p:blipFill>
          <a:blip r:embed="rId4"/>
          <a:stretch>
            <a:fillRect/>
          </a:stretch>
        </p:blipFill>
        <p:spPr>
          <a:xfrm>
            <a:off x="6228497" y="472281"/>
            <a:ext cx="2937437" cy="4013594"/>
          </a:xfrm>
          <a:prstGeom prst="rect">
            <a:avLst/>
          </a:prstGeom>
        </p:spPr>
      </p:pic>
      <p:pic>
        <p:nvPicPr>
          <p:cNvPr id="6" name="Picture 5">
            <a:extLst>
              <a:ext uri="{FF2B5EF4-FFF2-40B4-BE49-F238E27FC236}">
                <a16:creationId xmlns:a16="http://schemas.microsoft.com/office/drawing/2014/main" id="{2BE0A59B-C120-8233-FFC6-B25AC0B8E511}"/>
              </a:ext>
            </a:extLst>
          </p:cNvPr>
          <p:cNvPicPr>
            <a:picLocks noChangeAspect="1"/>
          </p:cNvPicPr>
          <p:nvPr/>
        </p:nvPicPr>
        <p:blipFill>
          <a:blip r:embed="rId5"/>
          <a:stretch>
            <a:fillRect/>
          </a:stretch>
        </p:blipFill>
        <p:spPr>
          <a:xfrm>
            <a:off x="3385972" y="3563350"/>
            <a:ext cx="2372056" cy="885949"/>
          </a:xfrm>
          <a:prstGeom prst="rect">
            <a:avLst/>
          </a:prstGeom>
        </p:spPr>
      </p:pic>
      <p:pic>
        <p:nvPicPr>
          <p:cNvPr id="8" name="Picture 7">
            <a:extLst>
              <a:ext uri="{FF2B5EF4-FFF2-40B4-BE49-F238E27FC236}">
                <a16:creationId xmlns:a16="http://schemas.microsoft.com/office/drawing/2014/main" id="{46B7E376-56C4-5793-8D1C-10FB062542FB}"/>
              </a:ext>
            </a:extLst>
          </p:cNvPr>
          <p:cNvPicPr>
            <a:picLocks noChangeAspect="1"/>
          </p:cNvPicPr>
          <p:nvPr/>
        </p:nvPicPr>
        <p:blipFill>
          <a:blip r:embed="rId6"/>
          <a:stretch>
            <a:fillRect/>
          </a:stretch>
        </p:blipFill>
        <p:spPr>
          <a:xfrm>
            <a:off x="2914419" y="4915705"/>
            <a:ext cx="2335682" cy="885949"/>
          </a:xfrm>
          <a:prstGeom prst="rect">
            <a:avLst/>
          </a:prstGeom>
        </p:spPr>
      </p:pic>
      <p:sp>
        <p:nvSpPr>
          <p:cNvPr id="3" name="TextBox 3">
            <a:extLst>
              <a:ext uri="{FF2B5EF4-FFF2-40B4-BE49-F238E27FC236}">
                <a16:creationId xmlns:a16="http://schemas.microsoft.com/office/drawing/2014/main" id="{71BF0586-80FF-92C7-5F03-FFAAF9007016}"/>
              </a:ext>
            </a:extLst>
          </p:cNvPr>
          <p:cNvSpPr txBox="1"/>
          <p:nvPr/>
        </p:nvSpPr>
        <p:spPr>
          <a:xfrm>
            <a:off x="36224" y="491785"/>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2</a:t>
            </a:r>
          </a:p>
        </p:txBody>
      </p:sp>
    </p:spTree>
    <p:extLst>
      <p:ext uri="{BB962C8B-B14F-4D97-AF65-F5344CB8AC3E}">
        <p14:creationId xmlns:p14="http://schemas.microsoft.com/office/powerpoint/2010/main" val="405646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a:xfrm>
            <a:off x="-1600200" y="-129381"/>
            <a:ext cx="8229600" cy="563562"/>
          </a:xfrm>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a:xfrm>
            <a:off x="6177642" y="6756018"/>
            <a:ext cx="2590801" cy="326308"/>
          </a:xfrm>
        </p:spPr>
        <p:txBody>
          <a:bodyPr/>
          <a:lstStyle/>
          <a:p>
            <a:fld id="{B6F15528-21DE-4FAA-801E-634DDDAF4B2B}" type="slidenum">
              <a:rPr lang="en-US" smtClean="0"/>
              <a:pPr/>
              <a:t>18</a:t>
            </a:fld>
            <a:endParaRPr lang="en-US"/>
          </a:p>
        </p:txBody>
      </p:sp>
      <p:pic>
        <p:nvPicPr>
          <p:cNvPr id="4" name="Picture 3">
            <a:extLst>
              <a:ext uri="{FF2B5EF4-FFF2-40B4-BE49-F238E27FC236}">
                <a16:creationId xmlns:a16="http://schemas.microsoft.com/office/drawing/2014/main" id="{2B600CA0-4528-FFEE-BD22-34FA885268E9}"/>
              </a:ext>
            </a:extLst>
          </p:cNvPr>
          <p:cNvPicPr>
            <a:picLocks noChangeAspect="1"/>
          </p:cNvPicPr>
          <p:nvPr/>
        </p:nvPicPr>
        <p:blipFill>
          <a:blip r:embed="rId2"/>
          <a:stretch>
            <a:fillRect/>
          </a:stretch>
        </p:blipFill>
        <p:spPr>
          <a:xfrm>
            <a:off x="21934" y="1161224"/>
            <a:ext cx="3239942" cy="3419938"/>
          </a:xfrm>
          <a:prstGeom prst="rect">
            <a:avLst/>
          </a:prstGeom>
        </p:spPr>
      </p:pic>
      <p:pic>
        <p:nvPicPr>
          <p:cNvPr id="14" name="Picture 13">
            <a:extLst>
              <a:ext uri="{FF2B5EF4-FFF2-40B4-BE49-F238E27FC236}">
                <a16:creationId xmlns:a16="http://schemas.microsoft.com/office/drawing/2014/main" id="{071192D6-494C-3FBC-E6AB-FF6E31BB5391}"/>
              </a:ext>
            </a:extLst>
          </p:cNvPr>
          <p:cNvPicPr>
            <a:picLocks noChangeAspect="1"/>
          </p:cNvPicPr>
          <p:nvPr/>
        </p:nvPicPr>
        <p:blipFill>
          <a:blip r:embed="rId3"/>
          <a:stretch>
            <a:fillRect/>
          </a:stretch>
        </p:blipFill>
        <p:spPr>
          <a:xfrm>
            <a:off x="3249467" y="405606"/>
            <a:ext cx="2943581" cy="2248363"/>
          </a:xfrm>
          <a:prstGeom prst="rect">
            <a:avLst/>
          </a:prstGeom>
        </p:spPr>
      </p:pic>
      <p:pic>
        <p:nvPicPr>
          <p:cNvPr id="16" name="Picture 15">
            <a:extLst>
              <a:ext uri="{FF2B5EF4-FFF2-40B4-BE49-F238E27FC236}">
                <a16:creationId xmlns:a16="http://schemas.microsoft.com/office/drawing/2014/main" id="{D126E569-DFF3-D7F3-02BB-C3D0D086DECD}"/>
              </a:ext>
            </a:extLst>
          </p:cNvPr>
          <p:cNvPicPr>
            <a:picLocks noChangeAspect="1"/>
          </p:cNvPicPr>
          <p:nvPr/>
        </p:nvPicPr>
        <p:blipFill>
          <a:blip r:embed="rId4"/>
          <a:stretch>
            <a:fillRect/>
          </a:stretch>
        </p:blipFill>
        <p:spPr>
          <a:xfrm>
            <a:off x="6228497" y="472281"/>
            <a:ext cx="2937437" cy="4013594"/>
          </a:xfrm>
          <a:prstGeom prst="rect">
            <a:avLst/>
          </a:prstGeom>
        </p:spPr>
      </p:pic>
      <p:pic>
        <p:nvPicPr>
          <p:cNvPr id="5" name="Picture 4">
            <a:extLst>
              <a:ext uri="{FF2B5EF4-FFF2-40B4-BE49-F238E27FC236}">
                <a16:creationId xmlns:a16="http://schemas.microsoft.com/office/drawing/2014/main" id="{7C198EBF-438A-0311-E07B-C5E79C3C9A43}"/>
              </a:ext>
            </a:extLst>
          </p:cNvPr>
          <p:cNvPicPr>
            <a:picLocks noChangeAspect="1"/>
          </p:cNvPicPr>
          <p:nvPr/>
        </p:nvPicPr>
        <p:blipFill>
          <a:blip r:embed="rId5"/>
          <a:stretch>
            <a:fillRect/>
          </a:stretch>
        </p:blipFill>
        <p:spPr>
          <a:xfrm>
            <a:off x="3313491" y="3742834"/>
            <a:ext cx="2333951" cy="962159"/>
          </a:xfrm>
          <a:prstGeom prst="rect">
            <a:avLst/>
          </a:prstGeom>
        </p:spPr>
      </p:pic>
      <p:pic>
        <p:nvPicPr>
          <p:cNvPr id="9" name="Picture 8">
            <a:extLst>
              <a:ext uri="{FF2B5EF4-FFF2-40B4-BE49-F238E27FC236}">
                <a16:creationId xmlns:a16="http://schemas.microsoft.com/office/drawing/2014/main" id="{5F9719BD-2802-D336-A366-55A0252D272A}"/>
              </a:ext>
            </a:extLst>
          </p:cNvPr>
          <p:cNvPicPr>
            <a:picLocks noChangeAspect="1"/>
          </p:cNvPicPr>
          <p:nvPr/>
        </p:nvPicPr>
        <p:blipFill>
          <a:blip r:embed="rId6"/>
          <a:stretch>
            <a:fillRect/>
          </a:stretch>
        </p:blipFill>
        <p:spPr>
          <a:xfrm>
            <a:off x="21934" y="5009581"/>
            <a:ext cx="9144000" cy="755702"/>
          </a:xfrm>
          <a:prstGeom prst="rect">
            <a:avLst/>
          </a:prstGeom>
        </p:spPr>
      </p:pic>
      <p:sp>
        <p:nvSpPr>
          <p:cNvPr id="3" name="TextBox 3">
            <a:extLst>
              <a:ext uri="{FF2B5EF4-FFF2-40B4-BE49-F238E27FC236}">
                <a16:creationId xmlns:a16="http://schemas.microsoft.com/office/drawing/2014/main" id="{AEF33096-5601-B8CB-48D0-3A7913797255}"/>
              </a:ext>
            </a:extLst>
          </p:cNvPr>
          <p:cNvSpPr txBox="1"/>
          <p:nvPr/>
        </p:nvSpPr>
        <p:spPr>
          <a:xfrm>
            <a:off x="36224" y="491785"/>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2</a:t>
            </a:r>
          </a:p>
        </p:txBody>
      </p:sp>
    </p:spTree>
    <p:extLst>
      <p:ext uri="{BB962C8B-B14F-4D97-AF65-F5344CB8AC3E}">
        <p14:creationId xmlns:p14="http://schemas.microsoft.com/office/powerpoint/2010/main" val="2637019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11" name="TextBox 10">
            <a:extLst>
              <a:ext uri="{FF2B5EF4-FFF2-40B4-BE49-F238E27FC236}">
                <a16:creationId xmlns:a16="http://schemas.microsoft.com/office/drawing/2014/main" id="{1A307105-94EA-5665-294B-EAF641C12738}"/>
              </a:ext>
            </a:extLst>
          </p:cNvPr>
          <p:cNvSpPr txBox="1"/>
          <p:nvPr/>
        </p:nvSpPr>
        <p:spPr>
          <a:xfrm>
            <a:off x="158516" y="866312"/>
            <a:ext cx="4572000" cy="397481"/>
          </a:xfrm>
          <a:prstGeom prst="rect">
            <a:avLst/>
          </a:prstGeom>
          <a:noFill/>
        </p:spPr>
        <p:txBody>
          <a:bodyPr wrap="square">
            <a:spAutoFit/>
          </a:bodyPr>
          <a:lstStyle/>
          <a:p>
            <a:pPr marL="0" indent="0">
              <a:lnSpc>
                <a:spcPct val="120000"/>
              </a:lnSpc>
              <a:buNone/>
            </a:pPr>
            <a:r>
              <a:rPr lang="en-US" sz="1800" b="1" dirty="0" err="1">
                <a:solidFill>
                  <a:srgbClr val="FF0000"/>
                </a:solidFill>
                <a:latin typeface="Cascadia Mono" panose="020B0609020000020004" pitchFamily="49" charset="0"/>
              </a:rPr>
              <a:t>Ví</a:t>
            </a:r>
            <a:r>
              <a:rPr lang="en-US" sz="1800" b="1" dirty="0">
                <a:solidFill>
                  <a:srgbClr val="FF0000"/>
                </a:solidFill>
                <a:latin typeface="Cascadia Mono" panose="020B0609020000020004" pitchFamily="49" charset="0"/>
              </a:rPr>
              <a:t> </a:t>
            </a:r>
            <a:r>
              <a:rPr lang="en-US" sz="1800" b="1" dirty="0" err="1">
                <a:solidFill>
                  <a:srgbClr val="FF0000"/>
                </a:solidFill>
                <a:latin typeface="Cascadia Mono" panose="020B0609020000020004" pitchFamily="49" charset="0"/>
              </a:rPr>
              <a:t>dụ</a:t>
            </a:r>
            <a:r>
              <a:rPr lang="en-US" sz="1800" b="1" dirty="0">
                <a:solidFill>
                  <a:srgbClr val="FF0000"/>
                </a:solidFill>
                <a:latin typeface="Cascadia Mono" panose="020B0609020000020004" pitchFamily="49" charset="0"/>
              </a:rPr>
              <a:t> 3</a:t>
            </a:r>
            <a:r>
              <a:rPr lang="vi-VN" sz="1800" b="1" dirty="0">
                <a:solidFill>
                  <a:srgbClr val="FF0000"/>
                </a:solidFill>
                <a:latin typeface="Cascadia Mono" panose="020B0609020000020004" pitchFamily="49" charset="0"/>
              </a:rPr>
              <a:t>:</a:t>
            </a:r>
          </a:p>
        </p:txBody>
      </p:sp>
      <p:pic>
        <p:nvPicPr>
          <p:cNvPr id="4" name="Picture 3">
            <a:extLst>
              <a:ext uri="{FF2B5EF4-FFF2-40B4-BE49-F238E27FC236}">
                <a16:creationId xmlns:a16="http://schemas.microsoft.com/office/drawing/2014/main" id="{D8929E43-652D-6A12-C13F-4916436001F9}"/>
              </a:ext>
            </a:extLst>
          </p:cNvPr>
          <p:cNvPicPr>
            <a:picLocks noChangeAspect="1"/>
          </p:cNvPicPr>
          <p:nvPr/>
        </p:nvPicPr>
        <p:blipFill>
          <a:blip r:embed="rId2"/>
          <a:stretch>
            <a:fillRect/>
          </a:stretch>
        </p:blipFill>
        <p:spPr>
          <a:xfrm>
            <a:off x="93007" y="1477563"/>
            <a:ext cx="4156975" cy="2934057"/>
          </a:xfrm>
          <a:prstGeom prst="rect">
            <a:avLst/>
          </a:prstGeom>
        </p:spPr>
      </p:pic>
      <p:pic>
        <p:nvPicPr>
          <p:cNvPr id="5" name="Picture 4">
            <a:extLst>
              <a:ext uri="{FF2B5EF4-FFF2-40B4-BE49-F238E27FC236}">
                <a16:creationId xmlns:a16="http://schemas.microsoft.com/office/drawing/2014/main" id="{AF1E19D4-5F68-6C54-5DFB-B2CC3E84844F}"/>
              </a:ext>
            </a:extLst>
          </p:cNvPr>
          <p:cNvPicPr>
            <a:picLocks noChangeAspect="1"/>
          </p:cNvPicPr>
          <p:nvPr/>
        </p:nvPicPr>
        <p:blipFill>
          <a:blip r:embed="rId3"/>
          <a:stretch>
            <a:fillRect/>
          </a:stretch>
        </p:blipFill>
        <p:spPr>
          <a:xfrm>
            <a:off x="5829645" y="46180"/>
            <a:ext cx="2893014" cy="2153113"/>
          </a:xfrm>
          <a:prstGeom prst="rect">
            <a:avLst/>
          </a:prstGeom>
        </p:spPr>
      </p:pic>
      <p:pic>
        <p:nvPicPr>
          <p:cNvPr id="8" name="Picture 7">
            <a:extLst>
              <a:ext uri="{FF2B5EF4-FFF2-40B4-BE49-F238E27FC236}">
                <a16:creationId xmlns:a16="http://schemas.microsoft.com/office/drawing/2014/main" id="{32EA0111-827E-94E9-C452-AB1584E904B5}"/>
              </a:ext>
            </a:extLst>
          </p:cNvPr>
          <p:cNvPicPr>
            <a:picLocks noChangeAspect="1"/>
          </p:cNvPicPr>
          <p:nvPr/>
        </p:nvPicPr>
        <p:blipFill>
          <a:blip r:embed="rId4"/>
          <a:stretch>
            <a:fillRect/>
          </a:stretch>
        </p:blipFill>
        <p:spPr>
          <a:xfrm>
            <a:off x="4730516" y="2252968"/>
            <a:ext cx="4156975" cy="4605032"/>
          </a:xfrm>
          <a:prstGeom prst="rect">
            <a:avLst/>
          </a:prstGeom>
        </p:spPr>
      </p:pic>
    </p:spTree>
    <p:extLst>
      <p:ext uri="{BB962C8B-B14F-4D97-AF65-F5344CB8AC3E}">
        <p14:creationId xmlns:p14="http://schemas.microsoft.com/office/powerpoint/2010/main" val="2069469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B87A36E-8C0F-1A7B-B52E-9326E8F05D4D}"/>
              </a:ext>
            </a:extLst>
          </p:cNvPr>
          <p:cNvSpPr>
            <a:spLocks noGrp="1"/>
          </p:cNvSpPr>
          <p:nvPr>
            <p:ph type="title"/>
          </p:nvPr>
        </p:nvSpPr>
        <p:spPr/>
        <p:txBody>
          <a:bodyPr>
            <a:noAutofit/>
          </a:bodyPr>
          <a:lstStyle/>
          <a:p>
            <a:r>
              <a:rPr lang="en-US" sz="2400" b="1" dirty="0" err="1"/>
              <a:t>Tính</a:t>
            </a:r>
            <a:r>
              <a:rPr lang="en-US" sz="2400" b="1" dirty="0"/>
              <a:t> </a:t>
            </a:r>
            <a:r>
              <a:rPr lang="en-US" sz="2400" b="1" dirty="0" err="1"/>
              <a:t>kế</a:t>
            </a:r>
            <a:r>
              <a:rPr lang="en-US" sz="2400" b="1" dirty="0"/>
              <a:t> </a:t>
            </a:r>
            <a:r>
              <a:rPr lang="en-US" sz="2400" b="1" dirty="0" err="1"/>
              <a:t>thừa</a:t>
            </a:r>
            <a:endParaRPr lang="en-US" sz="2400" dirty="0"/>
          </a:p>
        </p:txBody>
      </p:sp>
      <p:sp>
        <p:nvSpPr>
          <p:cNvPr id="2" name="Slide Number Placeholder 1">
            <a:extLst>
              <a:ext uri="{FF2B5EF4-FFF2-40B4-BE49-F238E27FC236}">
                <a16:creationId xmlns:a16="http://schemas.microsoft.com/office/drawing/2014/main" id="{88D71638-3A7C-4F0C-892D-E0658B23FED1}"/>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11" name="TextBox 10">
            <a:extLst>
              <a:ext uri="{FF2B5EF4-FFF2-40B4-BE49-F238E27FC236}">
                <a16:creationId xmlns:a16="http://schemas.microsoft.com/office/drawing/2014/main" id="{1A307105-94EA-5665-294B-EAF641C12738}"/>
              </a:ext>
            </a:extLst>
          </p:cNvPr>
          <p:cNvSpPr txBox="1"/>
          <p:nvPr/>
        </p:nvSpPr>
        <p:spPr>
          <a:xfrm>
            <a:off x="158516" y="866312"/>
            <a:ext cx="4572000" cy="397481"/>
          </a:xfrm>
          <a:prstGeom prst="rect">
            <a:avLst/>
          </a:prstGeom>
          <a:noFill/>
        </p:spPr>
        <p:txBody>
          <a:bodyPr wrap="square">
            <a:spAutoFit/>
          </a:bodyPr>
          <a:lstStyle/>
          <a:p>
            <a:pPr marL="0" indent="0">
              <a:lnSpc>
                <a:spcPct val="120000"/>
              </a:lnSpc>
              <a:buNone/>
            </a:pPr>
            <a:r>
              <a:rPr lang="en-US" sz="1800" b="1" dirty="0" err="1">
                <a:solidFill>
                  <a:srgbClr val="FF0000"/>
                </a:solidFill>
                <a:latin typeface="Cascadia Mono" panose="020B0609020000020004" pitchFamily="49" charset="0"/>
              </a:rPr>
              <a:t>Ví</a:t>
            </a:r>
            <a:r>
              <a:rPr lang="en-US" sz="1800" b="1" dirty="0">
                <a:solidFill>
                  <a:srgbClr val="FF0000"/>
                </a:solidFill>
                <a:latin typeface="Cascadia Mono" panose="020B0609020000020004" pitchFamily="49" charset="0"/>
              </a:rPr>
              <a:t> </a:t>
            </a:r>
            <a:r>
              <a:rPr lang="en-US" sz="1800" b="1" dirty="0" err="1">
                <a:solidFill>
                  <a:srgbClr val="FF0000"/>
                </a:solidFill>
                <a:latin typeface="Cascadia Mono" panose="020B0609020000020004" pitchFamily="49" charset="0"/>
              </a:rPr>
              <a:t>dụ</a:t>
            </a:r>
            <a:r>
              <a:rPr lang="en-US" sz="1800" b="1" dirty="0">
                <a:solidFill>
                  <a:srgbClr val="FF0000"/>
                </a:solidFill>
                <a:latin typeface="Cascadia Mono" panose="020B0609020000020004" pitchFamily="49" charset="0"/>
              </a:rPr>
              <a:t> 4</a:t>
            </a:r>
            <a:r>
              <a:rPr lang="vi-VN" sz="1800" b="1" dirty="0">
                <a:solidFill>
                  <a:srgbClr val="FF0000"/>
                </a:solidFill>
                <a:latin typeface="Cascadia Mono" panose="020B0609020000020004" pitchFamily="49" charset="0"/>
              </a:rPr>
              <a:t>:</a:t>
            </a:r>
          </a:p>
        </p:txBody>
      </p:sp>
      <p:pic>
        <p:nvPicPr>
          <p:cNvPr id="4" name="Picture 3">
            <a:extLst>
              <a:ext uri="{FF2B5EF4-FFF2-40B4-BE49-F238E27FC236}">
                <a16:creationId xmlns:a16="http://schemas.microsoft.com/office/drawing/2014/main" id="{D8929E43-652D-6A12-C13F-4916436001F9}"/>
              </a:ext>
            </a:extLst>
          </p:cNvPr>
          <p:cNvPicPr>
            <a:picLocks noChangeAspect="1"/>
          </p:cNvPicPr>
          <p:nvPr/>
        </p:nvPicPr>
        <p:blipFill>
          <a:blip r:embed="rId2"/>
          <a:stretch>
            <a:fillRect/>
          </a:stretch>
        </p:blipFill>
        <p:spPr>
          <a:xfrm>
            <a:off x="93007" y="1477564"/>
            <a:ext cx="3736439" cy="2637236"/>
          </a:xfrm>
          <a:prstGeom prst="rect">
            <a:avLst/>
          </a:prstGeom>
        </p:spPr>
      </p:pic>
      <p:pic>
        <p:nvPicPr>
          <p:cNvPr id="6" name="Picture 5">
            <a:extLst>
              <a:ext uri="{FF2B5EF4-FFF2-40B4-BE49-F238E27FC236}">
                <a16:creationId xmlns:a16="http://schemas.microsoft.com/office/drawing/2014/main" id="{F5BF09D5-C87F-5D33-0F8C-268DC2C4278F}"/>
              </a:ext>
            </a:extLst>
          </p:cNvPr>
          <p:cNvPicPr>
            <a:picLocks noChangeAspect="1"/>
          </p:cNvPicPr>
          <p:nvPr/>
        </p:nvPicPr>
        <p:blipFill>
          <a:blip r:embed="rId3"/>
          <a:stretch>
            <a:fillRect/>
          </a:stretch>
        </p:blipFill>
        <p:spPr>
          <a:xfrm>
            <a:off x="3886201" y="1065052"/>
            <a:ext cx="2362200" cy="1830548"/>
          </a:xfrm>
          <a:prstGeom prst="rect">
            <a:avLst/>
          </a:prstGeom>
        </p:spPr>
      </p:pic>
      <p:pic>
        <p:nvPicPr>
          <p:cNvPr id="10" name="Picture 9">
            <a:extLst>
              <a:ext uri="{FF2B5EF4-FFF2-40B4-BE49-F238E27FC236}">
                <a16:creationId xmlns:a16="http://schemas.microsoft.com/office/drawing/2014/main" id="{7E25D7A2-08F0-A850-484F-0B6DBF820138}"/>
              </a:ext>
            </a:extLst>
          </p:cNvPr>
          <p:cNvPicPr>
            <a:picLocks noChangeAspect="1"/>
          </p:cNvPicPr>
          <p:nvPr/>
        </p:nvPicPr>
        <p:blipFill>
          <a:blip r:embed="rId4"/>
          <a:stretch>
            <a:fillRect/>
          </a:stretch>
        </p:blipFill>
        <p:spPr>
          <a:xfrm>
            <a:off x="6431618" y="545753"/>
            <a:ext cx="2667000" cy="3075709"/>
          </a:xfrm>
          <a:prstGeom prst="rect">
            <a:avLst/>
          </a:prstGeom>
        </p:spPr>
      </p:pic>
      <p:pic>
        <p:nvPicPr>
          <p:cNvPr id="14" name="Picture 13">
            <a:extLst>
              <a:ext uri="{FF2B5EF4-FFF2-40B4-BE49-F238E27FC236}">
                <a16:creationId xmlns:a16="http://schemas.microsoft.com/office/drawing/2014/main" id="{1853CC51-0B26-BB78-62E9-FC32D240AD09}"/>
              </a:ext>
            </a:extLst>
          </p:cNvPr>
          <p:cNvPicPr>
            <a:picLocks noChangeAspect="1"/>
          </p:cNvPicPr>
          <p:nvPr/>
        </p:nvPicPr>
        <p:blipFill>
          <a:blip r:embed="rId5"/>
          <a:stretch>
            <a:fillRect/>
          </a:stretch>
        </p:blipFill>
        <p:spPr>
          <a:xfrm>
            <a:off x="6377943" y="3747254"/>
            <a:ext cx="2644475" cy="3075709"/>
          </a:xfrm>
          <a:prstGeom prst="rect">
            <a:avLst/>
          </a:prstGeom>
        </p:spPr>
      </p:pic>
      <p:pic>
        <p:nvPicPr>
          <p:cNvPr id="17" name="Picture 16">
            <a:extLst>
              <a:ext uri="{FF2B5EF4-FFF2-40B4-BE49-F238E27FC236}">
                <a16:creationId xmlns:a16="http://schemas.microsoft.com/office/drawing/2014/main" id="{14597B1A-3377-CD1D-6F9C-5C68B29F8D82}"/>
              </a:ext>
            </a:extLst>
          </p:cNvPr>
          <p:cNvPicPr>
            <a:picLocks noChangeAspect="1"/>
          </p:cNvPicPr>
          <p:nvPr/>
        </p:nvPicPr>
        <p:blipFill>
          <a:blip r:embed="rId6"/>
          <a:stretch>
            <a:fillRect/>
          </a:stretch>
        </p:blipFill>
        <p:spPr>
          <a:xfrm>
            <a:off x="322907" y="4632213"/>
            <a:ext cx="5048955" cy="1857634"/>
          </a:xfrm>
          <a:prstGeom prst="rect">
            <a:avLst/>
          </a:prstGeom>
        </p:spPr>
      </p:pic>
    </p:spTree>
    <p:extLst>
      <p:ext uri="{BB962C8B-B14F-4D97-AF65-F5344CB8AC3E}">
        <p14:creationId xmlns:p14="http://schemas.microsoft.com/office/powerpoint/2010/main" val="807734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12BD-E77F-2D47-31A5-FBB9C91629D6}"/>
              </a:ext>
            </a:extLst>
          </p:cNvPr>
          <p:cNvSpPr>
            <a:spLocks noGrp="1"/>
          </p:cNvSpPr>
          <p:nvPr>
            <p:ph type="title"/>
          </p:nvPr>
        </p:nvSpPr>
        <p:spPr/>
        <p:txBody>
          <a:bodyPr>
            <a:normAutofit fontScale="90000"/>
          </a:bodyPr>
          <a:lstStyle/>
          <a:p>
            <a:r>
              <a:rPr lang="en-US" dirty="0" err="1"/>
              <a:t>Nấu</a:t>
            </a:r>
            <a:r>
              <a:rPr lang="en-US" dirty="0"/>
              <a:t> </a:t>
            </a:r>
            <a:r>
              <a:rPr lang="en-US" dirty="0" err="1"/>
              <a:t>chè</a:t>
            </a:r>
            <a:r>
              <a:rPr lang="en-US" dirty="0"/>
              <a:t> </a:t>
            </a:r>
            <a:r>
              <a:rPr lang="en-US" dirty="0" err="1"/>
              <a:t>trái</a:t>
            </a:r>
            <a:r>
              <a:rPr lang="en-US" dirty="0"/>
              <a:t> </a:t>
            </a:r>
            <a:r>
              <a:rPr lang="en-US" dirty="0" err="1"/>
              <a:t>cây</a:t>
            </a:r>
            <a:r>
              <a:rPr lang="en-US" dirty="0"/>
              <a:t> </a:t>
            </a:r>
            <a:r>
              <a:rPr lang="en-US" dirty="0" err="1"/>
              <a:t>từ</a:t>
            </a:r>
            <a:r>
              <a:rPr lang="en-US" dirty="0"/>
              <a:t> </a:t>
            </a:r>
            <a:r>
              <a:rPr lang="en-US" dirty="0" err="1"/>
              <a:t>góc</a:t>
            </a:r>
            <a:r>
              <a:rPr lang="en-US" dirty="0"/>
              <a:t> </a:t>
            </a:r>
            <a:r>
              <a:rPr lang="en-US" dirty="0" err="1"/>
              <a:t>độ</a:t>
            </a:r>
            <a:r>
              <a:rPr lang="en-US" dirty="0"/>
              <a:t> </a:t>
            </a:r>
            <a:r>
              <a:rPr lang="en-US" dirty="0" err="1"/>
              <a:t>kế</a:t>
            </a:r>
            <a:r>
              <a:rPr lang="en-US" dirty="0"/>
              <a:t> </a:t>
            </a:r>
            <a:r>
              <a:rPr lang="en-US" dirty="0" err="1"/>
              <a:t>thừa</a:t>
            </a:r>
            <a:endParaRPr lang="en-US" dirty="0"/>
          </a:p>
        </p:txBody>
      </p:sp>
      <p:sp>
        <p:nvSpPr>
          <p:cNvPr id="4" name="Slide Number Placeholder 3">
            <a:extLst>
              <a:ext uri="{FF2B5EF4-FFF2-40B4-BE49-F238E27FC236}">
                <a16:creationId xmlns:a16="http://schemas.microsoft.com/office/drawing/2014/main" id="{22820D13-7B77-6F06-F4E8-29EFA02B45DC}"/>
              </a:ext>
            </a:extLst>
          </p:cNvPr>
          <p:cNvSpPr>
            <a:spLocks noGrp="1"/>
          </p:cNvSpPr>
          <p:nvPr>
            <p:ph type="sldNum" sz="quarter" idx="12"/>
          </p:nvPr>
        </p:nvSpPr>
        <p:spPr/>
        <p:txBody>
          <a:bodyPr/>
          <a:lstStyle/>
          <a:p>
            <a:fld id="{B6F15528-21DE-4FAA-801E-634DDDAF4B2B}" type="slidenum">
              <a:rPr lang="en-US" smtClean="0"/>
              <a:pPr/>
              <a:t>21</a:t>
            </a:fld>
            <a:endParaRPr lang="en-US"/>
          </a:p>
        </p:txBody>
      </p:sp>
      <p:pic>
        <p:nvPicPr>
          <p:cNvPr id="1028" name="Picture 4" descr="Ăn chè ngon nhất tại TPHCM không thể bỏ qua Changhi">
            <a:extLst>
              <a:ext uri="{FF2B5EF4-FFF2-40B4-BE49-F238E27FC236}">
                <a16:creationId xmlns:a16="http://schemas.microsoft.com/office/drawing/2014/main" id="{40DAD1BC-5C2B-A0E6-FED0-151070EAD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399031"/>
            <a:ext cx="9067800" cy="396716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2C82DF9-B9EE-418D-DFB9-E6813B874288}"/>
              </a:ext>
            </a:extLst>
          </p:cNvPr>
          <p:cNvGrpSpPr/>
          <p:nvPr/>
        </p:nvGrpSpPr>
        <p:grpSpPr>
          <a:xfrm>
            <a:off x="637916" y="5596213"/>
            <a:ext cx="7796449" cy="1125262"/>
            <a:chOff x="153964" y="5443729"/>
            <a:chExt cx="7796449" cy="1125262"/>
          </a:xfrm>
        </p:grpSpPr>
        <p:pic>
          <p:nvPicPr>
            <p:cNvPr id="1026" name="Picture 2" descr="Sản phẩm Chuối già Nam Mỹ từ Union Trading, chuẩn từ nông trại đến bàn ăn">
              <a:extLst>
                <a:ext uri="{FF2B5EF4-FFF2-40B4-BE49-F238E27FC236}">
                  <a16:creationId xmlns:a16="http://schemas.microsoft.com/office/drawing/2014/main" id="{3A50C69B-4ABA-D47E-336C-C6BBDEC7A9DC}"/>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53964" y="5506218"/>
              <a:ext cx="1231472" cy="104903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AD109A2C-A01D-4A77-6F78-DBFF2CD56360}"/>
                </a:ext>
              </a:extLst>
            </p:cNvPr>
            <p:cNvGrpSpPr/>
            <p:nvPr/>
          </p:nvGrpSpPr>
          <p:grpSpPr>
            <a:xfrm>
              <a:off x="1490381" y="5443729"/>
              <a:ext cx="6460032" cy="1125262"/>
              <a:chOff x="1490381" y="5443729"/>
              <a:chExt cx="6460032" cy="1125262"/>
            </a:xfrm>
          </p:grpSpPr>
          <p:grpSp>
            <p:nvGrpSpPr>
              <p:cNvPr id="8" name="Group 7">
                <a:extLst>
                  <a:ext uri="{FF2B5EF4-FFF2-40B4-BE49-F238E27FC236}">
                    <a16:creationId xmlns:a16="http://schemas.microsoft.com/office/drawing/2014/main" id="{9D33F0EB-84EB-09E3-45CB-3FED231F6C8D}"/>
                  </a:ext>
                </a:extLst>
              </p:cNvPr>
              <p:cNvGrpSpPr/>
              <p:nvPr/>
            </p:nvGrpSpPr>
            <p:grpSpPr>
              <a:xfrm>
                <a:off x="1490381" y="5443729"/>
                <a:ext cx="6460032" cy="1125262"/>
                <a:chOff x="1490381" y="5443729"/>
                <a:chExt cx="6460032" cy="1125262"/>
              </a:xfrm>
            </p:grpSpPr>
            <p:pic>
              <p:nvPicPr>
                <p:cNvPr id="1032" name="Picture 8" descr="bột quả bơ TV 100g Nguyên liệu thực phẩm Thiên Bảo Anh">
                  <a:extLst>
                    <a:ext uri="{FF2B5EF4-FFF2-40B4-BE49-F238E27FC236}">
                      <a16:creationId xmlns:a16="http://schemas.microsoft.com/office/drawing/2014/main" id="{3260B723-EC14-E121-6854-CE20B94CF3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0381" y="5549816"/>
                  <a:ext cx="1348447" cy="101917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EB19CBC-F74A-78F7-8AC1-99E22026810F}"/>
                    </a:ext>
                  </a:extLst>
                </p:cNvPr>
                <p:cNvGrpSpPr/>
                <p:nvPr/>
              </p:nvGrpSpPr>
              <p:grpSpPr>
                <a:xfrm>
                  <a:off x="3262742" y="5443729"/>
                  <a:ext cx="4687671" cy="1095183"/>
                  <a:chOff x="3262742" y="5443729"/>
                  <a:chExt cx="4687671" cy="1095183"/>
                </a:xfrm>
              </p:grpSpPr>
              <p:pic>
                <p:nvPicPr>
                  <p:cNvPr id="1034" name="Picture 10" descr="CỔNG THÔNG TIN ĐIỆN TỬ TỈNH ĐỒNG THÁP">
                    <a:extLst>
                      <a:ext uri="{FF2B5EF4-FFF2-40B4-BE49-F238E27FC236}">
                        <a16:creationId xmlns:a16="http://schemas.microsoft.com/office/drawing/2014/main" id="{E0000F0E-2185-182A-4F36-DF979AC6F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742" y="5641513"/>
                    <a:ext cx="1353454" cy="89739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ĐẬU ĐỎ TÂY | SỈ LẺ ĐẬU ĐỎ TÂY">
                    <a:extLst>
                      <a:ext uri="{FF2B5EF4-FFF2-40B4-BE49-F238E27FC236}">
                        <a16:creationId xmlns:a16="http://schemas.microsoft.com/office/drawing/2014/main" id="{FE5E56E7-9CE6-701E-3791-D60F8539AC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8866" y="5443729"/>
                    <a:ext cx="1531547" cy="10191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TextBox 5">
                <a:extLst>
                  <a:ext uri="{FF2B5EF4-FFF2-40B4-BE49-F238E27FC236}">
                    <a16:creationId xmlns:a16="http://schemas.microsoft.com/office/drawing/2014/main" id="{FB4BAD3F-4244-B807-E606-8980E7D9EB9E}"/>
                  </a:ext>
                </a:extLst>
              </p:cNvPr>
              <p:cNvSpPr txBox="1"/>
              <p:nvPr/>
            </p:nvSpPr>
            <p:spPr>
              <a:xfrm>
                <a:off x="5215043" y="5987326"/>
                <a:ext cx="934871" cy="369332"/>
              </a:xfrm>
              <a:prstGeom prst="rect">
                <a:avLst/>
              </a:prstGeom>
              <a:noFill/>
            </p:spPr>
            <p:txBody>
              <a:bodyPr wrap="none" rtlCol="0">
                <a:spAutoFit/>
              </a:bodyPr>
              <a:lstStyle/>
              <a:p>
                <a:r>
                  <a:rPr lang="en-US" dirty="0"/>
                  <a:t>…………..</a:t>
                </a:r>
              </a:p>
            </p:txBody>
          </p:sp>
        </p:grpSp>
      </p:grpSp>
      <p:sp>
        <p:nvSpPr>
          <p:cNvPr id="3" name="TextBox 3">
            <a:extLst>
              <a:ext uri="{FF2B5EF4-FFF2-40B4-BE49-F238E27FC236}">
                <a16:creationId xmlns:a16="http://schemas.microsoft.com/office/drawing/2014/main" id="{AEF33096-5601-B8CB-48D0-3A7913797255}"/>
              </a:ext>
            </a:extLst>
          </p:cNvPr>
          <p:cNvSpPr txBox="1"/>
          <p:nvPr/>
        </p:nvSpPr>
        <p:spPr>
          <a:xfrm>
            <a:off x="76200" y="794389"/>
            <a:ext cx="1066318" cy="46166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err="1">
                <a:solidFill>
                  <a:srgbClr val="FF0000"/>
                </a:solidFill>
              </a:rPr>
              <a:t>Ví</a:t>
            </a:r>
            <a:r>
              <a:rPr lang="en-US" sz="2400" b="1" dirty="0">
                <a:solidFill>
                  <a:srgbClr val="FF0000"/>
                </a:solidFill>
              </a:rPr>
              <a:t> </a:t>
            </a:r>
            <a:r>
              <a:rPr lang="en-US" sz="2400" b="1" dirty="0" err="1">
                <a:solidFill>
                  <a:srgbClr val="FF0000"/>
                </a:solidFill>
              </a:rPr>
              <a:t>dụ</a:t>
            </a:r>
            <a:r>
              <a:rPr lang="en-US" sz="2400" b="1" dirty="0">
                <a:solidFill>
                  <a:srgbClr val="FF0000"/>
                </a:solidFill>
              </a:rPr>
              <a:t> 4</a:t>
            </a:r>
          </a:p>
        </p:txBody>
      </p:sp>
    </p:spTree>
    <p:extLst>
      <p:ext uri="{BB962C8B-B14F-4D97-AF65-F5344CB8AC3E}">
        <p14:creationId xmlns:p14="http://schemas.microsoft.com/office/powerpoint/2010/main" val="48439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12BD-E77F-2D47-31A5-FBB9C91629D6}"/>
              </a:ext>
            </a:extLst>
          </p:cNvPr>
          <p:cNvSpPr>
            <a:spLocks noGrp="1"/>
          </p:cNvSpPr>
          <p:nvPr>
            <p:ph type="title"/>
          </p:nvPr>
        </p:nvSpPr>
        <p:spPr/>
        <p:txBody>
          <a:bodyPr>
            <a:normAutofit fontScale="90000"/>
          </a:bodyPr>
          <a:lstStyle/>
          <a:p>
            <a:r>
              <a:rPr lang="en-US" dirty="0" err="1"/>
              <a:t>Chè</a:t>
            </a:r>
            <a:r>
              <a:rPr lang="en-US" dirty="0"/>
              <a:t> </a:t>
            </a:r>
            <a:r>
              <a:rPr lang="en-US" dirty="0" err="1"/>
              <a:t>trái</a:t>
            </a:r>
            <a:r>
              <a:rPr lang="en-US" dirty="0"/>
              <a:t> </a:t>
            </a:r>
            <a:r>
              <a:rPr lang="en-US" dirty="0" err="1"/>
              <a:t>cây</a:t>
            </a:r>
            <a:endParaRPr lang="en-US" dirty="0"/>
          </a:p>
        </p:txBody>
      </p:sp>
      <p:sp>
        <p:nvSpPr>
          <p:cNvPr id="4" name="Slide Number Placeholder 3">
            <a:extLst>
              <a:ext uri="{FF2B5EF4-FFF2-40B4-BE49-F238E27FC236}">
                <a16:creationId xmlns:a16="http://schemas.microsoft.com/office/drawing/2014/main" id="{22820D13-7B77-6F06-F4E8-29EFA02B45DC}"/>
              </a:ext>
            </a:extLst>
          </p:cNvPr>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1028" name="Picture 4" descr="Ăn chè ngon nhất tại TPHCM không thể bỏ qua Changhi">
            <a:extLst>
              <a:ext uri="{FF2B5EF4-FFF2-40B4-BE49-F238E27FC236}">
                <a16:creationId xmlns:a16="http://schemas.microsoft.com/office/drawing/2014/main" id="{40DAD1BC-5C2B-A0E6-FED0-151070EAD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075" y="1799566"/>
            <a:ext cx="4639929" cy="2029969"/>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2C82DF9-B9EE-418D-DFB9-E6813B874288}"/>
              </a:ext>
            </a:extLst>
          </p:cNvPr>
          <p:cNvGrpSpPr/>
          <p:nvPr/>
        </p:nvGrpSpPr>
        <p:grpSpPr>
          <a:xfrm>
            <a:off x="533400" y="5427938"/>
            <a:ext cx="7796449" cy="1125262"/>
            <a:chOff x="153964" y="5443729"/>
            <a:chExt cx="7796449" cy="1125262"/>
          </a:xfrm>
        </p:grpSpPr>
        <p:pic>
          <p:nvPicPr>
            <p:cNvPr id="1026" name="Picture 2" descr="Sản phẩm Chuối già Nam Mỹ từ Union Trading, chuẩn từ nông trại đến bàn ăn">
              <a:extLst>
                <a:ext uri="{FF2B5EF4-FFF2-40B4-BE49-F238E27FC236}">
                  <a16:creationId xmlns:a16="http://schemas.microsoft.com/office/drawing/2014/main" id="{3A50C69B-4ABA-D47E-336C-C6BBDEC7A9DC}"/>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53964" y="5506218"/>
              <a:ext cx="1231472" cy="104903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AD109A2C-A01D-4A77-6F78-DBFF2CD56360}"/>
                </a:ext>
              </a:extLst>
            </p:cNvPr>
            <p:cNvGrpSpPr/>
            <p:nvPr/>
          </p:nvGrpSpPr>
          <p:grpSpPr>
            <a:xfrm>
              <a:off x="1490381" y="5443729"/>
              <a:ext cx="6460032" cy="1125262"/>
              <a:chOff x="1490381" y="5443729"/>
              <a:chExt cx="6460032" cy="1125262"/>
            </a:xfrm>
          </p:grpSpPr>
          <p:grpSp>
            <p:nvGrpSpPr>
              <p:cNvPr id="8" name="Group 7">
                <a:extLst>
                  <a:ext uri="{FF2B5EF4-FFF2-40B4-BE49-F238E27FC236}">
                    <a16:creationId xmlns:a16="http://schemas.microsoft.com/office/drawing/2014/main" id="{9D33F0EB-84EB-09E3-45CB-3FED231F6C8D}"/>
                  </a:ext>
                </a:extLst>
              </p:cNvPr>
              <p:cNvGrpSpPr/>
              <p:nvPr/>
            </p:nvGrpSpPr>
            <p:grpSpPr>
              <a:xfrm>
                <a:off x="1490381" y="5443729"/>
                <a:ext cx="6460032" cy="1125262"/>
                <a:chOff x="1490381" y="5443729"/>
                <a:chExt cx="6460032" cy="1125262"/>
              </a:xfrm>
            </p:grpSpPr>
            <p:pic>
              <p:nvPicPr>
                <p:cNvPr id="1032" name="Picture 8" descr="bột quả bơ TV 100g Nguyên liệu thực phẩm Thiên Bảo Anh">
                  <a:extLst>
                    <a:ext uri="{FF2B5EF4-FFF2-40B4-BE49-F238E27FC236}">
                      <a16:creationId xmlns:a16="http://schemas.microsoft.com/office/drawing/2014/main" id="{3260B723-EC14-E121-6854-CE20B94CF3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0381" y="5549816"/>
                  <a:ext cx="1348447" cy="101917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EB19CBC-F74A-78F7-8AC1-99E22026810F}"/>
                    </a:ext>
                  </a:extLst>
                </p:cNvPr>
                <p:cNvGrpSpPr/>
                <p:nvPr/>
              </p:nvGrpSpPr>
              <p:grpSpPr>
                <a:xfrm>
                  <a:off x="3262742" y="5443729"/>
                  <a:ext cx="4687671" cy="1095183"/>
                  <a:chOff x="3262742" y="5443729"/>
                  <a:chExt cx="4687671" cy="1095183"/>
                </a:xfrm>
              </p:grpSpPr>
              <p:pic>
                <p:nvPicPr>
                  <p:cNvPr id="1034" name="Picture 10" descr="CỔNG THÔNG TIN ĐIỆN TỬ TỈNH ĐỒNG THÁP">
                    <a:extLst>
                      <a:ext uri="{FF2B5EF4-FFF2-40B4-BE49-F238E27FC236}">
                        <a16:creationId xmlns:a16="http://schemas.microsoft.com/office/drawing/2014/main" id="{E0000F0E-2185-182A-4F36-DF979AC6F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742" y="5641513"/>
                    <a:ext cx="1353454" cy="89739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ĐẬU ĐỎ TÂY | SỈ LẺ ĐẬU ĐỎ TÂY">
                    <a:extLst>
                      <a:ext uri="{FF2B5EF4-FFF2-40B4-BE49-F238E27FC236}">
                        <a16:creationId xmlns:a16="http://schemas.microsoft.com/office/drawing/2014/main" id="{FE5E56E7-9CE6-701E-3791-D60F8539AC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8866" y="5443729"/>
                    <a:ext cx="1531547" cy="10191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TextBox 5">
                <a:extLst>
                  <a:ext uri="{FF2B5EF4-FFF2-40B4-BE49-F238E27FC236}">
                    <a16:creationId xmlns:a16="http://schemas.microsoft.com/office/drawing/2014/main" id="{FB4BAD3F-4244-B807-E606-8980E7D9EB9E}"/>
                  </a:ext>
                </a:extLst>
              </p:cNvPr>
              <p:cNvSpPr txBox="1"/>
              <p:nvPr/>
            </p:nvSpPr>
            <p:spPr>
              <a:xfrm>
                <a:off x="5215043" y="5987326"/>
                <a:ext cx="934871" cy="369332"/>
              </a:xfrm>
              <a:prstGeom prst="rect">
                <a:avLst/>
              </a:prstGeom>
              <a:noFill/>
            </p:spPr>
            <p:txBody>
              <a:bodyPr wrap="none" rtlCol="0">
                <a:spAutoFit/>
              </a:bodyPr>
              <a:lstStyle/>
              <a:p>
                <a:r>
                  <a:rPr lang="en-US" dirty="0"/>
                  <a:t>…………..</a:t>
                </a:r>
              </a:p>
            </p:txBody>
          </p:sp>
        </p:grpSp>
      </p:grpSp>
      <p:sp>
        <p:nvSpPr>
          <p:cNvPr id="3" name="TextBox 2">
            <a:extLst>
              <a:ext uri="{FF2B5EF4-FFF2-40B4-BE49-F238E27FC236}">
                <a16:creationId xmlns:a16="http://schemas.microsoft.com/office/drawing/2014/main" id="{F8F190A8-9BED-4593-D81D-82934D91503C}"/>
              </a:ext>
            </a:extLst>
          </p:cNvPr>
          <p:cNvSpPr txBox="1"/>
          <p:nvPr/>
        </p:nvSpPr>
        <p:spPr>
          <a:xfrm>
            <a:off x="5169080" y="2814550"/>
            <a:ext cx="4038600" cy="2339102"/>
          </a:xfrm>
          <a:prstGeom prst="rect">
            <a:avLst/>
          </a:prstGeom>
          <a:noFill/>
        </p:spPr>
        <p:txBody>
          <a:bodyPr wrap="square" rtlCol="0">
            <a:spAutoFit/>
          </a:bodyPr>
          <a:lstStyle/>
          <a:p>
            <a:r>
              <a:rPr lang="en-US" sz="1600" b="1" dirty="0">
                <a:solidFill>
                  <a:srgbClr val="0070C0"/>
                </a:solidFill>
              </a:rPr>
              <a:t>class </a:t>
            </a:r>
            <a:r>
              <a:rPr lang="en-US" sz="1600" b="1" dirty="0">
                <a:solidFill>
                  <a:srgbClr val="FF0000"/>
                </a:solidFill>
              </a:rPr>
              <a:t>Che</a:t>
            </a:r>
          </a:p>
          <a:p>
            <a:r>
              <a:rPr lang="en-US" sz="1600" b="1" dirty="0">
                <a:solidFill>
                  <a:srgbClr val="0070C0"/>
                </a:solidFill>
              </a:rPr>
              <a:t>{</a:t>
            </a:r>
          </a:p>
          <a:p>
            <a:r>
              <a:rPr lang="en-US" sz="1600" b="1" dirty="0">
                <a:solidFill>
                  <a:srgbClr val="0070C0"/>
                </a:solidFill>
              </a:rPr>
              <a:t>    List&lt;</a:t>
            </a:r>
            <a:r>
              <a:rPr lang="en-US" sz="1600" b="1" dirty="0" err="1">
                <a:solidFill>
                  <a:srgbClr val="FF0000"/>
                </a:solidFill>
              </a:rPr>
              <a:t>TraiCay</a:t>
            </a:r>
            <a:r>
              <a:rPr lang="en-US" sz="1600" b="1" dirty="0">
                <a:solidFill>
                  <a:srgbClr val="0070C0"/>
                </a:solidFill>
              </a:rPr>
              <a:t>&gt; </a:t>
            </a:r>
            <a:r>
              <a:rPr lang="en-US" sz="1600" b="1" dirty="0">
                <a:solidFill>
                  <a:srgbClr val="FF0000"/>
                </a:solidFill>
              </a:rPr>
              <a:t>ds</a:t>
            </a:r>
            <a:r>
              <a:rPr lang="en-US" sz="1600" b="1" dirty="0">
                <a:solidFill>
                  <a:srgbClr val="0070C0"/>
                </a:solidFill>
              </a:rPr>
              <a:t> = new List&lt;</a:t>
            </a:r>
            <a:r>
              <a:rPr lang="en-US" sz="1600" b="1" dirty="0" err="1">
                <a:solidFill>
                  <a:srgbClr val="FF0000"/>
                </a:solidFill>
              </a:rPr>
              <a:t>TraiCay</a:t>
            </a:r>
            <a:r>
              <a:rPr lang="en-US" sz="1600" b="1" dirty="0">
                <a:solidFill>
                  <a:srgbClr val="0070C0"/>
                </a:solidFill>
              </a:rPr>
              <a:t>&gt;();</a:t>
            </a:r>
          </a:p>
          <a:p>
            <a:r>
              <a:rPr lang="en-US" sz="1600" b="1" dirty="0">
                <a:solidFill>
                  <a:srgbClr val="0070C0"/>
                </a:solidFill>
              </a:rPr>
              <a:t>    public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foreach(</a:t>
            </a:r>
            <a:r>
              <a:rPr lang="en-US" sz="1600" b="1" dirty="0" err="1">
                <a:solidFill>
                  <a:srgbClr val="FF0000"/>
                </a:solidFill>
              </a:rPr>
              <a:t>TraiCay</a:t>
            </a:r>
            <a:r>
              <a:rPr lang="en-US" sz="1600" b="1" dirty="0">
                <a:solidFill>
                  <a:srgbClr val="0070C0"/>
                </a:solidFill>
              </a:rPr>
              <a:t> t in </a:t>
            </a:r>
            <a:r>
              <a:rPr lang="en-US" sz="1600" b="1" dirty="0">
                <a:solidFill>
                  <a:srgbClr val="FF0000"/>
                </a:solidFill>
              </a:rPr>
              <a:t>ds</a:t>
            </a:r>
            <a:r>
              <a:rPr lang="en-US" sz="1600" b="1" dirty="0">
                <a:solidFill>
                  <a:srgbClr val="0070C0"/>
                </a:solidFill>
              </a:rPr>
              <a:t>)</a:t>
            </a:r>
          </a:p>
          <a:p>
            <a:r>
              <a:rPr lang="en-US" sz="1600" b="1" dirty="0">
                <a:solidFill>
                  <a:srgbClr val="0070C0"/>
                </a:solidFill>
              </a:rPr>
              <a:t>	</a:t>
            </a:r>
            <a:r>
              <a:rPr lang="en-US" sz="1600" b="1" dirty="0" err="1">
                <a:solidFill>
                  <a:srgbClr val="0070C0"/>
                </a:solidFill>
              </a:rPr>
              <a:t>t.</a:t>
            </a:r>
            <a:r>
              <a:rPr lang="en-US" sz="1600" b="1" dirty="0" err="1">
                <a:solidFill>
                  <a:srgbClr val="FF0000"/>
                </a:solidFill>
              </a:rPr>
              <a:t>CheBien</a:t>
            </a:r>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sp>
        <p:nvSpPr>
          <p:cNvPr id="5" name="TextBox 4">
            <a:extLst>
              <a:ext uri="{FF2B5EF4-FFF2-40B4-BE49-F238E27FC236}">
                <a16:creationId xmlns:a16="http://schemas.microsoft.com/office/drawing/2014/main" id="{DF9BFEDE-8133-A774-B2ED-D55F23B8A712}"/>
              </a:ext>
            </a:extLst>
          </p:cNvPr>
          <p:cNvSpPr txBox="1"/>
          <p:nvPr/>
        </p:nvSpPr>
        <p:spPr>
          <a:xfrm>
            <a:off x="5096790" y="807012"/>
            <a:ext cx="4038600" cy="2062103"/>
          </a:xfrm>
          <a:prstGeom prst="rect">
            <a:avLst/>
          </a:prstGeom>
          <a:noFill/>
        </p:spPr>
        <p:txBody>
          <a:bodyPr wrap="square" rtlCol="0">
            <a:spAutoFit/>
          </a:bodyPr>
          <a:lstStyle/>
          <a:p>
            <a:r>
              <a:rPr lang="en-US" sz="1600" b="1" dirty="0">
                <a:solidFill>
                  <a:srgbClr val="0070C0"/>
                </a:solidFill>
              </a:rPr>
              <a:t>class </a:t>
            </a:r>
            <a:r>
              <a:rPr lang="en-US" sz="1600" b="1" dirty="0" err="1">
                <a:solidFill>
                  <a:srgbClr val="FF0000"/>
                </a:solidFill>
              </a:rPr>
              <a:t>TraiCay</a:t>
            </a:r>
            <a:endParaRPr lang="en-US" sz="1600" b="1" dirty="0">
              <a:solidFill>
                <a:srgbClr val="FF0000"/>
              </a:solidFill>
            </a:endParaRPr>
          </a:p>
          <a:p>
            <a:r>
              <a:rPr lang="en-US" sz="1600" b="1" dirty="0">
                <a:solidFill>
                  <a:srgbClr val="0070C0"/>
                </a:solidFill>
              </a:rPr>
              <a:t>{</a:t>
            </a:r>
          </a:p>
          <a:p>
            <a:r>
              <a:rPr lang="en-US" sz="1600" b="1" dirty="0">
                <a:solidFill>
                  <a:srgbClr val="0070C0"/>
                </a:solidFill>
              </a:rPr>
              <a:t>     public string </a:t>
            </a:r>
            <a:r>
              <a:rPr lang="en-US" sz="1600" b="1" dirty="0">
                <a:solidFill>
                  <a:srgbClr val="FF0000"/>
                </a:solidFill>
              </a:rPr>
              <a:t>ten</a:t>
            </a:r>
            <a:r>
              <a:rPr lang="en-US" sz="1600" b="1" dirty="0">
                <a:solidFill>
                  <a:srgbClr val="0070C0"/>
                </a:solidFill>
              </a:rPr>
              <a:t>;</a:t>
            </a:r>
          </a:p>
          <a:p>
            <a:r>
              <a:rPr lang="en-US" sz="1600" b="1" dirty="0">
                <a:solidFill>
                  <a:srgbClr val="0070C0"/>
                </a:solidFill>
              </a:rPr>
              <a:t>     public float </a:t>
            </a:r>
            <a:r>
              <a:rPr lang="en-US" sz="1600" b="1" dirty="0" err="1">
                <a:solidFill>
                  <a:srgbClr val="FF0000"/>
                </a:solidFill>
              </a:rPr>
              <a:t>canNang</a:t>
            </a:r>
            <a:r>
              <a:rPr lang="en-US" sz="1600" b="1" dirty="0">
                <a:solidFill>
                  <a:srgbClr val="0070C0"/>
                </a:solidFill>
              </a:rPr>
              <a:t>; 	</a:t>
            </a:r>
          </a:p>
          <a:p>
            <a:r>
              <a:rPr lang="en-US" sz="1600" b="1" dirty="0">
                <a:solidFill>
                  <a:srgbClr val="0070C0"/>
                </a:solidFill>
              </a:rPr>
              <a:t>     public </a:t>
            </a:r>
            <a:r>
              <a:rPr lang="en-US" sz="1600" b="1" dirty="0">
                <a:solidFill>
                  <a:srgbClr val="FF0000"/>
                </a:solidFill>
              </a:rPr>
              <a:t>virtual</a:t>
            </a:r>
            <a:r>
              <a:rPr lang="en-US" sz="1600" b="1" dirty="0">
                <a:solidFill>
                  <a:srgbClr val="0070C0"/>
                </a:solidFill>
              </a:rPr>
              <a:t>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sp>
        <p:nvSpPr>
          <p:cNvPr id="12" name="TextBox 11">
            <a:extLst>
              <a:ext uri="{FF2B5EF4-FFF2-40B4-BE49-F238E27FC236}">
                <a16:creationId xmlns:a16="http://schemas.microsoft.com/office/drawing/2014/main" id="{F64D283F-B2F9-2872-7C77-C4E7FAA9B4F3}"/>
              </a:ext>
            </a:extLst>
          </p:cNvPr>
          <p:cNvSpPr txBox="1"/>
          <p:nvPr/>
        </p:nvSpPr>
        <p:spPr>
          <a:xfrm>
            <a:off x="1755728" y="4570539"/>
            <a:ext cx="4613148" cy="369332"/>
          </a:xfrm>
          <a:prstGeom prst="rect">
            <a:avLst/>
          </a:prstGeom>
          <a:noFill/>
        </p:spPr>
        <p:txBody>
          <a:bodyPr wrap="square">
            <a:spAutoFit/>
          </a:bodyPr>
          <a:lstStyle/>
          <a:p>
            <a:r>
              <a:rPr lang="en-US" sz="1800" b="1" dirty="0">
                <a:solidFill>
                  <a:srgbClr val="0070C0"/>
                </a:solidFill>
              </a:rPr>
              <a:t>class </a:t>
            </a:r>
            <a:r>
              <a:rPr lang="en-US" sz="1800" b="1" dirty="0" err="1">
                <a:solidFill>
                  <a:srgbClr val="FF0000"/>
                </a:solidFill>
              </a:rPr>
              <a:t>TraiCay</a:t>
            </a:r>
            <a:endParaRPr lang="en-US" sz="1800" b="1" dirty="0">
              <a:solidFill>
                <a:srgbClr val="FF0000"/>
              </a:solidFill>
            </a:endParaRPr>
          </a:p>
        </p:txBody>
      </p:sp>
      <p:cxnSp>
        <p:nvCxnSpPr>
          <p:cNvPr id="14" name="Straight Arrow Connector 13">
            <a:extLst>
              <a:ext uri="{FF2B5EF4-FFF2-40B4-BE49-F238E27FC236}">
                <a16:creationId xmlns:a16="http://schemas.microsoft.com/office/drawing/2014/main" id="{B0A03ADF-0A2F-67D9-BFF7-CC96FEB871CD}"/>
              </a:ext>
            </a:extLst>
          </p:cNvPr>
          <p:cNvCxnSpPr>
            <a:endCxn id="1026" idx="0"/>
          </p:cNvCxnSpPr>
          <p:nvPr/>
        </p:nvCxnSpPr>
        <p:spPr>
          <a:xfrm flipH="1">
            <a:off x="1149136" y="4940965"/>
            <a:ext cx="1394903" cy="5494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CB5777D-0A8A-9DD6-585E-1A7C9C79A850}"/>
              </a:ext>
            </a:extLst>
          </p:cNvPr>
          <p:cNvCxnSpPr>
            <a:cxnSpLocks/>
            <a:endCxn id="1032" idx="0"/>
          </p:cNvCxnSpPr>
          <p:nvPr/>
        </p:nvCxnSpPr>
        <p:spPr>
          <a:xfrm>
            <a:off x="2544039" y="4940965"/>
            <a:ext cx="2" cy="5930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0A03ADF-0A2F-67D9-BFF7-CC96FEB871CD}"/>
              </a:ext>
            </a:extLst>
          </p:cNvPr>
          <p:cNvCxnSpPr>
            <a:cxnSpLocks/>
            <a:endCxn id="1034" idx="0"/>
          </p:cNvCxnSpPr>
          <p:nvPr/>
        </p:nvCxnSpPr>
        <p:spPr>
          <a:xfrm>
            <a:off x="2590800" y="4940965"/>
            <a:ext cx="1728105" cy="6847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3D8336-3AFB-0275-1167-206EBCA2DAE3}"/>
              </a:ext>
            </a:extLst>
          </p:cNvPr>
          <p:cNvCxnSpPr>
            <a:cxnSpLocks/>
            <a:endCxn id="1036" idx="0"/>
          </p:cNvCxnSpPr>
          <p:nvPr/>
        </p:nvCxnSpPr>
        <p:spPr>
          <a:xfrm>
            <a:off x="2590798" y="4940965"/>
            <a:ext cx="4973278" cy="4869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0C382A7-8461-AA0B-667F-1408A9B192FA}"/>
              </a:ext>
            </a:extLst>
          </p:cNvPr>
          <p:cNvSpPr txBox="1"/>
          <p:nvPr/>
        </p:nvSpPr>
        <p:spPr>
          <a:xfrm>
            <a:off x="2169803" y="6528480"/>
            <a:ext cx="4613148"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spTree>
    <p:extLst>
      <p:ext uri="{BB962C8B-B14F-4D97-AF65-F5344CB8AC3E}">
        <p14:creationId xmlns:p14="http://schemas.microsoft.com/office/powerpoint/2010/main" val="1816501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12BD-E77F-2D47-31A5-FBB9C91629D6}"/>
              </a:ext>
            </a:extLst>
          </p:cNvPr>
          <p:cNvSpPr>
            <a:spLocks noGrp="1"/>
          </p:cNvSpPr>
          <p:nvPr>
            <p:ph type="title"/>
          </p:nvPr>
        </p:nvSpPr>
        <p:spPr/>
        <p:txBody>
          <a:bodyPr>
            <a:normAutofit fontScale="90000"/>
          </a:bodyPr>
          <a:lstStyle/>
          <a:p>
            <a:r>
              <a:rPr lang="en-US" dirty="0" err="1"/>
              <a:t>Nấu</a:t>
            </a:r>
            <a:r>
              <a:rPr lang="en-US" dirty="0"/>
              <a:t> </a:t>
            </a:r>
            <a:r>
              <a:rPr lang="en-US" dirty="0" err="1"/>
              <a:t>chè</a:t>
            </a:r>
            <a:r>
              <a:rPr lang="en-US" dirty="0"/>
              <a:t> </a:t>
            </a:r>
            <a:r>
              <a:rPr lang="en-US" dirty="0" err="1"/>
              <a:t>trái</a:t>
            </a:r>
            <a:r>
              <a:rPr lang="en-US" dirty="0"/>
              <a:t> </a:t>
            </a:r>
            <a:r>
              <a:rPr lang="en-US" dirty="0" err="1"/>
              <a:t>cây</a:t>
            </a:r>
            <a:r>
              <a:rPr lang="en-US" dirty="0"/>
              <a:t> </a:t>
            </a:r>
            <a:r>
              <a:rPr lang="en-US" dirty="0" err="1"/>
              <a:t>từ</a:t>
            </a:r>
            <a:r>
              <a:rPr lang="en-US" dirty="0"/>
              <a:t> </a:t>
            </a:r>
            <a:r>
              <a:rPr lang="en-US" dirty="0" err="1"/>
              <a:t>góc</a:t>
            </a:r>
            <a:r>
              <a:rPr lang="en-US" dirty="0"/>
              <a:t> </a:t>
            </a:r>
            <a:r>
              <a:rPr lang="en-US" dirty="0" err="1"/>
              <a:t>độ</a:t>
            </a:r>
            <a:r>
              <a:rPr lang="en-US" dirty="0"/>
              <a:t> OOP</a:t>
            </a:r>
          </a:p>
        </p:txBody>
      </p:sp>
      <p:sp>
        <p:nvSpPr>
          <p:cNvPr id="4" name="Slide Number Placeholder 3">
            <a:extLst>
              <a:ext uri="{FF2B5EF4-FFF2-40B4-BE49-F238E27FC236}">
                <a16:creationId xmlns:a16="http://schemas.microsoft.com/office/drawing/2014/main" id="{22820D13-7B77-6F06-F4E8-29EFA02B45DC}"/>
              </a:ext>
            </a:extLst>
          </p:cNvPr>
          <p:cNvSpPr>
            <a:spLocks noGrp="1"/>
          </p:cNvSpPr>
          <p:nvPr>
            <p:ph type="sldNum" sz="quarter" idx="12"/>
          </p:nvPr>
        </p:nvSpPr>
        <p:spPr/>
        <p:txBody>
          <a:bodyPr/>
          <a:lstStyle/>
          <a:p>
            <a:fld id="{B6F15528-21DE-4FAA-801E-634DDDAF4B2B}" type="slidenum">
              <a:rPr lang="en-US" smtClean="0"/>
              <a:pPr/>
              <a:t>23</a:t>
            </a:fld>
            <a:endParaRPr lang="en-US"/>
          </a:p>
        </p:txBody>
      </p:sp>
      <p:pic>
        <p:nvPicPr>
          <p:cNvPr id="1028" name="Picture 4" descr="Ăn chè ngon nhất tại TPHCM không thể bỏ qua Changhi">
            <a:extLst>
              <a:ext uri="{FF2B5EF4-FFF2-40B4-BE49-F238E27FC236}">
                <a16:creationId xmlns:a16="http://schemas.microsoft.com/office/drawing/2014/main" id="{40DAD1BC-5C2B-A0E6-FED0-151070EAD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399031"/>
            <a:ext cx="9067800" cy="3967163"/>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2C82DF9-B9EE-418D-DFB9-E6813B874288}"/>
              </a:ext>
            </a:extLst>
          </p:cNvPr>
          <p:cNvGrpSpPr/>
          <p:nvPr/>
        </p:nvGrpSpPr>
        <p:grpSpPr>
          <a:xfrm>
            <a:off x="228600" y="5691186"/>
            <a:ext cx="4162684" cy="930275"/>
            <a:chOff x="153964" y="5443729"/>
            <a:chExt cx="7796449" cy="1125262"/>
          </a:xfrm>
        </p:grpSpPr>
        <p:pic>
          <p:nvPicPr>
            <p:cNvPr id="1026" name="Picture 2" descr="Sản phẩm Chuối già Nam Mỹ từ Union Trading, chuẩn từ nông trại đến bàn ăn">
              <a:extLst>
                <a:ext uri="{FF2B5EF4-FFF2-40B4-BE49-F238E27FC236}">
                  <a16:creationId xmlns:a16="http://schemas.microsoft.com/office/drawing/2014/main" id="{3A50C69B-4ABA-D47E-336C-C6BBDEC7A9DC}"/>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53964" y="5506218"/>
              <a:ext cx="1231472" cy="1049032"/>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AD109A2C-A01D-4A77-6F78-DBFF2CD56360}"/>
                </a:ext>
              </a:extLst>
            </p:cNvPr>
            <p:cNvGrpSpPr/>
            <p:nvPr/>
          </p:nvGrpSpPr>
          <p:grpSpPr>
            <a:xfrm>
              <a:off x="1490381" y="5443729"/>
              <a:ext cx="6460032" cy="1125262"/>
              <a:chOff x="1490381" y="5443729"/>
              <a:chExt cx="6460032" cy="1125262"/>
            </a:xfrm>
          </p:grpSpPr>
          <p:grpSp>
            <p:nvGrpSpPr>
              <p:cNvPr id="8" name="Group 7">
                <a:extLst>
                  <a:ext uri="{FF2B5EF4-FFF2-40B4-BE49-F238E27FC236}">
                    <a16:creationId xmlns:a16="http://schemas.microsoft.com/office/drawing/2014/main" id="{9D33F0EB-84EB-09E3-45CB-3FED231F6C8D}"/>
                  </a:ext>
                </a:extLst>
              </p:cNvPr>
              <p:cNvGrpSpPr/>
              <p:nvPr/>
            </p:nvGrpSpPr>
            <p:grpSpPr>
              <a:xfrm>
                <a:off x="1490381" y="5443729"/>
                <a:ext cx="6460032" cy="1125262"/>
                <a:chOff x="1490381" y="5443729"/>
                <a:chExt cx="6460032" cy="1125262"/>
              </a:xfrm>
            </p:grpSpPr>
            <p:pic>
              <p:nvPicPr>
                <p:cNvPr id="1032" name="Picture 8" descr="bột quả bơ TV 100g Nguyên liệu thực phẩm Thiên Bảo Anh">
                  <a:extLst>
                    <a:ext uri="{FF2B5EF4-FFF2-40B4-BE49-F238E27FC236}">
                      <a16:creationId xmlns:a16="http://schemas.microsoft.com/office/drawing/2014/main" id="{3260B723-EC14-E121-6854-CE20B94CF3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0381" y="5549816"/>
                  <a:ext cx="1348447" cy="101917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EB19CBC-F74A-78F7-8AC1-99E22026810F}"/>
                    </a:ext>
                  </a:extLst>
                </p:cNvPr>
                <p:cNvGrpSpPr/>
                <p:nvPr/>
              </p:nvGrpSpPr>
              <p:grpSpPr>
                <a:xfrm>
                  <a:off x="3262742" y="5443729"/>
                  <a:ext cx="4687671" cy="1095183"/>
                  <a:chOff x="3262742" y="5443729"/>
                  <a:chExt cx="4687671" cy="1095183"/>
                </a:xfrm>
              </p:grpSpPr>
              <p:pic>
                <p:nvPicPr>
                  <p:cNvPr id="1034" name="Picture 10" descr="CỔNG THÔNG TIN ĐIỆN TỬ TỈNH ĐỒNG THÁP">
                    <a:extLst>
                      <a:ext uri="{FF2B5EF4-FFF2-40B4-BE49-F238E27FC236}">
                        <a16:creationId xmlns:a16="http://schemas.microsoft.com/office/drawing/2014/main" id="{E0000F0E-2185-182A-4F36-DF979AC6F30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2742" y="5641513"/>
                    <a:ext cx="1353454" cy="89739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ĐẬU ĐỎ TÂY | SỈ LẺ ĐẬU ĐỎ TÂY">
                    <a:extLst>
                      <a:ext uri="{FF2B5EF4-FFF2-40B4-BE49-F238E27FC236}">
                        <a16:creationId xmlns:a16="http://schemas.microsoft.com/office/drawing/2014/main" id="{FE5E56E7-9CE6-701E-3791-D60F8539AC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8866" y="5443729"/>
                    <a:ext cx="1531547" cy="10191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 name="TextBox 5">
                <a:extLst>
                  <a:ext uri="{FF2B5EF4-FFF2-40B4-BE49-F238E27FC236}">
                    <a16:creationId xmlns:a16="http://schemas.microsoft.com/office/drawing/2014/main" id="{FB4BAD3F-4244-B807-E606-8980E7D9EB9E}"/>
                  </a:ext>
                </a:extLst>
              </p:cNvPr>
              <p:cNvSpPr txBox="1"/>
              <p:nvPr/>
            </p:nvSpPr>
            <p:spPr>
              <a:xfrm>
                <a:off x="5215043" y="5987326"/>
                <a:ext cx="934871" cy="369332"/>
              </a:xfrm>
              <a:prstGeom prst="rect">
                <a:avLst/>
              </a:prstGeom>
              <a:noFill/>
            </p:spPr>
            <p:txBody>
              <a:bodyPr wrap="none" rtlCol="0">
                <a:spAutoFit/>
              </a:bodyPr>
              <a:lstStyle/>
              <a:p>
                <a:r>
                  <a:rPr lang="en-US" dirty="0"/>
                  <a:t>…………..</a:t>
                </a:r>
              </a:p>
            </p:txBody>
          </p:sp>
        </p:grpSp>
      </p:grpSp>
      <p:grpSp>
        <p:nvGrpSpPr>
          <p:cNvPr id="13" name="Group 12">
            <a:extLst>
              <a:ext uri="{FF2B5EF4-FFF2-40B4-BE49-F238E27FC236}">
                <a16:creationId xmlns:a16="http://schemas.microsoft.com/office/drawing/2014/main" id="{95A1167C-C347-42A6-6AE3-D728783BEE7F}"/>
              </a:ext>
            </a:extLst>
          </p:cNvPr>
          <p:cNvGrpSpPr/>
          <p:nvPr/>
        </p:nvGrpSpPr>
        <p:grpSpPr>
          <a:xfrm>
            <a:off x="4808946" y="5854698"/>
            <a:ext cx="4219496" cy="700552"/>
            <a:chOff x="4808946" y="5854698"/>
            <a:chExt cx="4219496" cy="700552"/>
          </a:xfrm>
        </p:grpSpPr>
        <p:sp>
          <p:nvSpPr>
            <p:cNvPr id="3" name="TextBox 2">
              <a:extLst>
                <a:ext uri="{FF2B5EF4-FFF2-40B4-BE49-F238E27FC236}">
                  <a16:creationId xmlns:a16="http://schemas.microsoft.com/office/drawing/2014/main" id="{898C85EC-C6C8-7607-1034-0B8C7CBA8DC9}"/>
                </a:ext>
              </a:extLst>
            </p:cNvPr>
            <p:cNvSpPr txBox="1"/>
            <p:nvPr/>
          </p:nvSpPr>
          <p:spPr>
            <a:xfrm>
              <a:off x="7255560" y="5996409"/>
              <a:ext cx="617477" cy="369332"/>
            </a:xfrm>
            <a:prstGeom prst="rect">
              <a:avLst/>
            </a:prstGeom>
            <a:noFill/>
            <a:ln w="19050">
              <a:noFill/>
            </a:ln>
          </p:spPr>
          <p:txBody>
            <a:bodyPr wrap="none" rtlCol="0">
              <a:spAutoFit/>
            </a:bodyPr>
            <a:lstStyle/>
            <a:p>
              <a:r>
                <a:rPr lang="en-US" dirty="0"/>
                <a:t>……..</a:t>
              </a:r>
            </a:p>
          </p:txBody>
        </p:sp>
        <p:pic>
          <p:nvPicPr>
            <p:cNvPr id="5" name="Picture 4" descr="Đường tinh luyện là gì? Tác hại của đường tinh luyện đối với sức khỏe">
              <a:extLst>
                <a:ext uri="{FF2B5EF4-FFF2-40B4-BE49-F238E27FC236}">
                  <a16:creationId xmlns:a16="http://schemas.microsoft.com/office/drawing/2014/main" id="{0032D55F-B999-A336-02DA-0EBC940579D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08946" y="5976996"/>
              <a:ext cx="940072" cy="528201"/>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pic>
          <p:nvPicPr>
            <p:cNvPr id="11" name="Picture 6" descr="Một nắm muối gây ra 9 loại bệnh và 5 cách ăn muối tốt cho sức khỏe">
              <a:extLst>
                <a:ext uri="{FF2B5EF4-FFF2-40B4-BE49-F238E27FC236}">
                  <a16:creationId xmlns:a16="http://schemas.microsoft.com/office/drawing/2014/main" id="{2A3A5E28-FE22-8712-3C75-728942C6186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13555" y="5862852"/>
              <a:ext cx="924387" cy="692398"/>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pic>
          <p:nvPicPr>
            <p:cNvPr id="3074" name="Picture 2" descr="Tác hại của việc uống nước dừa mỗi ngày - Báo Quảng Ninh điện tử">
              <a:extLst>
                <a:ext uri="{FF2B5EF4-FFF2-40B4-BE49-F238E27FC236}">
                  <a16:creationId xmlns:a16="http://schemas.microsoft.com/office/drawing/2014/main" id="{C845F05D-F76C-CBED-D61F-7DCDE78E438E}"/>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912050" y="5854698"/>
              <a:ext cx="1116392" cy="63100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53893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12BD-E77F-2D47-31A5-FBB9C91629D6}"/>
              </a:ext>
            </a:extLst>
          </p:cNvPr>
          <p:cNvSpPr>
            <a:spLocks noGrp="1"/>
          </p:cNvSpPr>
          <p:nvPr>
            <p:ph type="title"/>
          </p:nvPr>
        </p:nvSpPr>
        <p:spPr/>
        <p:txBody>
          <a:bodyPr>
            <a:normAutofit fontScale="90000"/>
          </a:bodyPr>
          <a:lstStyle/>
          <a:p>
            <a:r>
              <a:rPr lang="en-US" dirty="0" err="1"/>
              <a:t>Chè</a:t>
            </a:r>
            <a:r>
              <a:rPr lang="en-US" dirty="0"/>
              <a:t> </a:t>
            </a:r>
            <a:r>
              <a:rPr lang="en-US" dirty="0" err="1"/>
              <a:t>trái</a:t>
            </a:r>
            <a:r>
              <a:rPr lang="en-US" dirty="0"/>
              <a:t> </a:t>
            </a:r>
            <a:r>
              <a:rPr lang="en-US" dirty="0" err="1"/>
              <a:t>cây</a:t>
            </a:r>
            <a:endParaRPr lang="en-US" dirty="0"/>
          </a:p>
        </p:txBody>
      </p:sp>
      <p:sp>
        <p:nvSpPr>
          <p:cNvPr id="4" name="Slide Number Placeholder 3">
            <a:extLst>
              <a:ext uri="{FF2B5EF4-FFF2-40B4-BE49-F238E27FC236}">
                <a16:creationId xmlns:a16="http://schemas.microsoft.com/office/drawing/2014/main" id="{22820D13-7B77-6F06-F4E8-29EFA02B45DC}"/>
              </a:ext>
            </a:extLst>
          </p:cNvPr>
          <p:cNvSpPr>
            <a:spLocks noGrp="1"/>
          </p:cNvSpPr>
          <p:nvPr>
            <p:ph type="sldNum" sz="quarter" idx="12"/>
          </p:nvPr>
        </p:nvSpPr>
        <p:spPr/>
        <p:txBody>
          <a:bodyPr/>
          <a:lstStyle/>
          <a:p>
            <a:fld id="{B6F15528-21DE-4FAA-801E-634DDDAF4B2B}" type="slidenum">
              <a:rPr lang="en-US" smtClean="0"/>
              <a:pPr/>
              <a:t>24</a:t>
            </a:fld>
            <a:endParaRPr lang="en-US" dirty="0"/>
          </a:p>
        </p:txBody>
      </p:sp>
      <p:pic>
        <p:nvPicPr>
          <p:cNvPr id="1028" name="Picture 4" descr="Ăn chè ngon nhất tại TPHCM không thể bỏ qua Changhi">
            <a:extLst>
              <a:ext uri="{FF2B5EF4-FFF2-40B4-BE49-F238E27FC236}">
                <a16:creationId xmlns:a16="http://schemas.microsoft.com/office/drawing/2014/main" id="{40DAD1BC-5C2B-A0E6-FED0-151070EAD8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617" y="3254103"/>
            <a:ext cx="2489821" cy="13931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F190A8-9BED-4593-D81D-82934D91503C}"/>
              </a:ext>
            </a:extLst>
          </p:cNvPr>
          <p:cNvSpPr txBox="1"/>
          <p:nvPr/>
        </p:nvSpPr>
        <p:spPr>
          <a:xfrm>
            <a:off x="2362200" y="2849227"/>
            <a:ext cx="4038600" cy="2677656"/>
          </a:xfrm>
          <a:prstGeom prst="rect">
            <a:avLst/>
          </a:prstGeom>
          <a:noFill/>
        </p:spPr>
        <p:txBody>
          <a:bodyPr wrap="square" rtlCol="0">
            <a:spAutoFit/>
          </a:bodyPr>
          <a:lstStyle/>
          <a:p>
            <a:r>
              <a:rPr lang="en-US" sz="1400" b="1" dirty="0">
                <a:solidFill>
                  <a:srgbClr val="0070C0"/>
                </a:solidFill>
              </a:rPr>
              <a:t>class </a:t>
            </a:r>
            <a:r>
              <a:rPr lang="en-US" sz="1400" b="1" dirty="0">
                <a:solidFill>
                  <a:srgbClr val="FF0000"/>
                </a:solidFill>
              </a:rPr>
              <a:t>Che</a:t>
            </a:r>
          </a:p>
          <a:p>
            <a:r>
              <a:rPr lang="en-US" sz="1400" b="1" dirty="0">
                <a:solidFill>
                  <a:srgbClr val="0070C0"/>
                </a:solidFill>
              </a:rPr>
              <a:t>{</a:t>
            </a:r>
          </a:p>
          <a:p>
            <a:r>
              <a:rPr lang="en-US" sz="1400" b="1" dirty="0">
                <a:solidFill>
                  <a:srgbClr val="0070C0"/>
                </a:solidFill>
              </a:rPr>
              <a:t>    List&lt;</a:t>
            </a:r>
            <a:r>
              <a:rPr lang="en-US" sz="1400" b="1" dirty="0" err="1">
                <a:solidFill>
                  <a:srgbClr val="FF0000"/>
                </a:solidFill>
              </a:rPr>
              <a:t>TraiCay</a:t>
            </a:r>
            <a:r>
              <a:rPr lang="en-US" sz="1400" b="1" dirty="0">
                <a:solidFill>
                  <a:srgbClr val="0070C0"/>
                </a:solidFill>
              </a:rPr>
              <a:t>&gt; </a:t>
            </a:r>
            <a:r>
              <a:rPr lang="en-US" sz="1400" b="1" dirty="0" err="1">
                <a:solidFill>
                  <a:srgbClr val="FF0000"/>
                </a:solidFill>
              </a:rPr>
              <a:t>dst</a:t>
            </a:r>
            <a:r>
              <a:rPr lang="en-US" sz="1400" b="1" dirty="0">
                <a:solidFill>
                  <a:srgbClr val="0070C0"/>
                </a:solidFill>
              </a:rPr>
              <a:t> = new List&lt;</a:t>
            </a:r>
            <a:r>
              <a:rPr lang="en-US" sz="1400" b="1" dirty="0" err="1">
                <a:solidFill>
                  <a:srgbClr val="FF0000"/>
                </a:solidFill>
              </a:rPr>
              <a:t>TraiCay</a:t>
            </a:r>
            <a:r>
              <a:rPr lang="en-US" sz="1400" b="1" dirty="0">
                <a:solidFill>
                  <a:srgbClr val="0070C0"/>
                </a:solidFill>
              </a:rPr>
              <a:t>&gt;();</a:t>
            </a:r>
          </a:p>
          <a:p>
            <a:r>
              <a:rPr lang="en-US" sz="1400" b="1" dirty="0">
                <a:solidFill>
                  <a:srgbClr val="0070C0"/>
                </a:solidFill>
              </a:rPr>
              <a:t>    List&lt;</a:t>
            </a:r>
            <a:r>
              <a:rPr lang="en-US" sz="1400" b="1" dirty="0" err="1">
                <a:solidFill>
                  <a:srgbClr val="FF0000"/>
                </a:solidFill>
              </a:rPr>
              <a:t>NguyenLieu</a:t>
            </a:r>
            <a:r>
              <a:rPr lang="en-US" sz="1400" b="1" dirty="0">
                <a:solidFill>
                  <a:srgbClr val="0070C0"/>
                </a:solidFill>
              </a:rPr>
              <a:t>&gt; </a:t>
            </a:r>
            <a:r>
              <a:rPr lang="en-US" sz="1400" b="1" dirty="0" err="1">
                <a:solidFill>
                  <a:srgbClr val="FF0000"/>
                </a:solidFill>
              </a:rPr>
              <a:t>dsn</a:t>
            </a:r>
            <a:r>
              <a:rPr lang="en-US" sz="1400" b="1" dirty="0">
                <a:solidFill>
                  <a:srgbClr val="0070C0"/>
                </a:solidFill>
              </a:rPr>
              <a:t> = new  List&lt;</a:t>
            </a:r>
            <a:r>
              <a:rPr lang="en-US" sz="1400" b="1" dirty="0" err="1">
                <a:solidFill>
                  <a:srgbClr val="FF0000"/>
                </a:solidFill>
              </a:rPr>
              <a:t>NguyenLieu</a:t>
            </a:r>
            <a:r>
              <a:rPr lang="en-US" sz="1400" b="1" dirty="0">
                <a:solidFill>
                  <a:srgbClr val="0070C0"/>
                </a:solidFill>
              </a:rPr>
              <a:t>&gt;();</a:t>
            </a:r>
          </a:p>
          <a:p>
            <a:r>
              <a:rPr lang="en-US" sz="1400" b="1" dirty="0">
                <a:solidFill>
                  <a:srgbClr val="0070C0"/>
                </a:solidFill>
              </a:rPr>
              <a:t>    public void </a:t>
            </a:r>
            <a:r>
              <a:rPr lang="en-US" sz="1400" b="1" dirty="0" err="1">
                <a:solidFill>
                  <a:srgbClr val="FF0000"/>
                </a:solidFill>
              </a:rPr>
              <a:t>CheBien</a:t>
            </a:r>
            <a:r>
              <a:rPr lang="en-US" sz="1400" b="1" dirty="0">
                <a:solidFill>
                  <a:srgbClr val="0070C0"/>
                </a:solidFill>
              </a:rPr>
              <a:t>()</a:t>
            </a:r>
          </a:p>
          <a:p>
            <a:r>
              <a:rPr lang="en-US" sz="1400" b="1" dirty="0">
                <a:solidFill>
                  <a:srgbClr val="0070C0"/>
                </a:solidFill>
              </a:rPr>
              <a:t>     {</a:t>
            </a:r>
          </a:p>
          <a:p>
            <a:r>
              <a:rPr lang="en-US" sz="1400" b="1" dirty="0">
                <a:solidFill>
                  <a:srgbClr val="0070C0"/>
                </a:solidFill>
              </a:rPr>
              <a:t>          foreach(</a:t>
            </a:r>
            <a:r>
              <a:rPr lang="en-US" sz="1400" b="1" dirty="0" err="1">
                <a:solidFill>
                  <a:srgbClr val="FF0000"/>
                </a:solidFill>
              </a:rPr>
              <a:t>TraiCay</a:t>
            </a:r>
            <a:r>
              <a:rPr lang="en-US" sz="1400" b="1" dirty="0">
                <a:solidFill>
                  <a:srgbClr val="0070C0"/>
                </a:solidFill>
              </a:rPr>
              <a:t> t in </a:t>
            </a:r>
            <a:r>
              <a:rPr lang="en-US" sz="1400" b="1" dirty="0" err="1">
                <a:solidFill>
                  <a:srgbClr val="FF0000"/>
                </a:solidFill>
              </a:rPr>
              <a:t>dst</a:t>
            </a:r>
            <a:r>
              <a:rPr lang="en-US" sz="1400" b="1" dirty="0">
                <a:solidFill>
                  <a:srgbClr val="0070C0"/>
                </a:solidFill>
              </a:rPr>
              <a:t>)</a:t>
            </a:r>
          </a:p>
          <a:p>
            <a:r>
              <a:rPr lang="en-US" sz="1400" b="1" dirty="0">
                <a:solidFill>
                  <a:srgbClr val="0070C0"/>
                </a:solidFill>
              </a:rPr>
              <a:t>	</a:t>
            </a:r>
            <a:r>
              <a:rPr lang="en-US" sz="1400" b="1" dirty="0" err="1">
                <a:solidFill>
                  <a:srgbClr val="0070C0"/>
                </a:solidFill>
              </a:rPr>
              <a:t>t.</a:t>
            </a:r>
            <a:r>
              <a:rPr lang="en-US" sz="1400" b="1" dirty="0" err="1">
                <a:solidFill>
                  <a:srgbClr val="FF0000"/>
                </a:solidFill>
              </a:rPr>
              <a:t>CheBien</a:t>
            </a:r>
            <a:r>
              <a:rPr lang="en-US" sz="1400" b="1" dirty="0">
                <a:solidFill>
                  <a:srgbClr val="0070C0"/>
                </a:solidFill>
              </a:rPr>
              <a:t>();  	</a:t>
            </a:r>
          </a:p>
          <a:p>
            <a:r>
              <a:rPr lang="en-US" sz="1400" b="1" dirty="0">
                <a:solidFill>
                  <a:srgbClr val="0070C0"/>
                </a:solidFill>
              </a:rPr>
              <a:t>         foreach(</a:t>
            </a:r>
            <a:r>
              <a:rPr lang="en-US" sz="1400" b="1" dirty="0" err="1">
                <a:solidFill>
                  <a:srgbClr val="FF0000"/>
                </a:solidFill>
              </a:rPr>
              <a:t>NguyenLieu</a:t>
            </a:r>
            <a:r>
              <a:rPr lang="en-US" sz="1400" b="1" dirty="0">
                <a:solidFill>
                  <a:srgbClr val="0070C0"/>
                </a:solidFill>
              </a:rPr>
              <a:t> l in </a:t>
            </a:r>
            <a:r>
              <a:rPr lang="en-US" sz="1400" b="1" dirty="0" err="1">
                <a:solidFill>
                  <a:srgbClr val="FF0000"/>
                </a:solidFill>
              </a:rPr>
              <a:t>dsn</a:t>
            </a:r>
            <a:r>
              <a:rPr lang="en-US" sz="1400" b="1" dirty="0">
                <a:solidFill>
                  <a:srgbClr val="0070C0"/>
                </a:solidFill>
              </a:rPr>
              <a:t>)</a:t>
            </a:r>
          </a:p>
          <a:p>
            <a:r>
              <a:rPr lang="en-US" sz="1400" b="1" dirty="0">
                <a:solidFill>
                  <a:srgbClr val="0070C0"/>
                </a:solidFill>
              </a:rPr>
              <a:t>	</a:t>
            </a:r>
            <a:r>
              <a:rPr lang="en-US" sz="1400" b="1" dirty="0" err="1">
                <a:solidFill>
                  <a:srgbClr val="0070C0"/>
                </a:solidFill>
              </a:rPr>
              <a:t>l.</a:t>
            </a:r>
            <a:r>
              <a:rPr lang="en-US" sz="1400" b="1" dirty="0" err="1">
                <a:solidFill>
                  <a:srgbClr val="FF0000"/>
                </a:solidFill>
              </a:rPr>
              <a:t>CheBien</a:t>
            </a:r>
            <a:r>
              <a:rPr lang="en-US" sz="1400" b="1" dirty="0">
                <a:solidFill>
                  <a:srgbClr val="0070C0"/>
                </a:solidFill>
              </a:rPr>
              <a:t>(); 	</a:t>
            </a:r>
          </a:p>
          <a:p>
            <a:r>
              <a:rPr lang="en-US" sz="1400" b="1" dirty="0">
                <a:solidFill>
                  <a:srgbClr val="0070C0"/>
                </a:solidFill>
              </a:rPr>
              <a:t>     }	 </a:t>
            </a:r>
          </a:p>
          <a:p>
            <a:r>
              <a:rPr lang="en-US" sz="1400" b="1" dirty="0">
                <a:solidFill>
                  <a:srgbClr val="0070C0"/>
                </a:solidFill>
              </a:rPr>
              <a:t>}</a:t>
            </a:r>
          </a:p>
        </p:txBody>
      </p:sp>
      <p:sp>
        <p:nvSpPr>
          <p:cNvPr id="5" name="TextBox 4">
            <a:extLst>
              <a:ext uri="{FF2B5EF4-FFF2-40B4-BE49-F238E27FC236}">
                <a16:creationId xmlns:a16="http://schemas.microsoft.com/office/drawing/2014/main" id="{DF9BFEDE-8133-A774-B2ED-D55F23B8A712}"/>
              </a:ext>
            </a:extLst>
          </p:cNvPr>
          <p:cNvSpPr txBox="1"/>
          <p:nvPr/>
        </p:nvSpPr>
        <p:spPr>
          <a:xfrm>
            <a:off x="661812" y="858279"/>
            <a:ext cx="4038600" cy="2062103"/>
          </a:xfrm>
          <a:prstGeom prst="rect">
            <a:avLst/>
          </a:prstGeom>
          <a:noFill/>
        </p:spPr>
        <p:txBody>
          <a:bodyPr wrap="square" rtlCol="0">
            <a:spAutoFit/>
          </a:bodyPr>
          <a:lstStyle/>
          <a:p>
            <a:r>
              <a:rPr lang="en-US" sz="1600" b="1" dirty="0">
                <a:solidFill>
                  <a:srgbClr val="0070C0"/>
                </a:solidFill>
              </a:rPr>
              <a:t>class </a:t>
            </a:r>
            <a:r>
              <a:rPr lang="en-US" sz="1600" b="1" dirty="0" err="1">
                <a:solidFill>
                  <a:srgbClr val="FF0000"/>
                </a:solidFill>
              </a:rPr>
              <a:t>TraiCay</a:t>
            </a:r>
            <a:endParaRPr lang="en-US" sz="1600" b="1" dirty="0">
              <a:solidFill>
                <a:srgbClr val="FF0000"/>
              </a:solidFill>
            </a:endParaRPr>
          </a:p>
          <a:p>
            <a:r>
              <a:rPr lang="en-US" sz="1600" b="1" dirty="0">
                <a:solidFill>
                  <a:srgbClr val="0070C0"/>
                </a:solidFill>
              </a:rPr>
              <a:t>{</a:t>
            </a:r>
          </a:p>
          <a:p>
            <a:r>
              <a:rPr lang="en-US" sz="1600" b="1" dirty="0">
                <a:solidFill>
                  <a:srgbClr val="0070C0"/>
                </a:solidFill>
              </a:rPr>
              <a:t>     public string </a:t>
            </a:r>
            <a:r>
              <a:rPr lang="en-US" sz="1600" b="1" dirty="0">
                <a:solidFill>
                  <a:srgbClr val="FF0000"/>
                </a:solidFill>
              </a:rPr>
              <a:t>ten</a:t>
            </a:r>
            <a:r>
              <a:rPr lang="en-US" sz="1600" b="1" dirty="0">
                <a:solidFill>
                  <a:srgbClr val="0070C0"/>
                </a:solidFill>
              </a:rPr>
              <a:t>;</a:t>
            </a:r>
          </a:p>
          <a:p>
            <a:r>
              <a:rPr lang="en-US" sz="1600" b="1" dirty="0">
                <a:solidFill>
                  <a:srgbClr val="0070C0"/>
                </a:solidFill>
              </a:rPr>
              <a:t>     public float </a:t>
            </a:r>
            <a:r>
              <a:rPr lang="en-US" sz="1600" b="1" dirty="0" err="1">
                <a:solidFill>
                  <a:srgbClr val="FF0000"/>
                </a:solidFill>
              </a:rPr>
              <a:t>canNang</a:t>
            </a:r>
            <a:r>
              <a:rPr lang="en-US" sz="1600" b="1" dirty="0">
                <a:solidFill>
                  <a:srgbClr val="0070C0"/>
                </a:solidFill>
              </a:rPr>
              <a:t>; 	</a:t>
            </a:r>
          </a:p>
          <a:p>
            <a:r>
              <a:rPr lang="en-US" sz="1600" b="1" dirty="0">
                <a:solidFill>
                  <a:srgbClr val="0070C0"/>
                </a:solidFill>
              </a:rPr>
              <a:t>     public </a:t>
            </a:r>
            <a:r>
              <a:rPr lang="en-US" sz="1600" b="1" dirty="0">
                <a:solidFill>
                  <a:srgbClr val="FF0000"/>
                </a:solidFill>
              </a:rPr>
              <a:t>virtual</a:t>
            </a:r>
            <a:r>
              <a:rPr lang="en-US" sz="1600" b="1" dirty="0">
                <a:solidFill>
                  <a:srgbClr val="0070C0"/>
                </a:solidFill>
              </a:rPr>
              <a:t>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sp>
        <p:nvSpPr>
          <p:cNvPr id="13" name="TextBox 12">
            <a:extLst>
              <a:ext uri="{FF2B5EF4-FFF2-40B4-BE49-F238E27FC236}">
                <a16:creationId xmlns:a16="http://schemas.microsoft.com/office/drawing/2014/main" id="{380BC627-D108-D462-2F15-9197231B51A4}"/>
              </a:ext>
            </a:extLst>
          </p:cNvPr>
          <p:cNvSpPr txBox="1"/>
          <p:nvPr/>
        </p:nvSpPr>
        <p:spPr>
          <a:xfrm>
            <a:off x="5422434" y="866312"/>
            <a:ext cx="4038600" cy="1815882"/>
          </a:xfrm>
          <a:prstGeom prst="rect">
            <a:avLst/>
          </a:prstGeom>
          <a:noFill/>
        </p:spPr>
        <p:txBody>
          <a:bodyPr wrap="square" rtlCol="0">
            <a:spAutoFit/>
          </a:bodyPr>
          <a:lstStyle/>
          <a:p>
            <a:r>
              <a:rPr lang="en-US" sz="1600" b="1" dirty="0">
                <a:solidFill>
                  <a:srgbClr val="0070C0"/>
                </a:solidFill>
              </a:rPr>
              <a:t>class </a:t>
            </a:r>
            <a:r>
              <a:rPr lang="en-US" sz="1600" b="1" dirty="0" err="1">
                <a:solidFill>
                  <a:srgbClr val="FF0000"/>
                </a:solidFill>
              </a:rPr>
              <a:t>NguyenLieu</a:t>
            </a:r>
            <a:endParaRPr lang="en-US" sz="1600" b="1" dirty="0">
              <a:solidFill>
                <a:srgbClr val="FF0000"/>
              </a:solidFill>
            </a:endParaRPr>
          </a:p>
          <a:p>
            <a:r>
              <a:rPr lang="en-US" sz="1600" b="1" dirty="0">
                <a:solidFill>
                  <a:srgbClr val="0070C0"/>
                </a:solidFill>
              </a:rPr>
              <a:t>{</a:t>
            </a:r>
          </a:p>
          <a:p>
            <a:r>
              <a:rPr lang="en-US" sz="1600" b="1" dirty="0">
                <a:solidFill>
                  <a:srgbClr val="0070C0"/>
                </a:solidFill>
              </a:rPr>
              <a:t>     public string </a:t>
            </a:r>
            <a:r>
              <a:rPr lang="en-US" sz="1600" b="1" dirty="0">
                <a:solidFill>
                  <a:srgbClr val="FF0000"/>
                </a:solidFill>
              </a:rPr>
              <a:t>ten</a:t>
            </a:r>
            <a:r>
              <a:rPr lang="en-US" sz="1600" b="1" dirty="0">
                <a:solidFill>
                  <a:srgbClr val="0070C0"/>
                </a:solidFill>
              </a:rPr>
              <a:t>;</a:t>
            </a:r>
          </a:p>
          <a:p>
            <a:r>
              <a:rPr lang="en-US" sz="1600" b="1" dirty="0">
                <a:solidFill>
                  <a:srgbClr val="0070C0"/>
                </a:solidFill>
              </a:rPr>
              <a:t>     public </a:t>
            </a:r>
            <a:r>
              <a:rPr lang="en-US" sz="1600" b="1" dirty="0">
                <a:solidFill>
                  <a:srgbClr val="FF0000"/>
                </a:solidFill>
              </a:rPr>
              <a:t>virtual</a:t>
            </a:r>
            <a:r>
              <a:rPr lang="en-US" sz="1600" b="1" dirty="0">
                <a:solidFill>
                  <a:srgbClr val="0070C0"/>
                </a:solidFill>
              </a:rPr>
              <a:t>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grpSp>
        <p:nvGrpSpPr>
          <p:cNvPr id="16" name="Group 15">
            <a:extLst>
              <a:ext uri="{FF2B5EF4-FFF2-40B4-BE49-F238E27FC236}">
                <a16:creationId xmlns:a16="http://schemas.microsoft.com/office/drawing/2014/main" id="{BFED5EF4-9B42-CE31-52AE-BDAFE95DB10F}"/>
              </a:ext>
            </a:extLst>
          </p:cNvPr>
          <p:cNvGrpSpPr/>
          <p:nvPr/>
        </p:nvGrpSpPr>
        <p:grpSpPr>
          <a:xfrm>
            <a:off x="76200" y="5402216"/>
            <a:ext cx="4038600" cy="1300917"/>
            <a:chOff x="533400" y="4062023"/>
            <a:chExt cx="7796449" cy="2835789"/>
          </a:xfrm>
        </p:grpSpPr>
        <p:grpSp>
          <p:nvGrpSpPr>
            <p:cNvPr id="17" name="Group 16">
              <a:extLst>
                <a:ext uri="{FF2B5EF4-FFF2-40B4-BE49-F238E27FC236}">
                  <a16:creationId xmlns:a16="http://schemas.microsoft.com/office/drawing/2014/main" id="{26A3A56D-ECE3-3516-290B-C1972FCC90EA}"/>
                </a:ext>
              </a:extLst>
            </p:cNvPr>
            <p:cNvGrpSpPr/>
            <p:nvPr/>
          </p:nvGrpSpPr>
          <p:grpSpPr>
            <a:xfrm>
              <a:off x="533400" y="5427938"/>
              <a:ext cx="7796449" cy="1125262"/>
              <a:chOff x="153964" y="5443729"/>
              <a:chExt cx="7796449" cy="1125262"/>
            </a:xfrm>
          </p:grpSpPr>
          <p:pic>
            <p:nvPicPr>
              <p:cNvPr id="27" name="Picture 2" descr="Sản phẩm Chuối già Nam Mỹ từ Union Trading, chuẩn từ nông trại đến bàn ăn">
                <a:extLst>
                  <a:ext uri="{FF2B5EF4-FFF2-40B4-BE49-F238E27FC236}">
                    <a16:creationId xmlns:a16="http://schemas.microsoft.com/office/drawing/2014/main" id="{00A7065B-02C8-94A6-B43A-A297B56AF568}"/>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53964" y="5506218"/>
                <a:ext cx="1231472" cy="1049032"/>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9A4282D-D466-93F7-559D-33DCB5545A36}"/>
                  </a:ext>
                </a:extLst>
              </p:cNvPr>
              <p:cNvGrpSpPr/>
              <p:nvPr/>
            </p:nvGrpSpPr>
            <p:grpSpPr>
              <a:xfrm>
                <a:off x="1490381" y="5443729"/>
                <a:ext cx="6460032" cy="1125262"/>
                <a:chOff x="1490381" y="5443729"/>
                <a:chExt cx="6460032" cy="1125262"/>
              </a:xfrm>
            </p:grpSpPr>
            <p:grpSp>
              <p:nvGrpSpPr>
                <p:cNvPr id="29" name="Group 28">
                  <a:extLst>
                    <a:ext uri="{FF2B5EF4-FFF2-40B4-BE49-F238E27FC236}">
                      <a16:creationId xmlns:a16="http://schemas.microsoft.com/office/drawing/2014/main" id="{A85242B9-F63B-CF2B-20B6-E8E54BFDEAE0}"/>
                    </a:ext>
                  </a:extLst>
                </p:cNvPr>
                <p:cNvGrpSpPr/>
                <p:nvPr/>
              </p:nvGrpSpPr>
              <p:grpSpPr>
                <a:xfrm>
                  <a:off x="1490381" y="5443729"/>
                  <a:ext cx="6460032" cy="1125262"/>
                  <a:chOff x="1490381" y="5443729"/>
                  <a:chExt cx="6460032" cy="1125262"/>
                </a:xfrm>
              </p:grpSpPr>
              <p:pic>
                <p:nvPicPr>
                  <p:cNvPr id="31" name="Picture 8" descr="bột quả bơ TV 100g Nguyên liệu thực phẩm Thiên Bảo Anh">
                    <a:extLst>
                      <a:ext uri="{FF2B5EF4-FFF2-40B4-BE49-F238E27FC236}">
                        <a16:creationId xmlns:a16="http://schemas.microsoft.com/office/drawing/2014/main" id="{D1DB0181-6ACC-F6A0-7CD9-81E063949F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0381" y="5549816"/>
                    <a:ext cx="1348447" cy="101917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DB46A761-543C-8DD0-4CD7-36E6D5D49C5F}"/>
                      </a:ext>
                    </a:extLst>
                  </p:cNvPr>
                  <p:cNvGrpSpPr/>
                  <p:nvPr/>
                </p:nvGrpSpPr>
                <p:grpSpPr>
                  <a:xfrm>
                    <a:off x="3262742" y="5443729"/>
                    <a:ext cx="4687671" cy="1095183"/>
                    <a:chOff x="3262742" y="5443729"/>
                    <a:chExt cx="4687671" cy="1095183"/>
                  </a:xfrm>
                </p:grpSpPr>
                <p:pic>
                  <p:nvPicPr>
                    <p:cNvPr id="33" name="Picture 10" descr="CỔNG THÔNG TIN ĐIỆN TỬ TỈNH ĐỒNG THÁP">
                      <a:extLst>
                        <a:ext uri="{FF2B5EF4-FFF2-40B4-BE49-F238E27FC236}">
                          <a16:creationId xmlns:a16="http://schemas.microsoft.com/office/drawing/2014/main" id="{3220EA44-FD79-D26C-F2BD-A1908B92FA5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2742" y="5641513"/>
                      <a:ext cx="1353454" cy="89739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descr="ĐẬU ĐỎ TÂY | SỈ LẺ ĐẬU ĐỎ TÂY">
                      <a:extLst>
                        <a:ext uri="{FF2B5EF4-FFF2-40B4-BE49-F238E27FC236}">
                          <a16:creationId xmlns:a16="http://schemas.microsoft.com/office/drawing/2014/main" id="{83A10ADF-B41F-4171-2B73-3D313E828E1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18866" y="5443729"/>
                      <a:ext cx="1531547" cy="10191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 name="TextBox 29">
                  <a:extLst>
                    <a:ext uri="{FF2B5EF4-FFF2-40B4-BE49-F238E27FC236}">
                      <a16:creationId xmlns:a16="http://schemas.microsoft.com/office/drawing/2014/main" id="{CAF96751-4342-B1D9-2153-086AD1EF4CFF}"/>
                    </a:ext>
                  </a:extLst>
                </p:cNvPr>
                <p:cNvSpPr txBox="1"/>
                <p:nvPr/>
              </p:nvSpPr>
              <p:spPr>
                <a:xfrm>
                  <a:off x="5215043" y="5987326"/>
                  <a:ext cx="934871" cy="369332"/>
                </a:xfrm>
                <a:prstGeom prst="rect">
                  <a:avLst/>
                </a:prstGeom>
                <a:noFill/>
              </p:spPr>
              <p:txBody>
                <a:bodyPr wrap="none" rtlCol="0">
                  <a:spAutoFit/>
                </a:bodyPr>
                <a:lstStyle/>
                <a:p>
                  <a:r>
                    <a:rPr lang="en-US" dirty="0"/>
                    <a:t>…………..</a:t>
                  </a:r>
                </a:p>
              </p:txBody>
            </p:sp>
          </p:grpSp>
        </p:grpSp>
        <p:sp>
          <p:nvSpPr>
            <p:cNvPr id="19" name="TextBox 18">
              <a:extLst>
                <a:ext uri="{FF2B5EF4-FFF2-40B4-BE49-F238E27FC236}">
                  <a16:creationId xmlns:a16="http://schemas.microsoft.com/office/drawing/2014/main" id="{48E661C3-62EB-FB94-25C5-3CF3BECF8CAD}"/>
                </a:ext>
              </a:extLst>
            </p:cNvPr>
            <p:cNvSpPr txBox="1"/>
            <p:nvPr/>
          </p:nvSpPr>
          <p:spPr>
            <a:xfrm>
              <a:off x="1764873" y="4062023"/>
              <a:ext cx="4613148" cy="369330"/>
            </a:xfrm>
            <a:prstGeom prst="rect">
              <a:avLst/>
            </a:prstGeom>
            <a:noFill/>
          </p:spPr>
          <p:txBody>
            <a:bodyPr wrap="square">
              <a:spAutoFit/>
            </a:bodyPr>
            <a:lstStyle/>
            <a:p>
              <a:r>
                <a:rPr lang="en-US" sz="1800" b="1" dirty="0">
                  <a:solidFill>
                    <a:srgbClr val="0070C0"/>
                  </a:solidFill>
                </a:rPr>
                <a:t>class </a:t>
              </a:r>
              <a:r>
                <a:rPr lang="en-US" sz="1800" b="1" dirty="0" err="1">
                  <a:solidFill>
                    <a:srgbClr val="FF0000"/>
                  </a:solidFill>
                </a:rPr>
                <a:t>TraiCay</a:t>
              </a:r>
              <a:endParaRPr lang="en-US" sz="1800" b="1" dirty="0">
                <a:solidFill>
                  <a:srgbClr val="FF0000"/>
                </a:solidFill>
              </a:endParaRPr>
            </a:p>
          </p:txBody>
        </p:sp>
        <p:cxnSp>
          <p:nvCxnSpPr>
            <p:cNvPr id="20" name="Straight Arrow Connector 19">
              <a:extLst>
                <a:ext uri="{FF2B5EF4-FFF2-40B4-BE49-F238E27FC236}">
                  <a16:creationId xmlns:a16="http://schemas.microsoft.com/office/drawing/2014/main" id="{92518005-C775-976D-2FDE-53A576E5BC6E}"/>
                </a:ext>
              </a:extLst>
            </p:cNvPr>
            <p:cNvCxnSpPr>
              <a:endCxn id="27" idx="0"/>
            </p:cNvCxnSpPr>
            <p:nvPr/>
          </p:nvCxnSpPr>
          <p:spPr>
            <a:xfrm flipH="1">
              <a:off x="1149136" y="4940965"/>
              <a:ext cx="1394903" cy="5494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25EEAE0-20E6-E475-ED74-8743377A5024}"/>
                </a:ext>
              </a:extLst>
            </p:cNvPr>
            <p:cNvCxnSpPr>
              <a:cxnSpLocks/>
              <a:endCxn id="31" idx="0"/>
            </p:cNvCxnSpPr>
            <p:nvPr/>
          </p:nvCxnSpPr>
          <p:spPr>
            <a:xfrm>
              <a:off x="2544039" y="4940965"/>
              <a:ext cx="2" cy="5930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2DC3A4D-7829-6A55-A28C-D1F1DB248DDC}"/>
                </a:ext>
              </a:extLst>
            </p:cNvPr>
            <p:cNvCxnSpPr>
              <a:cxnSpLocks/>
              <a:endCxn id="33" idx="0"/>
            </p:cNvCxnSpPr>
            <p:nvPr/>
          </p:nvCxnSpPr>
          <p:spPr>
            <a:xfrm>
              <a:off x="2590800" y="4940965"/>
              <a:ext cx="1728105" cy="6847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E8023D3-3C9C-1C65-C539-A357FA219461}"/>
                </a:ext>
              </a:extLst>
            </p:cNvPr>
            <p:cNvCxnSpPr>
              <a:cxnSpLocks/>
              <a:endCxn id="34" idx="0"/>
            </p:cNvCxnSpPr>
            <p:nvPr/>
          </p:nvCxnSpPr>
          <p:spPr>
            <a:xfrm>
              <a:off x="2590798" y="4940965"/>
              <a:ext cx="4973278" cy="4869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40A2DE1-5726-760F-4588-C1D0DD99C48F}"/>
                </a:ext>
              </a:extLst>
            </p:cNvPr>
            <p:cNvSpPr txBox="1"/>
            <p:nvPr/>
          </p:nvSpPr>
          <p:spPr>
            <a:xfrm>
              <a:off x="2169803" y="6528480"/>
              <a:ext cx="4613148"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grpSp>
      <p:grpSp>
        <p:nvGrpSpPr>
          <p:cNvPr id="40" name="Group 39">
            <a:extLst>
              <a:ext uri="{FF2B5EF4-FFF2-40B4-BE49-F238E27FC236}">
                <a16:creationId xmlns:a16="http://schemas.microsoft.com/office/drawing/2014/main" id="{CB911602-2402-E5B7-43D1-07DDA2AA1D71}"/>
              </a:ext>
            </a:extLst>
          </p:cNvPr>
          <p:cNvGrpSpPr/>
          <p:nvPr/>
        </p:nvGrpSpPr>
        <p:grpSpPr>
          <a:xfrm>
            <a:off x="4651918" y="5253313"/>
            <a:ext cx="4593078" cy="1324790"/>
            <a:chOff x="4651918" y="5253313"/>
            <a:chExt cx="4593078" cy="1324790"/>
          </a:xfrm>
        </p:grpSpPr>
        <p:grpSp>
          <p:nvGrpSpPr>
            <p:cNvPr id="37" name="Group 36">
              <a:extLst>
                <a:ext uri="{FF2B5EF4-FFF2-40B4-BE49-F238E27FC236}">
                  <a16:creationId xmlns:a16="http://schemas.microsoft.com/office/drawing/2014/main" id="{93A6386D-397D-77D1-EC3D-F8BAA60E0A48}"/>
                </a:ext>
              </a:extLst>
            </p:cNvPr>
            <p:cNvGrpSpPr/>
            <p:nvPr/>
          </p:nvGrpSpPr>
          <p:grpSpPr>
            <a:xfrm>
              <a:off x="4651918" y="5253313"/>
              <a:ext cx="4128188" cy="1240709"/>
              <a:chOff x="4019030" y="4227393"/>
              <a:chExt cx="4654797" cy="1594866"/>
            </a:xfrm>
          </p:grpSpPr>
          <p:grpSp>
            <p:nvGrpSpPr>
              <p:cNvPr id="11" name="Group 10">
                <a:extLst>
                  <a:ext uri="{FF2B5EF4-FFF2-40B4-BE49-F238E27FC236}">
                    <a16:creationId xmlns:a16="http://schemas.microsoft.com/office/drawing/2014/main" id="{A6D4E616-8BA0-1852-DD85-76A21E9839DE}"/>
                  </a:ext>
                </a:extLst>
              </p:cNvPr>
              <p:cNvGrpSpPr/>
              <p:nvPr/>
            </p:nvGrpSpPr>
            <p:grpSpPr>
              <a:xfrm>
                <a:off x="4735167" y="4227393"/>
                <a:ext cx="3938660" cy="1594866"/>
                <a:chOff x="1149136" y="3948228"/>
                <a:chExt cx="6414940" cy="2949584"/>
              </a:xfrm>
            </p:grpSpPr>
            <p:sp>
              <p:nvSpPr>
                <p:cNvPr id="6" name="TextBox 5">
                  <a:extLst>
                    <a:ext uri="{FF2B5EF4-FFF2-40B4-BE49-F238E27FC236}">
                      <a16:creationId xmlns:a16="http://schemas.microsoft.com/office/drawing/2014/main" id="{FB4BAD3F-4244-B807-E606-8980E7D9EB9E}"/>
                    </a:ext>
                  </a:extLst>
                </p:cNvPr>
                <p:cNvSpPr txBox="1"/>
                <p:nvPr/>
              </p:nvSpPr>
              <p:spPr>
                <a:xfrm>
                  <a:off x="4470779" y="5699798"/>
                  <a:ext cx="934871" cy="369331"/>
                </a:xfrm>
                <a:prstGeom prst="rect">
                  <a:avLst/>
                </a:prstGeom>
                <a:noFill/>
              </p:spPr>
              <p:txBody>
                <a:bodyPr wrap="none" rtlCol="0">
                  <a:spAutoFit/>
                </a:bodyPr>
                <a:lstStyle/>
                <a:p>
                  <a:r>
                    <a:rPr lang="en-US" dirty="0"/>
                    <a:t>…………..</a:t>
                  </a:r>
                </a:p>
              </p:txBody>
            </p:sp>
            <p:sp>
              <p:nvSpPr>
                <p:cNvPr id="12" name="TextBox 11">
                  <a:extLst>
                    <a:ext uri="{FF2B5EF4-FFF2-40B4-BE49-F238E27FC236}">
                      <a16:creationId xmlns:a16="http://schemas.microsoft.com/office/drawing/2014/main" id="{F64D283F-B2F9-2872-7C77-C4E7FAA9B4F3}"/>
                    </a:ext>
                  </a:extLst>
                </p:cNvPr>
                <p:cNvSpPr txBox="1"/>
                <p:nvPr/>
              </p:nvSpPr>
              <p:spPr>
                <a:xfrm>
                  <a:off x="1704110" y="3948228"/>
                  <a:ext cx="4613149" cy="608991"/>
                </a:xfrm>
                <a:prstGeom prst="rect">
                  <a:avLst/>
                </a:prstGeom>
                <a:noFill/>
              </p:spPr>
              <p:txBody>
                <a:bodyPr wrap="square">
                  <a:spAutoFit/>
                </a:bodyPr>
                <a:lstStyle/>
                <a:p>
                  <a:r>
                    <a:rPr lang="en-US" sz="1800" b="1" dirty="0">
                      <a:solidFill>
                        <a:srgbClr val="0070C0"/>
                      </a:solidFill>
                    </a:rPr>
                    <a:t>class </a:t>
                  </a:r>
                  <a:r>
                    <a:rPr lang="en-US" sz="1800" b="1" dirty="0" err="1">
                      <a:solidFill>
                        <a:srgbClr val="FF0000"/>
                      </a:solidFill>
                    </a:rPr>
                    <a:t>NguyenLieu</a:t>
                  </a:r>
                  <a:endParaRPr lang="en-US" sz="1800" b="1" dirty="0">
                    <a:solidFill>
                      <a:srgbClr val="FF0000"/>
                    </a:solidFill>
                  </a:endParaRPr>
                </a:p>
              </p:txBody>
            </p:sp>
            <p:cxnSp>
              <p:nvCxnSpPr>
                <p:cNvPr id="14" name="Straight Arrow Connector 13">
                  <a:extLst>
                    <a:ext uri="{FF2B5EF4-FFF2-40B4-BE49-F238E27FC236}">
                      <a16:creationId xmlns:a16="http://schemas.microsoft.com/office/drawing/2014/main" id="{B0A03ADF-0A2F-67D9-BFF7-CC96FEB871CD}"/>
                    </a:ext>
                  </a:extLst>
                </p:cNvPr>
                <p:cNvCxnSpPr/>
                <p:nvPr/>
              </p:nvCxnSpPr>
              <p:spPr>
                <a:xfrm flipH="1">
                  <a:off x="1149136" y="4940965"/>
                  <a:ext cx="1394903" cy="5494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CB5777D-0A8A-9DD6-585E-1A7C9C79A850}"/>
                    </a:ext>
                  </a:extLst>
                </p:cNvPr>
                <p:cNvCxnSpPr>
                  <a:cxnSpLocks/>
                </p:cNvCxnSpPr>
                <p:nvPr/>
              </p:nvCxnSpPr>
              <p:spPr>
                <a:xfrm>
                  <a:off x="2544039" y="4940965"/>
                  <a:ext cx="2" cy="5930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3D8336-3AFB-0275-1167-206EBCA2DAE3}"/>
                    </a:ext>
                  </a:extLst>
                </p:cNvPr>
                <p:cNvCxnSpPr>
                  <a:cxnSpLocks/>
                </p:cNvCxnSpPr>
                <p:nvPr/>
              </p:nvCxnSpPr>
              <p:spPr>
                <a:xfrm>
                  <a:off x="2590798" y="4940965"/>
                  <a:ext cx="4973278" cy="4869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0C382A7-8461-AA0B-667F-1408A9B192FA}"/>
                    </a:ext>
                  </a:extLst>
                </p:cNvPr>
                <p:cNvSpPr txBox="1"/>
                <p:nvPr/>
              </p:nvSpPr>
              <p:spPr>
                <a:xfrm>
                  <a:off x="2169803" y="6528480"/>
                  <a:ext cx="4613148"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grpSp>
          <p:pic>
            <p:nvPicPr>
              <p:cNvPr id="2052" name="Picture 4" descr="Đường tinh luyện là gì? Tác hại của đường tinh luyện đối với sức khỏe">
                <a:extLst>
                  <a:ext uri="{FF2B5EF4-FFF2-40B4-BE49-F238E27FC236}">
                    <a16:creationId xmlns:a16="http://schemas.microsoft.com/office/drawing/2014/main" id="{DD8E253B-76CE-AB3B-C370-02487D32662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19030" y="5112464"/>
                <a:ext cx="940072" cy="52820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ột nắm muối gây ra 9 loại bệnh và 5 cách ăn muối tốt cho sức khỏe">
                <a:extLst>
                  <a:ext uri="{FF2B5EF4-FFF2-40B4-BE49-F238E27FC236}">
                    <a16:creationId xmlns:a16="http://schemas.microsoft.com/office/drawing/2014/main" id="{D9F5C932-626B-3CF4-7FCA-3121D2013BE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273826" y="5115574"/>
                <a:ext cx="924387" cy="692398"/>
              </a:xfrm>
              <a:prstGeom prst="rect">
                <a:avLst/>
              </a:prstGeom>
              <a:noFill/>
              <a:extLst>
                <a:ext uri="{909E8E84-426E-40DD-AFC4-6F175D3DCCD1}">
                  <a14:hiddenFill xmlns:a14="http://schemas.microsoft.com/office/drawing/2010/main">
                    <a:solidFill>
                      <a:srgbClr val="FFFFFF"/>
                    </a:solidFill>
                  </a14:hiddenFill>
                </a:ext>
              </a:extLst>
            </p:spPr>
          </p:pic>
        </p:grpSp>
        <p:pic>
          <p:nvPicPr>
            <p:cNvPr id="39" name="Picture 2" descr="Tác hại của việc uống nước dừa mỗi ngày - Báo Quảng Ninh điện tử">
              <a:extLst>
                <a:ext uri="{FF2B5EF4-FFF2-40B4-BE49-F238E27FC236}">
                  <a16:creationId xmlns:a16="http://schemas.microsoft.com/office/drawing/2014/main" id="{0D15A09E-E6F5-8BFD-0340-F7A5A04F485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128604" y="5947099"/>
              <a:ext cx="1116392" cy="63100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20675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012BD-E77F-2D47-31A5-FBB9C91629D6}"/>
              </a:ext>
            </a:extLst>
          </p:cNvPr>
          <p:cNvSpPr>
            <a:spLocks noGrp="1"/>
          </p:cNvSpPr>
          <p:nvPr>
            <p:ph type="title"/>
          </p:nvPr>
        </p:nvSpPr>
        <p:spPr/>
        <p:txBody>
          <a:bodyPr>
            <a:normAutofit fontScale="90000"/>
          </a:bodyPr>
          <a:lstStyle/>
          <a:p>
            <a:r>
              <a:rPr lang="en-US" dirty="0" err="1"/>
              <a:t>Chè</a:t>
            </a:r>
            <a:r>
              <a:rPr lang="en-US" dirty="0"/>
              <a:t> </a:t>
            </a:r>
            <a:r>
              <a:rPr lang="en-US" dirty="0" err="1"/>
              <a:t>trái</a:t>
            </a:r>
            <a:r>
              <a:rPr lang="en-US" dirty="0"/>
              <a:t> </a:t>
            </a:r>
            <a:r>
              <a:rPr lang="en-US" dirty="0" err="1"/>
              <a:t>cây</a:t>
            </a:r>
            <a:endParaRPr lang="en-US" dirty="0"/>
          </a:p>
        </p:txBody>
      </p:sp>
      <p:sp>
        <p:nvSpPr>
          <p:cNvPr id="4" name="Slide Number Placeholder 3">
            <a:extLst>
              <a:ext uri="{FF2B5EF4-FFF2-40B4-BE49-F238E27FC236}">
                <a16:creationId xmlns:a16="http://schemas.microsoft.com/office/drawing/2014/main" id="{22820D13-7B77-6F06-F4E8-29EFA02B45DC}"/>
              </a:ext>
            </a:extLst>
          </p:cNvPr>
          <p:cNvSpPr>
            <a:spLocks noGrp="1"/>
          </p:cNvSpPr>
          <p:nvPr>
            <p:ph type="sldNum" sz="quarter" idx="12"/>
          </p:nvPr>
        </p:nvSpPr>
        <p:spPr/>
        <p:txBody>
          <a:bodyPr/>
          <a:lstStyle/>
          <a:p>
            <a:fld id="{B6F15528-21DE-4FAA-801E-634DDDAF4B2B}" type="slidenum">
              <a:rPr lang="en-US" smtClean="0"/>
              <a:pPr/>
              <a:t>25</a:t>
            </a:fld>
            <a:endParaRPr lang="en-US" dirty="0"/>
          </a:p>
        </p:txBody>
      </p:sp>
      <p:pic>
        <p:nvPicPr>
          <p:cNvPr id="1028" name="Picture 4" descr="Ăn chè ngon nhất tại TPHCM không thể bỏ qua Changhi">
            <a:extLst>
              <a:ext uri="{FF2B5EF4-FFF2-40B4-BE49-F238E27FC236}">
                <a16:creationId xmlns:a16="http://schemas.microsoft.com/office/drawing/2014/main" id="{40DAD1BC-5C2B-A0E6-FED0-151070EAD8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617" y="3254103"/>
            <a:ext cx="2489821" cy="13931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F190A8-9BED-4593-D81D-82934D91503C}"/>
              </a:ext>
            </a:extLst>
          </p:cNvPr>
          <p:cNvSpPr txBox="1"/>
          <p:nvPr/>
        </p:nvSpPr>
        <p:spPr>
          <a:xfrm>
            <a:off x="2362200" y="2849227"/>
            <a:ext cx="4038600" cy="2308324"/>
          </a:xfrm>
          <a:prstGeom prst="rect">
            <a:avLst/>
          </a:prstGeom>
          <a:noFill/>
        </p:spPr>
        <p:txBody>
          <a:bodyPr wrap="square" rtlCol="0">
            <a:spAutoFit/>
          </a:bodyPr>
          <a:lstStyle/>
          <a:p>
            <a:r>
              <a:rPr lang="en-US" sz="1200" b="1" dirty="0">
                <a:solidFill>
                  <a:srgbClr val="0070C0"/>
                </a:solidFill>
              </a:rPr>
              <a:t>class </a:t>
            </a:r>
            <a:r>
              <a:rPr lang="en-US" sz="1200" b="1" dirty="0">
                <a:solidFill>
                  <a:srgbClr val="FF0000"/>
                </a:solidFill>
              </a:rPr>
              <a:t>Che</a:t>
            </a:r>
          </a:p>
          <a:p>
            <a:r>
              <a:rPr lang="en-US" sz="1200" b="1" dirty="0">
                <a:solidFill>
                  <a:srgbClr val="0070C0"/>
                </a:solidFill>
              </a:rPr>
              <a:t>{</a:t>
            </a:r>
          </a:p>
          <a:p>
            <a:r>
              <a:rPr lang="en-US" sz="1200" b="1" dirty="0">
                <a:solidFill>
                  <a:srgbClr val="0070C0"/>
                </a:solidFill>
              </a:rPr>
              <a:t>    List&lt;</a:t>
            </a:r>
            <a:r>
              <a:rPr lang="en-US" sz="1200" b="1" dirty="0" err="1">
                <a:solidFill>
                  <a:srgbClr val="FF0000"/>
                </a:solidFill>
              </a:rPr>
              <a:t>TraiCay</a:t>
            </a:r>
            <a:r>
              <a:rPr lang="en-US" sz="1200" b="1" dirty="0">
                <a:solidFill>
                  <a:srgbClr val="0070C0"/>
                </a:solidFill>
              </a:rPr>
              <a:t>&gt; </a:t>
            </a:r>
            <a:r>
              <a:rPr lang="en-US" sz="1200" b="1" dirty="0" err="1">
                <a:solidFill>
                  <a:srgbClr val="FF0000"/>
                </a:solidFill>
              </a:rPr>
              <a:t>dst</a:t>
            </a:r>
            <a:r>
              <a:rPr lang="en-US" sz="1200" b="1" dirty="0">
                <a:solidFill>
                  <a:srgbClr val="0070C0"/>
                </a:solidFill>
              </a:rPr>
              <a:t> = new List&lt;</a:t>
            </a:r>
            <a:r>
              <a:rPr lang="en-US" sz="1200" b="1" dirty="0" err="1">
                <a:solidFill>
                  <a:srgbClr val="FF0000"/>
                </a:solidFill>
              </a:rPr>
              <a:t>TraiCay</a:t>
            </a:r>
            <a:r>
              <a:rPr lang="en-US" sz="1200" b="1" dirty="0">
                <a:solidFill>
                  <a:srgbClr val="0070C0"/>
                </a:solidFill>
              </a:rPr>
              <a:t>&gt;();</a:t>
            </a:r>
          </a:p>
          <a:p>
            <a:r>
              <a:rPr lang="en-US" sz="1200" b="1" dirty="0">
                <a:solidFill>
                  <a:srgbClr val="0070C0"/>
                </a:solidFill>
              </a:rPr>
              <a:t>    List&lt;</a:t>
            </a:r>
            <a:r>
              <a:rPr lang="en-US" sz="1200" b="1" dirty="0" err="1">
                <a:solidFill>
                  <a:srgbClr val="FF0000"/>
                </a:solidFill>
              </a:rPr>
              <a:t>NguyenLieu</a:t>
            </a:r>
            <a:r>
              <a:rPr lang="en-US" sz="1200" b="1" dirty="0">
                <a:solidFill>
                  <a:srgbClr val="0070C0"/>
                </a:solidFill>
              </a:rPr>
              <a:t>&gt; </a:t>
            </a:r>
            <a:r>
              <a:rPr lang="en-US" sz="1200" b="1" dirty="0" err="1">
                <a:solidFill>
                  <a:srgbClr val="FF0000"/>
                </a:solidFill>
              </a:rPr>
              <a:t>dsn</a:t>
            </a:r>
            <a:r>
              <a:rPr lang="en-US" sz="1200" b="1" dirty="0">
                <a:solidFill>
                  <a:srgbClr val="0070C0"/>
                </a:solidFill>
              </a:rPr>
              <a:t> = new  List&lt;</a:t>
            </a:r>
            <a:r>
              <a:rPr lang="en-US" sz="1200" b="1" dirty="0" err="1">
                <a:solidFill>
                  <a:srgbClr val="FF0000"/>
                </a:solidFill>
              </a:rPr>
              <a:t>NguyenLieu</a:t>
            </a:r>
            <a:r>
              <a:rPr lang="en-US" sz="1200" b="1" dirty="0">
                <a:solidFill>
                  <a:srgbClr val="0070C0"/>
                </a:solidFill>
              </a:rPr>
              <a:t>&gt;();</a:t>
            </a:r>
          </a:p>
          <a:p>
            <a:r>
              <a:rPr lang="en-US" sz="1200" b="1" dirty="0">
                <a:solidFill>
                  <a:srgbClr val="0070C0"/>
                </a:solidFill>
              </a:rPr>
              <a:t>    public void </a:t>
            </a:r>
            <a:r>
              <a:rPr lang="en-US" sz="1200" b="1" dirty="0" err="1">
                <a:solidFill>
                  <a:srgbClr val="FF0000"/>
                </a:solidFill>
              </a:rPr>
              <a:t>CheBien</a:t>
            </a:r>
            <a:r>
              <a:rPr lang="en-US" sz="1200" b="1" dirty="0">
                <a:solidFill>
                  <a:srgbClr val="0070C0"/>
                </a:solidFill>
              </a:rPr>
              <a:t>()</a:t>
            </a:r>
          </a:p>
          <a:p>
            <a:r>
              <a:rPr lang="en-US" sz="1200" b="1" dirty="0">
                <a:solidFill>
                  <a:srgbClr val="0070C0"/>
                </a:solidFill>
              </a:rPr>
              <a:t>     {</a:t>
            </a:r>
          </a:p>
          <a:p>
            <a:r>
              <a:rPr lang="en-US" sz="1200" b="1" dirty="0">
                <a:solidFill>
                  <a:srgbClr val="0070C0"/>
                </a:solidFill>
              </a:rPr>
              <a:t>          foreach(</a:t>
            </a:r>
            <a:r>
              <a:rPr lang="en-US" sz="1200" b="1" dirty="0" err="1">
                <a:solidFill>
                  <a:srgbClr val="FF0000"/>
                </a:solidFill>
              </a:rPr>
              <a:t>TraiCay</a:t>
            </a:r>
            <a:r>
              <a:rPr lang="en-US" sz="1200" b="1" dirty="0">
                <a:solidFill>
                  <a:srgbClr val="0070C0"/>
                </a:solidFill>
              </a:rPr>
              <a:t> t in </a:t>
            </a:r>
            <a:r>
              <a:rPr lang="en-US" sz="1200" b="1" dirty="0" err="1">
                <a:solidFill>
                  <a:srgbClr val="FF0000"/>
                </a:solidFill>
              </a:rPr>
              <a:t>dst</a:t>
            </a:r>
            <a:r>
              <a:rPr lang="en-US" sz="1200" b="1" dirty="0">
                <a:solidFill>
                  <a:srgbClr val="0070C0"/>
                </a:solidFill>
              </a:rPr>
              <a:t>)</a:t>
            </a:r>
          </a:p>
          <a:p>
            <a:r>
              <a:rPr lang="en-US" sz="1200" b="1" dirty="0">
                <a:solidFill>
                  <a:srgbClr val="0070C0"/>
                </a:solidFill>
              </a:rPr>
              <a:t>	</a:t>
            </a:r>
            <a:r>
              <a:rPr lang="en-US" sz="1200" b="1" dirty="0" err="1">
                <a:solidFill>
                  <a:srgbClr val="0070C0"/>
                </a:solidFill>
              </a:rPr>
              <a:t>t.</a:t>
            </a:r>
            <a:r>
              <a:rPr lang="en-US" sz="1200" b="1" dirty="0" err="1">
                <a:solidFill>
                  <a:srgbClr val="FF0000"/>
                </a:solidFill>
              </a:rPr>
              <a:t>CheBien</a:t>
            </a:r>
            <a:r>
              <a:rPr lang="en-US" sz="1200" b="1" dirty="0">
                <a:solidFill>
                  <a:srgbClr val="0070C0"/>
                </a:solidFill>
              </a:rPr>
              <a:t>();  	</a:t>
            </a:r>
          </a:p>
          <a:p>
            <a:r>
              <a:rPr lang="en-US" sz="1200" b="1" dirty="0">
                <a:solidFill>
                  <a:srgbClr val="0070C0"/>
                </a:solidFill>
              </a:rPr>
              <a:t>         foreach(</a:t>
            </a:r>
            <a:r>
              <a:rPr lang="en-US" sz="1200" b="1" dirty="0" err="1">
                <a:solidFill>
                  <a:srgbClr val="FF0000"/>
                </a:solidFill>
              </a:rPr>
              <a:t>NguyenLieu</a:t>
            </a:r>
            <a:r>
              <a:rPr lang="en-US" sz="1200" b="1" dirty="0">
                <a:solidFill>
                  <a:srgbClr val="0070C0"/>
                </a:solidFill>
              </a:rPr>
              <a:t> l in </a:t>
            </a:r>
            <a:r>
              <a:rPr lang="en-US" sz="1200" b="1" dirty="0" err="1">
                <a:solidFill>
                  <a:srgbClr val="FF0000"/>
                </a:solidFill>
              </a:rPr>
              <a:t>dsn</a:t>
            </a:r>
            <a:r>
              <a:rPr lang="en-US" sz="1200" b="1" dirty="0">
                <a:solidFill>
                  <a:srgbClr val="0070C0"/>
                </a:solidFill>
              </a:rPr>
              <a:t>)</a:t>
            </a:r>
          </a:p>
          <a:p>
            <a:r>
              <a:rPr lang="en-US" sz="1200" b="1" dirty="0">
                <a:solidFill>
                  <a:srgbClr val="0070C0"/>
                </a:solidFill>
              </a:rPr>
              <a:t>	</a:t>
            </a:r>
            <a:r>
              <a:rPr lang="en-US" sz="1200" b="1" dirty="0" err="1">
                <a:solidFill>
                  <a:srgbClr val="0070C0"/>
                </a:solidFill>
              </a:rPr>
              <a:t>l.</a:t>
            </a:r>
            <a:r>
              <a:rPr lang="en-US" sz="1200" b="1" dirty="0" err="1">
                <a:solidFill>
                  <a:srgbClr val="FF0000"/>
                </a:solidFill>
              </a:rPr>
              <a:t>CheBien</a:t>
            </a:r>
            <a:r>
              <a:rPr lang="en-US" sz="1200" b="1" dirty="0">
                <a:solidFill>
                  <a:srgbClr val="0070C0"/>
                </a:solidFill>
              </a:rPr>
              <a:t>(); 	</a:t>
            </a:r>
          </a:p>
          <a:p>
            <a:r>
              <a:rPr lang="en-US" sz="1200" b="1" dirty="0">
                <a:solidFill>
                  <a:srgbClr val="0070C0"/>
                </a:solidFill>
              </a:rPr>
              <a:t>     }	 </a:t>
            </a:r>
          </a:p>
          <a:p>
            <a:r>
              <a:rPr lang="en-US" sz="1200" b="1" dirty="0">
                <a:solidFill>
                  <a:srgbClr val="0070C0"/>
                </a:solidFill>
              </a:rPr>
              <a:t>}</a:t>
            </a:r>
          </a:p>
        </p:txBody>
      </p:sp>
      <p:sp>
        <p:nvSpPr>
          <p:cNvPr id="5" name="TextBox 4">
            <a:extLst>
              <a:ext uri="{FF2B5EF4-FFF2-40B4-BE49-F238E27FC236}">
                <a16:creationId xmlns:a16="http://schemas.microsoft.com/office/drawing/2014/main" id="{DF9BFEDE-8133-A774-B2ED-D55F23B8A712}"/>
              </a:ext>
            </a:extLst>
          </p:cNvPr>
          <p:cNvSpPr txBox="1"/>
          <p:nvPr/>
        </p:nvSpPr>
        <p:spPr>
          <a:xfrm>
            <a:off x="661812" y="858279"/>
            <a:ext cx="4038600" cy="2062103"/>
          </a:xfrm>
          <a:prstGeom prst="rect">
            <a:avLst/>
          </a:prstGeom>
          <a:noFill/>
        </p:spPr>
        <p:txBody>
          <a:bodyPr wrap="square" rtlCol="0">
            <a:spAutoFit/>
          </a:bodyPr>
          <a:lstStyle/>
          <a:p>
            <a:r>
              <a:rPr lang="en-US" sz="1600" b="1" dirty="0">
                <a:solidFill>
                  <a:srgbClr val="0070C0"/>
                </a:solidFill>
              </a:rPr>
              <a:t>class </a:t>
            </a:r>
            <a:r>
              <a:rPr lang="en-US" sz="1600" b="1" dirty="0" err="1">
                <a:solidFill>
                  <a:srgbClr val="FF0000"/>
                </a:solidFill>
              </a:rPr>
              <a:t>TraiCay</a:t>
            </a:r>
            <a:endParaRPr lang="en-US" sz="1600" b="1" dirty="0">
              <a:solidFill>
                <a:srgbClr val="FF0000"/>
              </a:solidFill>
            </a:endParaRPr>
          </a:p>
          <a:p>
            <a:r>
              <a:rPr lang="en-US" sz="1600" b="1" dirty="0">
                <a:solidFill>
                  <a:srgbClr val="0070C0"/>
                </a:solidFill>
              </a:rPr>
              <a:t>{</a:t>
            </a:r>
          </a:p>
          <a:p>
            <a:r>
              <a:rPr lang="en-US" sz="1600" b="1" dirty="0">
                <a:solidFill>
                  <a:srgbClr val="0070C0"/>
                </a:solidFill>
              </a:rPr>
              <a:t>     public string </a:t>
            </a:r>
            <a:r>
              <a:rPr lang="en-US" sz="1600" b="1" dirty="0">
                <a:solidFill>
                  <a:srgbClr val="FF0000"/>
                </a:solidFill>
              </a:rPr>
              <a:t>ten</a:t>
            </a:r>
            <a:r>
              <a:rPr lang="en-US" sz="1600" b="1" dirty="0">
                <a:solidFill>
                  <a:srgbClr val="0070C0"/>
                </a:solidFill>
              </a:rPr>
              <a:t>;</a:t>
            </a:r>
          </a:p>
          <a:p>
            <a:r>
              <a:rPr lang="en-US" sz="1600" b="1" dirty="0">
                <a:solidFill>
                  <a:srgbClr val="0070C0"/>
                </a:solidFill>
              </a:rPr>
              <a:t>     public float </a:t>
            </a:r>
            <a:r>
              <a:rPr lang="en-US" sz="1600" b="1" dirty="0" err="1">
                <a:solidFill>
                  <a:srgbClr val="FF0000"/>
                </a:solidFill>
              </a:rPr>
              <a:t>canNang</a:t>
            </a:r>
            <a:r>
              <a:rPr lang="en-US" sz="1600" b="1" dirty="0">
                <a:solidFill>
                  <a:srgbClr val="0070C0"/>
                </a:solidFill>
              </a:rPr>
              <a:t>; 	</a:t>
            </a:r>
          </a:p>
          <a:p>
            <a:r>
              <a:rPr lang="en-US" sz="1600" b="1" dirty="0">
                <a:solidFill>
                  <a:srgbClr val="0070C0"/>
                </a:solidFill>
              </a:rPr>
              <a:t>     public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sp>
        <p:nvSpPr>
          <p:cNvPr id="13" name="TextBox 12">
            <a:extLst>
              <a:ext uri="{FF2B5EF4-FFF2-40B4-BE49-F238E27FC236}">
                <a16:creationId xmlns:a16="http://schemas.microsoft.com/office/drawing/2014/main" id="{380BC627-D108-D462-2F15-9197231B51A4}"/>
              </a:ext>
            </a:extLst>
          </p:cNvPr>
          <p:cNvSpPr txBox="1"/>
          <p:nvPr/>
        </p:nvSpPr>
        <p:spPr>
          <a:xfrm>
            <a:off x="5422434" y="866312"/>
            <a:ext cx="4038600" cy="1815882"/>
          </a:xfrm>
          <a:prstGeom prst="rect">
            <a:avLst/>
          </a:prstGeom>
          <a:noFill/>
        </p:spPr>
        <p:txBody>
          <a:bodyPr wrap="square" rtlCol="0">
            <a:spAutoFit/>
          </a:bodyPr>
          <a:lstStyle/>
          <a:p>
            <a:r>
              <a:rPr lang="en-US" sz="1600" b="1" dirty="0">
                <a:solidFill>
                  <a:srgbClr val="0070C0"/>
                </a:solidFill>
              </a:rPr>
              <a:t>class </a:t>
            </a:r>
            <a:r>
              <a:rPr lang="en-US" sz="1600" b="1" dirty="0" err="1">
                <a:solidFill>
                  <a:srgbClr val="FF0000"/>
                </a:solidFill>
              </a:rPr>
              <a:t>NguyenLieu</a:t>
            </a:r>
            <a:endParaRPr lang="en-US" sz="1600" b="1" dirty="0">
              <a:solidFill>
                <a:srgbClr val="FF0000"/>
              </a:solidFill>
            </a:endParaRPr>
          </a:p>
          <a:p>
            <a:r>
              <a:rPr lang="en-US" sz="1600" b="1" dirty="0">
                <a:solidFill>
                  <a:srgbClr val="0070C0"/>
                </a:solidFill>
              </a:rPr>
              <a:t>{</a:t>
            </a:r>
          </a:p>
          <a:p>
            <a:r>
              <a:rPr lang="en-US" sz="1600" b="1" dirty="0">
                <a:solidFill>
                  <a:srgbClr val="0070C0"/>
                </a:solidFill>
              </a:rPr>
              <a:t>     public string </a:t>
            </a:r>
            <a:r>
              <a:rPr lang="en-US" sz="1600" b="1" dirty="0">
                <a:solidFill>
                  <a:srgbClr val="FF0000"/>
                </a:solidFill>
              </a:rPr>
              <a:t>ten</a:t>
            </a:r>
            <a:r>
              <a:rPr lang="en-US" sz="1600" b="1" dirty="0">
                <a:solidFill>
                  <a:srgbClr val="0070C0"/>
                </a:solidFill>
              </a:rPr>
              <a:t>;</a:t>
            </a:r>
          </a:p>
          <a:p>
            <a:r>
              <a:rPr lang="en-US" sz="1600" b="1" dirty="0">
                <a:solidFill>
                  <a:srgbClr val="0070C0"/>
                </a:solidFill>
              </a:rPr>
              <a:t>     public void </a:t>
            </a:r>
            <a:r>
              <a:rPr lang="en-US" sz="1600" b="1" dirty="0" err="1">
                <a:solidFill>
                  <a:srgbClr val="FF0000"/>
                </a:solidFill>
              </a:rPr>
              <a:t>CheBien</a:t>
            </a:r>
            <a:r>
              <a:rPr lang="en-US" sz="1600" b="1" dirty="0">
                <a:solidFill>
                  <a:srgbClr val="0070C0"/>
                </a:solidFill>
              </a:rPr>
              <a:t>()</a:t>
            </a:r>
          </a:p>
          <a:p>
            <a:r>
              <a:rPr lang="en-US" sz="1600" b="1" dirty="0">
                <a:solidFill>
                  <a:srgbClr val="0070C0"/>
                </a:solidFill>
              </a:rPr>
              <a:t>     {</a:t>
            </a:r>
          </a:p>
          <a:p>
            <a:r>
              <a:rPr lang="en-US" sz="1600" b="1" dirty="0">
                <a:solidFill>
                  <a:srgbClr val="0070C0"/>
                </a:solidFill>
              </a:rPr>
              <a:t>     }			</a:t>
            </a:r>
          </a:p>
          <a:p>
            <a:r>
              <a:rPr lang="en-US" sz="1600" b="1" dirty="0">
                <a:solidFill>
                  <a:srgbClr val="0070C0"/>
                </a:solidFill>
              </a:rPr>
              <a:t>}</a:t>
            </a:r>
          </a:p>
        </p:txBody>
      </p:sp>
      <p:grpSp>
        <p:nvGrpSpPr>
          <p:cNvPr id="16" name="Group 15">
            <a:extLst>
              <a:ext uri="{FF2B5EF4-FFF2-40B4-BE49-F238E27FC236}">
                <a16:creationId xmlns:a16="http://schemas.microsoft.com/office/drawing/2014/main" id="{BFED5EF4-9B42-CE31-52AE-BDAFE95DB10F}"/>
              </a:ext>
            </a:extLst>
          </p:cNvPr>
          <p:cNvGrpSpPr/>
          <p:nvPr/>
        </p:nvGrpSpPr>
        <p:grpSpPr>
          <a:xfrm>
            <a:off x="76200" y="5521113"/>
            <a:ext cx="4038600" cy="1182019"/>
            <a:chOff x="533400" y="4321201"/>
            <a:chExt cx="7796449" cy="2576611"/>
          </a:xfrm>
        </p:grpSpPr>
        <p:grpSp>
          <p:nvGrpSpPr>
            <p:cNvPr id="17" name="Group 16">
              <a:extLst>
                <a:ext uri="{FF2B5EF4-FFF2-40B4-BE49-F238E27FC236}">
                  <a16:creationId xmlns:a16="http://schemas.microsoft.com/office/drawing/2014/main" id="{26A3A56D-ECE3-3516-290B-C1972FCC90EA}"/>
                </a:ext>
              </a:extLst>
            </p:cNvPr>
            <p:cNvGrpSpPr/>
            <p:nvPr/>
          </p:nvGrpSpPr>
          <p:grpSpPr>
            <a:xfrm>
              <a:off x="533400" y="5427938"/>
              <a:ext cx="7796449" cy="1125262"/>
              <a:chOff x="153964" y="5443729"/>
              <a:chExt cx="7796449" cy="1125262"/>
            </a:xfrm>
          </p:grpSpPr>
          <p:pic>
            <p:nvPicPr>
              <p:cNvPr id="27" name="Picture 2" descr="Sản phẩm Chuối già Nam Mỹ từ Union Trading, chuẩn từ nông trại đến bàn ăn">
                <a:extLst>
                  <a:ext uri="{FF2B5EF4-FFF2-40B4-BE49-F238E27FC236}">
                    <a16:creationId xmlns:a16="http://schemas.microsoft.com/office/drawing/2014/main" id="{00A7065B-02C8-94A6-B43A-A297B56AF568}"/>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53964" y="5506218"/>
                <a:ext cx="1231472" cy="1049032"/>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9A4282D-D466-93F7-559D-33DCB5545A36}"/>
                  </a:ext>
                </a:extLst>
              </p:cNvPr>
              <p:cNvGrpSpPr/>
              <p:nvPr/>
            </p:nvGrpSpPr>
            <p:grpSpPr>
              <a:xfrm>
                <a:off x="1490381" y="5443729"/>
                <a:ext cx="6460032" cy="1125262"/>
                <a:chOff x="1490381" y="5443729"/>
                <a:chExt cx="6460032" cy="1125262"/>
              </a:xfrm>
            </p:grpSpPr>
            <p:grpSp>
              <p:nvGrpSpPr>
                <p:cNvPr id="29" name="Group 28">
                  <a:extLst>
                    <a:ext uri="{FF2B5EF4-FFF2-40B4-BE49-F238E27FC236}">
                      <a16:creationId xmlns:a16="http://schemas.microsoft.com/office/drawing/2014/main" id="{A85242B9-F63B-CF2B-20B6-E8E54BFDEAE0}"/>
                    </a:ext>
                  </a:extLst>
                </p:cNvPr>
                <p:cNvGrpSpPr/>
                <p:nvPr/>
              </p:nvGrpSpPr>
              <p:grpSpPr>
                <a:xfrm>
                  <a:off x="1490381" y="5443729"/>
                  <a:ext cx="6460032" cy="1125262"/>
                  <a:chOff x="1490381" y="5443729"/>
                  <a:chExt cx="6460032" cy="1125262"/>
                </a:xfrm>
              </p:grpSpPr>
              <p:pic>
                <p:nvPicPr>
                  <p:cNvPr id="31" name="Picture 8" descr="bột quả bơ TV 100g Nguyên liệu thực phẩm Thiên Bảo Anh">
                    <a:extLst>
                      <a:ext uri="{FF2B5EF4-FFF2-40B4-BE49-F238E27FC236}">
                        <a16:creationId xmlns:a16="http://schemas.microsoft.com/office/drawing/2014/main" id="{D1DB0181-6ACC-F6A0-7CD9-81E063949F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0381" y="5549816"/>
                    <a:ext cx="1348447" cy="101917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Group 31">
                    <a:extLst>
                      <a:ext uri="{FF2B5EF4-FFF2-40B4-BE49-F238E27FC236}">
                        <a16:creationId xmlns:a16="http://schemas.microsoft.com/office/drawing/2014/main" id="{DB46A761-543C-8DD0-4CD7-36E6D5D49C5F}"/>
                      </a:ext>
                    </a:extLst>
                  </p:cNvPr>
                  <p:cNvGrpSpPr/>
                  <p:nvPr/>
                </p:nvGrpSpPr>
                <p:grpSpPr>
                  <a:xfrm>
                    <a:off x="3262742" y="5443729"/>
                    <a:ext cx="4687671" cy="1095183"/>
                    <a:chOff x="3262742" y="5443729"/>
                    <a:chExt cx="4687671" cy="1095183"/>
                  </a:xfrm>
                </p:grpSpPr>
                <p:pic>
                  <p:nvPicPr>
                    <p:cNvPr id="33" name="Picture 10" descr="CỔNG THÔNG TIN ĐIỆN TỬ TỈNH ĐỒNG THÁP">
                      <a:extLst>
                        <a:ext uri="{FF2B5EF4-FFF2-40B4-BE49-F238E27FC236}">
                          <a16:creationId xmlns:a16="http://schemas.microsoft.com/office/drawing/2014/main" id="{3220EA44-FD79-D26C-F2BD-A1908B92FA5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62742" y="5641513"/>
                      <a:ext cx="1353454" cy="897399"/>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2" descr="ĐẬU ĐỎ TÂY | SỈ LẺ ĐẬU ĐỎ TÂY">
                      <a:extLst>
                        <a:ext uri="{FF2B5EF4-FFF2-40B4-BE49-F238E27FC236}">
                          <a16:creationId xmlns:a16="http://schemas.microsoft.com/office/drawing/2014/main" id="{83A10ADF-B41F-4171-2B73-3D313E828E1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18866" y="5443729"/>
                      <a:ext cx="1531547" cy="1019175"/>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 name="TextBox 29">
                  <a:extLst>
                    <a:ext uri="{FF2B5EF4-FFF2-40B4-BE49-F238E27FC236}">
                      <a16:creationId xmlns:a16="http://schemas.microsoft.com/office/drawing/2014/main" id="{CAF96751-4342-B1D9-2153-086AD1EF4CFF}"/>
                    </a:ext>
                  </a:extLst>
                </p:cNvPr>
                <p:cNvSpPr txBox="1"/>
                <p:nvPr/>
              </p:nvSpPr>
              <p:spPr>
                <a:xfrm>
                  <a:off x="5215043" y="5987326"/>
                  <a:ext cx="934871" cy="369332"/>
                </a:xfrm>
                <a:prstGeom prst="rect">
                  <a:avLst/>
                </a:prstGeom>
                <a:noFill/>
              </p:spPr>
              <p:txBody>
                <a:bodyPr wrap="none" rtlCol="0">
                  <a:spAutoFit/>
                </a:bodyPr>
                <a:lstStyle/>
                <a:p>
                  <a:r>
                    <a:rPr lang="en-US" dirty="0"/>
                    <a:t>…………..</a:t>
                  </a:r>
                </a:p>
              </p:txBody>
            </p:sp>
          </p:grpSp>
        </p:grpSp>
        <p:sp>
          <p:nvSpPr>
            <p:cNvPr id="19" name="TextBox 18">
              <a:extLst>
                <a:ext uri="{FF2B5EF4-FFF2-40B4-BE49-F238E27FC236}">
                  <a16:creationId xmlns:a16="http://schemas.microsoft.com/office/drawing/2014/main" id="{48E661C3-62EB-FB94-25C5-3CF3BECF8CAD}"/>
                </a:ext>
              </a:extLst>
            </p:cNvPr>
            <p:cNvSpPr txBox="1"/>
            <p:nvPr/>
          </p:nvSpPr>
          <p:spPr>
            <a:xfrm>
              <a:off x="1755728" y="4321201"/>
              <a:ext cx="4613148" cy="369331"/>
            </a:xfrm>
            <a:prstGeom prst="rect">
              <a:avLst/>
            </a:prstGeom>
            <a:noFill/>
          </p:spPr>
          <p:txBody>
            <a:bodyPr wrap="square">
              <a:spAutoFit/>
            </a:bodyPr>
            <a:lstStyle/>
            <a:p>
              <a:r>
                <a:rPr lang="en-US" sz="1800" b="1" dirty="0">
                  <a:solidFill>
                    <a:srgbClr val="0070C0"/>
                  </a:solidFill>
                </a:rPr>
                <a:t>class </a:t>
              </a:r>
              <a:r>
                <a:rPr lang="en-US" sz="1800" b="1" dirty="0" err="1">
                  <a:solidFill>
                    <a:srgbClr val="FF0000"/>
                  </a:solidFill>
                </a:rPr>
                <a:t>TraiCay</a:t>
              </a:r>
              <a:endParaRPr lang="en-US" sz="1800" b="1" dirty="0">
                <a:solidFill>
                  <a:srgbClr val="FF0000"/>
                </a:solidFill>
              </a:endParaRPr>
            </a:p>
          </p:txBody>
        </p:sp>
        <p:cxnSp>
          <p:nvCxnSpPr>
            <p:cNvPr id="20" name="Straight Arrow Connector 19">
              <a:extLst>
                <a:ext uri="{FF2B5EF4-FFF2-40B4-BE49-F238E27FC236}">
                  <a16:creationId xmlns:a16="http://schemas.microsoft.com/office/drawing/2014/main" id="{92518005-C775-976D-2FDE-53A576E5BC6E}"/>
                </a:ext>
              </a:extLst>
            </p:cNvPr>
            <p:cNvCxnSpPr>
              <a:endCxn id="27" idx="0"/>
            </p:cNvCxnSpPr>
            <p:nvPr/>
          </p:nvCxnSpPr>
          <p:spPr>
            <a:xfrm flipH="1">
              <a:off x="1149136" y="4940965"/>
              <a:ext cx="1394903" cy="5494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25EEAE0-20E6-E475-ED74-8743377A5024}"/>
                </a:ext>
              </a:extLst>
            </p:cNvPr>
            <p:cNvCxnSpPr>
              <a:cxnSpLocks/>
              <a:endCxn id="31" idx="0"/>
            </p:cNvCxnSpPr>
            <p:nvPr/>
          </p:nvCxnSpPr>
          <p:spPr>
            <a:xfrm>
              <a:off x="2544039" y="4940965"/>
              <a:ext cx="2" cy="5930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2DC3A4D-7829-6A55-A28C-D1F1DB248DDC}"/>
                </a:ext>
              </a:extLst>
            </p:cNvPr>
            <p:cNvCxnSpPr>
              <a:cxnSpLocks/>
              <a:endCxn id="33" idx="0"/>
            </p:cNvCxnSpPr>
            <p:nvPr/>
          </p:nvCxnSpPr>
          <p:spPr>
            <a:xfrm>
              <a:off x="2590800" y="4940965"/>
              <a:ext cx="1728105" cy="6847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E8023D3-3C9C-1C65-C539-A357FA219461}"/>
                </a:ext>
              </a:extLst>
            </p:cNvPr>
            <p:cNvCxnSpPr>
              <a:cxnSpLocks/>
              <a:endCxn id="34" idx="0"/>
            </p:cNvCxnSpPr>
            <p:nvPr/>
          </p:nvCxnSpPr>
          <p:spPr>
            <a:xfrm>
              <a:off x="2590798" y="4940965"/>
              <a:ext cx="4973278" cy="4869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40A2DE1-5726-760F-4588-C1D0DD99C48F}"/>
                </a:ext>
              </a:extLst>
            </p:cNvPr>
            <p:cNvSpPr txBox="1"/>
            <p:nvPr/>
          </p:nvSpPr>
          <p:spPr>
            <a:xfrm>
              <a:off x="2169803" y="6528480"/>
              <a:ext cx="4613148"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grpSp>
      <p:sp>
        <p:nvSpPr>
          <p:cNvPr id="7" name="TextBox 6">
            <a:extLst>
              <a:ext uri="{FF2B5EF4-FFF2-40B4-BE49-F238E27FC236}">
                <a16:creationId xmlns:a16="http://schemas.microsoft.com/office/drawing/2014/main" id="{7D3DC3BE-C22F-2855-EE62-FFA233B68FAD}"/>
              </a:ext>
            </a:extLst>
          </p:cNvPr>
          <p:cNvSpPr txBox="1"/>
          <p:nvPr/>
        </p:nvSpPr>
        <p:spPr>
          <a:xfrm>
            <a:off x="5808530" y="2932822"/>
            <a:ext cx="4038600" cy="1754326"/>
          </a:xfrm>
          <a:prstGeom prst="rect">
            <a:avLst/>
          </a:prstGeom>
          <a:noFill/>
        </p:spPr>
        <p:txBody>
          <a:bodyPr wrap="square" rtlCol="0">
            <a:spAutoFit/>
          </a:bodyPr>
          <a:lstStyle/>
          <a:p>
            <a:r>
              <a:rPr lang="en-US" sz="1200" b="1" dirty="0">
                <a:solidFill>
                  <a:srgbClr val="0070C0"/>
                </a:solidFill>
              </a:rPr>
              <a:t>class </a:t>
            </a:r>
            <a:r>
              <a:rPr lang="en-US" sz="1200" b="1" dirty="0">
                <a:solidFill>
                  <a:srgbClr val="FF0000"/>
                </a:solidFill>
              </a:rPr>
              <a:t>Che</a:t>
            </a:r>
          </a:p>
          <a:p>
            <a:r>
              <a:rPr lang="en-US" sz="1200" b="1" dirty="0">
                <a:solidFill>
                  <a:srgbClr val="0070C0"/>
                </a:solidFill>
              </a:rPr>
              <a:t>{</a:t>
            </a:r>
          </a:p>
          <a:p>
            <a:r>
              <a:rPr lang="en-US" sz="1200" b="1" dirty="0">
                <a:solidFill>
                  <a:srgbClr val="0070C0"/>
                </a:solidFill>
              </a:rPr>
              <a:t>    List&lt;</a:t>
            </a:r>
            <a:r>
              <a:rPr lang="en-US" sz="1200" b="1" dirty="0" err="1">
                <a:solidFill>
                  <a:srgbClr val="FF0000"/>
                </a:solidFill>
              </a:rPr>
              <a:t>NguyenLieu</a:t>
            </a:r>
            <a:r>
              <a:rPr lang="en-US" sz="1200" b="1" dirty="0">
                <a:solidFill>
                  <a:srgbClr val="0070C0"/>
                </a:solidFill>
              </a:rPr>
              <a:t>&gt; </a:t>
            </a:r>
            <a:r>
              <a:rPr lang="en-US" sz="1200" b="1" dirty="0">
                <a:solidFill>
                  <a:srgbClr val="FF0000"/>
                </a:solidFill>
              </a:rPr>
              <a:t>ds</a:t>
            </a:r>
            <a:r>
              <a:rPr lang="en-US" sz="1200" b="1" dirty="0">
                <a:solidFill>
                  <a:srgbClr val="0070C0"/>
                </a:solidFill>
              </a:rPr>
              <a:t> = new List&lt;</a:t>
            </a:r>
            <a:r>
              <a:rPr lang="en-US" sz="1200" b="1" dirty="0" err="1">
                <a:solidFill>
                  <a:srgbClr val="FF0000"/>
                </a:solidFill>
              </a:rPr>
              <a:t>NguyenLieu</a:t>
            </a:r>
            <a:r>
              <a:rPr lang="en-US" sz="1200" b="1" dirty="0">
                <a:solidFill>
                  <a:srgbClr val="FF0000"/>
                </a:solidFill>
              </a:rPr>
              <a:t> </a:t>
            </a:r>
            <a:r>
              <a:rPr lang="en-US" sz="1200" b="1" dirty="0">
                <a:solidFill>
                  <a:srgbClr val="0070C0"/>
                </a:solidFill>
              </a:rPr>
              <a:t>&gt;();</a:t>
            </a:r>
          </a:p>
          <a:p>
            <a:r>
              <a:rPr lang="en-US" sz="1200" b="1" dirty="0">
                <a:solidFill>
                  <a:srgbClr val="0070C0"/>
                </a:solidFill>
              </a:rPr>
              <a:t>    public void </a:t>
            </a:r>
            <a:r>
              <a:rPr lang="en-US" sz="1200" b="1" dirty="0" err="1">
                <a:solidFill>
                  <a:srgbClr val="FF0000"/>
                </a:solidFill>
              </a:rPr>
              <a:t>CheBien</a:t>
            </a:r>
            <a:r>
              <a:rPr lang="en-US" sz="1200" b="1" dirty="0">
                <a:solidFill>
                  <a:srgbClr val="0070C0"/>
                </a:solidFill>
              </a:rPr>
              <a:t>()</a:t>
            </a:r>
          </a:p>
          <a:p>
            <a:r>
              <a:rPr lang="en-US" sz="1200" b="1" dirty="0">
                <a:solidFill>
                  <a:srgbClr val="0070C0"/>
                </a:solidFill>
              </a:rPr>
              <a:t>     {</a:t>
            </a:r>
          </a:p>
          <a:p>
            <a:r>
              <a:rPr lang="en-US" sz="1200" b="1" dirty="0">
                <a:solidFill>
                  <a:srgbClr val="0070C0"/>
                </a:solidFill>
              </a:rPr>
              <a:t>          foreach(</a:t>
            </a:r>
            <a:r>
              <a:rPr lang="en-US" sz="1200" b="1" dirty="0" err="1">
                <a:solidFill>
                  <a:srgbClr val="FF0000"/>
                </a:solidFill>
              </a:rPr>
              <a:t>NguyenLieu</a:t>
            </a:r>
            <a:r>
              <a:rPr lang="en-US" sz="1200" b="1" dirty="0">
                <a:solidFill>
                  <a:srgbClr val="0070C0"/>
                </a:solidFill>
              </a:rPr>
              <a:t> n in </a:t>
            </a:r>
            <a:r>
              <a:rPr lang="en-US" sz="1200" b="1" dirty="0">
                <a:solidFill>
                  <a:srgbClr val="FF0000"/>
                </a:solidFill>
              </a:rPr>
              <a:t>ds</a:t>
            </a:r>
            <a:r>
              <a:rPr lang="en-US" sz="1200" b="1" dirty="0">
                <a:solidFill>
                  <a:srgbClr val="0070C0"/>
                </a:solidFill>
              </a:rPr>
              <a:t>)</a:t>
            </a:r>
          </a:p>
          <a:p>
            <a:r>
              <a:rPr lang="en-US" sz="1200" b="1" dirty="0">
                <a:solidFill>
                  <a:srgbClr val="0070C0"/>
                </a:solidFill>
              </a:rPr>
              <a:t>	</a:t>
            </a:r>
            <a:r>
              <a:rPr lang="en-US" sz="1200" b="1" dirty="0" err="1">
                <a:solidFill>
                  <a:srgbClr val="0070C0"/>
                </a:solidFill>
              </a:rPr>
              <a:t>n.</a:t>
            </a:r>
            <a:r>
              <a:rPr lang="en-US" sz="1200" b="1" dirty="0" err="1">
                <a:solidFill>
                  <a:srgbClr val="FF0000"/>
                </a:solidFill>
              </a:rPr>
              <a:t>CheBien</a:t>
            </a:r>
            <a:r>
              <a:rPr lang="en-US" sz="1200" b="1" dirty="0">
                <a:solidFill>
                  <a:srgbClr val="0070C0"/>
                </a:solidFill>
              </a:rPr>
              <a:t>();  	</a:t>
            </a:r>
          </a:p>
          <a:p>
            <a:r>
              <a:rPr lang="en-US" sz="1200" b="1" dirty="0">
                <a:solidFill>
                  <a:srgbClr val="0070C0"/>
                </a:solidFill>
              </a:rPr>
              <a:t>     }	 </a:t>
            </a:r>
          </a:p>
          <a:p>
            <a:r>
              <a:rPr lang="en-US" sz="1200" b="1" dirty="0">
                <a:solidFill>
                  <a:srgbClr val="0070C0"/>
                </a:solidFill>
              </a:rPr>
              <a:t>}</a:t>
            </a:r>
          </a:p>
        </p:txBody>
      </p:sp>
      <p:cxnSp>
        <p:nvCxnSpPr>
          <p:cNvPr id="8" name="Straight Arrow Connector 7">
            <a:extLst>
              <a:ext uri="{FF2B5EF4-FFF2-40B4-BE49-F238E27FC236}">
                <a16:creationId xmlns:a16="http://schemas.microsoft.com/office/drawing/2014/main" id="{55553966-556A-1212-1E0E-F95DF9F15999}"/>
              </a:ext>
            </a:extLst>
          </p:cNvPr>
          <p:cNvCxnSpPr>
            <a:cxnSpLocks/>
          </p:cNvCxnSpPr>
          <p:nvPr/>
        </p:nvCxnSpPr>
        <p:spPr>
          <a:xfrm flipH="1">
            <a:off x="2939999" y="1588749"/>
            <a:ext cx="2172709"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1F29BD6-0451-FC77-B917-B1FC068A0C27}"/>
              </a:ext>
            </a:extLst>
          </p:cNvPr>
          <p:cNvSpPr txBox="1"/>
          <p:nvPr/>
        </p:nvSpPr>
        <p:spPr>
          <a:xfrm>
            <a:off x="3615716" y="1690875"/>
            <a:ext cx="1115176"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grpSp>
        <p:nvGrpSpPr>
          <p:cNvPr id="36" name="Group 35">
            <a:extLst>
              <a:ext uri="{FF2B5EF4-FFF2-40B4-BE49-F238E27FC236}">
                <a16:creationId xmlns:a16="http://schemas.microsoft.com/office/drawing/2014/main" id="{FF3576D7-2369-CC1E-CD8C-E778685EC062}"/>
              </a:ext>
            </a:extLst>
          </p:cNvPr>
          <p:cNvGrpSpPr/>
          <p:nvPr/>
        </p:nvGrpSpPr>
        <p:grpSpPr>
          <a:xfrm>
            <a:off x="4363212" y="5279067"/>
            <a:ext cx="4593078" cy="1324790"/>
            <a:chOff x="4651918" y="5253313"/>
            <a:chExt cx="4593078" cy="1324790"/>
          </a:xfrm>
        </p:grpSpPr>
        <p:grpSp>
          <p:nvGrpSpPr>
            <p:cNvPr id="39" name="Group 38">
              <a:extLst>
                <a:ext uri="{FF2B5EF4-FFF2-40B4-BE49-F238E27FC236}">
                  <a16:creationId xmlns:a16="http://schemas.microsoft.com/office/drawing/2014/main" id="{4DE5C20F-965A-80A3-E0F7-C78C169EBFE1}"/>
                </a:ext>
              </a:extLst>
            </p:cNvPr>
            <p:cNvGrpSpPr/>
            <p:nvPr/>
          </p:nvGrpSpPr>
          <p:grpSpPr>
            <a:xfrm>
              <a:off x="4651918" y="5253313"/>
              <a:ext cx="4128188" cy="1240709"/>
              <a:chOff x="4019030" y="4227393"/>
              <a:chExt cx="4654797" cy="1594866"/>
            </a:xfrm>
          </p:grpSpPr>
          <p:grpSp>
            <p:nvGrpSpPr>
              <p:cNvPr id="41" name="Group 40">
                <a:extLst>
                  <a:ext uri="{FF2B5EF4-FFF2-40B4-BE49-F238E27FC236}">
                    <a16:creationId xmlns:a16="http://schemas.microsoft.com/office/drawing/2014/main" id="{F9B611A0-F103-3640-4623-123AA8E549ED}"/>
                  </a:ext>
                </a:extLst>
              </p:cNvPr>
              <p:cNvGrpSpPr/>
              <p:nvPr/>
            </p:nvGrpSpPr>
            <p:grpSpPr>
              <a:xfrm>
                <a:off x="4735167" y="4227393"/>
                <a:ext cx="3938660" cy="1594866"/>
                <a:chOff x="1149136" y="3948228"/>
                <a:chExt cx="6414940" cy="2949584"/>
              </a:xfrm>
            </p:grpSpPr>
            <p:sp>
              <p:nvSpPr>
                <p:cNvPr id="44" name="TextBox 43">
                  <a:extLst>
                    <a:ext uri="{FF2B5EF4-FFF2-40B4-BE49-F238E27FC236}">
                      <a16:creationId xmlns:a16="http://schemas.microsoft.com/office/drawing/2014/main" id="{1EFDD36C-D76F-B41D-9668-6B55DE3BC90B}"/>
                    </a:ext>
                  </a:extLst>
                </p:cNvPr>
                <p:cNvSpPr txBox="1"/>
                <p:nvPr/>
              </p:nvSpPr>
              <p:spPr>
                <a:xfrm>
                  <a:off x="4470779" y="5699798"/>
                  <a:ext cx="934871" cy="369331"/>
                </a:xfrm>
                <a:prstGeom prst="rect">
                  <a:avLst/>
                </a:prstGeom>
                <a:noFill/>
              </p:spPr>
              <p:txBody>
                <a:bodyPr wrap="none" rtlCol="0">
                  <a:spAutoFit/>
                </a:bodyPr>
                <a:lstStyle/>
                <a:p>
                  <a:r>
                    <a:rPr lang="en-US" dirty="0"/>
                    <a:t>…………..</a:t>
                  </a:r>
                </a:p>
              </p:txBody>
            </p:sp>
            <p:sp>
              <p:nvSpPr>
                <p:cNvPr id="45" name="TextBox 44">
                  <a:extLst>
                    <a:ext uri="{FF2B5EF4-FFF2-40B4-BE49-F238E27FC236}">
                      <a16:creationId xmlns:a16="http://schemas.microsoft.com/office/drawing/2014/main" id="{6507AAF2-F691-E3CF-C248-D988EBB1907B}"/>
                    </a:ext>
                  </a:extLst>
                </p:cNvPr>
                <p:cNvSpPr txBox="1"/>
                <p:nvPr/>
              </p:nvSpPr>
              <p:spPr>
                <a:xfrm>
                  <a:off x="1704110" y="3948228"/>
                  <a:ext cx="4613149" cy="608991"/>
                </a:xfrm>
                <a:prstGeom prst="rect">
                  <a:avLst/>
                </a:prstGeom>
                <a:noFill/>
              </p:spPr>
              <p:txBody>
                <a:bodyPr wrap="square">
                  <a:spAutoFit/>
                </a:bodyPr>
                <a:lstStyle/>
                <a:p>
                  <a:r>
                    <a:rPr lang="en-US" sz="1800" b="1" dirty="0">
                      <a:solidFill>
                        <a:srgbClr val="0070C0"/>
                      </a:solidFill>
                    </a:rPr>
                    <a:t>class </a:t>
                  </a:r>
                  <a:r>
                    <a:rPr lang="en-US" sz="1800" b="1" dirty="0" err="1">
                      <a:solidFill>
                        <a:srgbClr val="FF0000"/>
                      </a:solidFill>
                    </a:rPr>
                    <a:t>NguyenLieu</a:t>
                  </a:r>
                  <a:endParaRPr lang="en-US" sz="1800" b="1" dirty="0">
                    <a:solidFill>
                      <a:srgbClr val="FF0000"/>
                    </a:solidFill>
                  </a:endParaRPr>
                </a:p>
              </p:txBody>
            </p:sp>
            <p:cxnSp>
              <p:nvCxnSpPr>
                <p:cNvPr id="46" name="Straight Arrow Connector 45">
                  <a:extLst>
                    <a:ext uri="{FF2B5EF4-FFF2-40B4-BE49-F238E27FC236}">
                      <a16:creationId xmlns:a16="http://schemas.microsoft.com/office/drawing/2014/main" id="{15E89D0D-BC30-CE3D-69E4-6CB0CCE23E5E}"/>
                    </a:ext>
                  </a:extLst>
                </p:cNvPr>
                <p:cNvCxnSpPr/>
                <p:nvPr/>
              </p:nvCxnSpPr>
              <p:spPr>
                <a:xfrm flipH="1">
                  <a:off x="1149136" y="4940965"/>
                  <a:ext cx="1394903" cy="5494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4C0432C-4D50-E206-A097-CFC6C899866B}"/>
                    </a:ext>
                  </a:extLst>
                </p:cNvPr>
                <p:cNvCxnSpPr>
                  <a:cxnSpLocks/>
                </p:cNvCxnSpPr>
                <p:nvPr/>
              </p:nvCxnSpPr>
              <p:spPr>
                <a:xfrm>
                  <a:off x="2544039" y="4940965"/>
                  <a:ext cx="2" cy="59306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43D9BE9-57CE-06C3-6F41-EF0D41751AFB}"/>
                    </a:ext>
                  </a:extLst>
                </p:cNvPr>
                <p:cNvCxnSpPr>
                  <a:cxnSpLocks/>
                </p:cNvCxnSpPr>
                <p:nvPr/>
              </p:nvCxnSpPr>
              <p:spPr>
                <a:xfrm>
                  <a:off x="2590798" y="4940965"/>
                  <a:ext cx="4973278" cy="4869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9608025-E4AF-4937-7F1A-C33AD73B881F}"/>
                    </a:ext>
                  </a:extLst>
                </p:cNvPr>
                <p:cNvSpPr txBox="1"/>
                <p:nvPr/>
              </p:nvSpPr>
              <p:spPr>
                <a:xfrm>
                  <a:off x="2169803" y="6528480"/>
                  <a:ext cx="4613148" cy="369332"/>
                </a:xfrm>
                <a:prstGeom prst="rect">
                  <a:avLst/>
                </a:prstGeom>
                <a:solidFill>
                  <a:srgbClr val="92D050"/>
                </a:solidFill>
              </p:spPr>
              <p:txBody>
                <a:bodyPr wrap="square">
                  <a:spAutoFit/>
                </a:bodyPr>
                <a:lstStyle/>
                <a:p>
                  <a:pPr algn="ctr"/>
                  <a:r>
                    <a:rPr lang="en-US" sz="1800" b="1" dirty="0" err="1">
                      <a:solidFill>
                        <a:srgbClr val="0070C0"/>
                      </a:solidFill>
                    </a:rPr>
                    <a:t>Kế</a:t>
                  </a:r>
                  <a:r>
                    <a:rPr lang="en-US" sz="1800" b="1" dirty="0">
                      <a:solidFill>
                        <a:srgbClr val="0070C0"/>
                      </a:solidFill>
                    </a:rPr>
                    <a:t> </a:t>
                  </a:r>
                  <a:r>
                    <a:rPr lang="en-US" sz="1800" b="1" dirty="0" err="1">
                      <a:solidFill>
                        <a:srgbClr val="0070C0"/>
                      </a:solidFill>
                    </a:rPr>
                    <a:t>thừa</a:t>
                  </a:r>
                  <a:endParaRPr lang="en-US" sz="1800" b="1" dirty="0">
                    <a:solidFill>
                      <a:srgbClr val="FF0000"/>
                    </a:solidFill>
                  </a:endParaRPr>
                </a:p>
              </p:txBody>
            </p:sp>
          </p:grpSp>
          <p:pic>
            <p:nvPicPr>
              <p:cNvPr id="42" name="Picture 4" descr="Đường tinh luyện là gì? Tác hại của đường tinh luyện đối với sức khỏe">
                <a:extLst>
                  <a:ext uri="{FF2B5EF4-FFF2-40B4-BE49-F238E27FC236}">
                    <a16:creationId xmlns:a16="http://schemas.microsoft.com/office/drawing/2014/main" id="{384DCD2C-DED3-EE77-4E4D-6707E4AD7A3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19030" y="5112464"/>
                <a:ext cx="940072" cy="52820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6" descr="Một nắm muối gây ra 9 loại bệnh và 5 cách ăn muối tốt cho sức khỏe">
                <a:extLst>
                  <a:ext uri="{FF2B5EF4-FFF2-40B4-BE49-F238E27FC236}">
                    <a16:creationId xmlns:a16="http://schemas.microsoft.com/office/drawing/2014/main" id="{38EAFA62-FDB7-FD04-8C22-0E0D83FCB06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273826" y="5115574"/>
                <a:ext cx="924387" cy="692398"/>
              </a:xfrm>
              <a:prstGeom prst="rect">
                <a:avLst/>
              </a:prstGeom>
              <a:noFill/>
              <a:extLst>
                <a:ext uri="{909E8E84-426E-40DD-AFC4-6F175D3DCCD1}">
                  <a14:hiddenFill xmlns:a14="http://schemas.microsoft.com/office/drawing/2010/main">
                    <a:solidFill>
                      <a:srgbClr val="FFFFFF"/>
                    </a:solidFill>
                  </a14:hiddenFill>
                </a:ext>
              </a:extLst>
            </p:spPr>
          </p:pic>
        </p:grpSp>
        <p:pic>
          <p:nvPicPr>
            <p:cNvPr id="40" name="Picture 2" descr="Tác hại của việc uống nước dừa mỗi ngày - Báo Quảng Ninh điện tử">
              <a:extLst>
                <a:ext uri="{FF2B5EF4-FFF2-40B4-BE49-F238E27FC236}">
                  <a16:creationId xmlns:a16="http://schemas.microsoft.com/office/drawing/2014/main" id="{BDB0BD03-D47E-BC14-F20A-327915C3509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128604" y="5947099"/>
              <a:ext cx="1116392" cy="631004"/>
            </a:xfrm>
            <a:prstGeom prst="rect">
              <a:avLst/>
            </a:prstGeom>
            <a:noFill/>
            <a:ln w="19050">
              <a:solidFill>
                <a:srgbClr val="FF0000"/>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02754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9E49-64F6-DA14-7E07-C1373F706B5B}"/>
              </a:ext>
            </a:extLst>
          </p:cNvPr>
          <p:cNvSpPr>
            <a:spLocks noGrp="1"/>
          </p:cNvSpPr>
          <p:nvPr>
            <p:ph type="title"/>
          </p:nvPr>
        </p:nvSpPr>
        <p:spPr/>
        <p:txBody>
          <a:bodyPr>
            <a:normAutofit fontScale="90000"/>
          </a:bodyPr>
          <a:lstStyle/>
          <a:p>
            <a:r>
              <a:rPr lang="en-US" dirty="0" err="1"/>
              <a:t>Lớp</a:t>
            </a:r>
            <a:r>
              <a:rPr lang="en-US" dirty="0"/>
              <a:t> Object</a:t>
            </a:r>
          </a:p>
        </p:txBody>
      </p:sp>
      <p:sp>
        <p:nvSpPr>
          <p:cNvPr id="4" name="Slide Number Placeholder 3">
            <a:extLst>
              <a:ext uri="{FF2B5EF4-FFF2-40B4-BE49-F238E27FC236}">
                <a16:creationId xmlns:a16="http://schemas.microsoft.com/office/drawing/2014/main" id="{50A203E9-6985-4B64-3C68-49F6C94870A4}"/>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5" name="Content Placeholder 2">
            <a:extLst>
              <a:ext uri="{FF2B5EF4-FFF2-40B4-BE49-F238E27FC236}">
                <a16:creationId xmlns:a16="http://schemas.microsoft.com/office/drawing/2014/main" id="{1F4BC195-1758-5D85-F807-4DA2D3D1F01F}"/>
              </a:ext>
            </a:extLst>
          </p:cNvPr>
          <p:cNvSpPr>
            <a:spLocks noGrp="1"/>
          </p:cNvSpPr>
          <p:nvPr>
            <p:ph idx="1"/>
          </p:nvPr>
        </p:nvSpPr>
        <p:spPr>
          <a:xfrm>
            <a:off x="376338" y="1348168"/>
            <a:ext cx="8265459" cy="5181600"/>
          </a:xfrm>
          <a:ln>
            <a:noFill/>
          </a:ln>
        </p:spPr>
        <p:txBody>
          <a:bodyPr>
            <a:noAutofit/>
          </a:bodyPr>
          <a:lstStyle/>
          <a:p>
            <a:pPr marL="0" indent="0">
              <a:lnSpc>
                <a:spcPct val="120000"/>
              </a:lnSpc>
              <a:buNone/>
            </a:pPr>
            <a:r>
              <a:rPr lang="vi-VN" sz="1800" dirty="0">
                <a:latin typeface="Cascadia Mono" panose="020B0609020000020004" pitchFamily="49" charset="0"/>
              </a:rPr>
              <a:t>Lớp </a:t>
            </a:r>
            <a:r>
              <a:rPr lang="vi-VN" sz="1800" dirty="0">
                <a:solidFill>
                  <a:srgbClr val="FF0000"/>
                </a:solidFill>
                <a:latin typeface="Cascadia Mono" panose="020B0609020000020004" pitchFamily="49" charset="0"/>
              </a:rPr>
              <a:t>Object</a:t>
            </a:r>
            <a:r>
              <a:rPr lang="vi-VN" sz="1800" dirty="0">
                <a:latin typeface="Cascadia Mono" panose="020B0609020000020004" pitchFamily="49" charset="0"/>
              </a:rPr>
              <a:t> là lớp gốc</a:t>
            </a:r>
            <a:r>
              <a:rPr lang="en-US" sz="1800" dirty="0">
                <a:latin typeface="Cascadia Mono" panose="020B0609020000020004" pitchFamily="49" charset="0"/>
              </a:rPr>
              <a:t> (cha)</a:t>
            </a:r>
            <a:r>
              <a:rPr lang="vi-VN" sz="1800" dirty="0">
                <a:latin typeface="Cascadia Mono" panose="020B0609020000020004" pitchFamily="49" charset="0"/>
              </a:rPr>
              <a:t> của tất cả các lớp khác trong ngôn ngữ. </a:t>
            </a:r>
            <a:endParaRPr lang="en-US" sz="1800" dirty="0">
              <a:latin typeface="Cascadia Mono" panose="020B0609020000020004" pitchFamily="49" charset="0"/>
            </a:endParaRPr>
          </a:p>
          <a:p>
            <a:pPr marL="0" indent="0">
              <a:lnSpc>
                <a:spcPct val="120000"/>
              </a:lnSpc>
              <a:buNone/>
            </a:pPr>
            <a:r>
              <a:rPr lang="vi-VN" sz="1800" dirty="0">
                <a:latin typeface="Cascadia Mono" panose="020B0609020000020004" pitchFamily="49" charset="0"/>
              </a:rPr>
              <a:t>Mọi lớp trong C# đều kế thừa từ lớp Object trực tiếp hoặc gián tiếp. </a:t>
            </a:r>
            <a:endParaRPr lang="en-US" sz="1800" dirty="0">
              <a:latin typeface="Cascadia Mono" panose="020B0609020000020004" pitchFamily="49" charset="0"/>
            </a:endParaRPr>
          </a:p>
          <a:p>
            <a:pPr marL="0" indent="0">
              <a:lnSpc>
                <a:spcPct val="120000"/>
              </a:lnSpc>
              <a:buNone/>
            </a:pPr>
            <a:r>
              <a:rPr lang="vi-VN" sz="1800" dirty="0">
                <a:latin typeface="Cascadia Mono" panose="020B0609020000020004" pitchFamily="49" charset="0"/>
              </a:rPr>
              <a:t>Khi tạo mới một lớp trong C#, nếu không chỉ định lớp cha cụ thể, lớp mới sẽ kế thừa từ lớp Object mặc định</a:t>
            </a:r>
            <a:r>
              <a:rPr lang="en-US" sz="1800" dirty="0">
                <a:latin typeface="Cascadia Mono" panose="020B0609020000020004" pitchFamily="49" charset="0"/>
              </a:rPr>
              <a:t>.</a:t>
            </a:r>
          </a:p>
          <a:p>
            <a:pPr marL="0" indent="0">
              <a:lnSpc>
                <a:spcPct val="120000"/>
              </a:lnSpc>
              <a:buNone/>
            </a:pPr>
            <a:endParaRPr lang="en-US" sz="1800" dirty="0">
              <a:latin typeface="Cascadia Mono" panose="020B0609020000020004" pitchFamily="49" charset="0"/>
            </a:endParaRPr>
          </a:p>
          <a:p>
            <a:pPr marL="0" indent="0">
              <a:lnSpc>
                <a:spcPct val="120000"/>
              </a:lnSpc>
              <a:buNone/>
            </a:pPr>
            <a:r>
              <a:rPr lang="vi-VN" sz="1800" dirty="0">
                <a:latin typeface="Cascadia Mono" panose="020B0609020000020004" pitchFamily="49" charset="0"/>
              </a:rPr>
              <a:t>Lớp Object chứa một số phương thức và thuộc tính cơ bản mà mọi đối tượng trong C# đều có thể sử dụng.</a:t>
            </a:r>
          </a:p>
          <a:p>
            <a:pPr marL="0" indent="0">
              <a:lnSpc>
                <a:spcPct val="120000"/>
              </a:lnSpc>
              <a:buNone/>
            </a:pPr>
            <a:endParaRPr lang="en-US" sz="1800" dirty="0">
              <a:latin typeface="Cascadia Mono" panose="020B0609020000020004" pitchFamily="49" charset="0"/>
            </a:endParaRPr>
          </a:p>
        </p:txBody>
      </p:sp>
    </p:spTree>
    <p:extLst>
      <p:ext uri="{BB962C8B-B14F-4D97-AF65-F5344CB8AC3E}">
        <p14:creationId xmlns:p14="http://schemas.microsoft.com/office/powerpoint/2010/main" val="3267212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9E49-64F6-DA14-7E07-C1373F706B5B}"/>
              </a:ext>
            </a:extLst>
          </p:cNvPr>
          <p:cNvSpPr>
            <a:spLocks noGrp="1"/>
          </p:cNvSpPr>
          <p:nvPr>
            <p:ph type="title"/>
          </p:nvPr>
        </p:nvSpPr>
        <p:spPr/>
        <p:txBody>
          <a:bodyPr>
            <a:normAutofit fontScale="90000"/>
          </a:bodyPr>
          <a:lstStyle/>
          <a:p>
            <a:r>
              <a:rPr lang="en-US" dirty="0" err="1"/>
              <a:t>Lớp</a:t>
            </a:r>
            <a:r>
              <a:rPr lang="en-US" dirty="0"/>
              <a:t> Object</a:t>
            </a:r>
          </a:p>
        </p:txBody>
      </p:sp>
      <p:sp>
        <p:nvSpPr>
          <p:cNvPr id="4" name="Slide Number Placeholder 3">
            <a:extLst>
              <a:ext uri="{FF2B5EF4-FFF2-40B4-BE49-F238E27FC236}">
                <a16:creationId xmlns:a16="http://schemas.microsoft.com/office/drawing/2014/main" id="{50A203E9-6985-4B64-3C68-49F6C94870A4}"/>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5" name="Content Placeholder 2">
            <a:extLst>
              <a:ext uri="{FF2B5EF4-FFF2-40B4-BE49-F238E27FC236}">
                <a16:creationId xmlns:a16="http://schemas.microsoft.com/office/drawing/2014/main" id="{1F4BC195-1758-5D85-F807-4DA2D3D1F01F}"/>
              </a:ext>
            </a:extLst>
          </p:cNvPr>
          <p:cNvSpPr>
            <a:spLocks noGrp="1"/>
          </p:cNvSpPr>
          <p:nvPr>
            <p:ph idx="1"/>
          </p:nvPr>
        </p:nvSpPr>
        <p:spPr>
          <a:xfrm>
            <a:off x="376338" y="1348168"/>
            <a:ext cx="8265459" cy="5181600"/>
          </a:xfrm>
          <a:ln>
            <a:noFill/>
          </a:ln>
        </p:spPr>
        <p:txBody>
          <a:bodyPr>
            <a:noAutofit/>
          </a:bodyPr>
          <a:lstStyle/>
          <a:p>
            <a:pPr marL="0" indent="0">
              <a:lnSpc>
                <a:spcPct val="120000"/>
              </a:lnSpc>
              <a:buNone/>
            </a:pPr>
            <a:r>
              <a:rPr lang="vi-VN" sz="1800" dirty="0">
                <a:solidFill>
                  <a:srgbClr val="FF0000"/>
                </a:solidFill>
                <a:latin typeface="Cascadia Mono" panose="020B0609020000020004" pitchFamily="49" charset="0"/>
              </a:rPr>
              <a:t>Equals(Object): </a:t>
            </a:r>
            <a:r>
              <a:rPr lang="vi-VN" sz="1800" dirty="0">
                <a:latin typeface="Cascadia Mono" panose="020B0609020000020004" pitchFamily="49" charset="0"/>
              </a:rPr>
              <a:t>Phương thức để so sánh hai đối tượng xem chúng có bằng nhau không.</a:t>
            </a:r>
          </a:p>
          <a:p>
            <a:pPr marL="0" indent="0">
              <a:lnSpc>
                <a:spcPct val="120000"/>
              </a:lnSpc>
              <a:buNone/>
            </a:pPr>
            <a:r>
              <a:rPr lang="vi-VN" sz="1800" dirty="0">
                <a:solidFill>
                  <a:srgbClr val="FF0000"/>
                </a:solidFill>
                <a:latin typeface="Cascadia Mono" panose="020B0609020000020004" pitchFamily="49" charset="0"/>
              </a:rPr>
              <a:t>GetHashCode():</a:t>
            </a:r>
            <a:r>
              <a:rPr lang="vi-VN" sz="1800" dirty="0">
                <a:latin typeface="Cascadia Mono" panose="020B0609020000020004" pitchFamily="49" charset="0"/>
              </a:rPr>
              <a:t> Phương thức để trả về mã băm của đối tượng, thường được sử dụng khi làm việc với các tập hợp như Hashtable hoặc Dictionary.</a:t>
            </a:r>
          </a:p>
          <a:p>
            <a:pPr marL="0" indent="0">
              <a:lnSpc>
                <a:spcPct val="120000"/>
              </a:lnSpc>
              <a:buNone/>
            </a:pPr>
            <a:r>
              <a:rPr lang="vi-VN" sz="1800" dirty="0">
                <a:solidFill>
                  <a:srgbClr val="FF0000"/>
                </a:solidFill>
                <a:latin typeface="Cascadia Mono" panose="020B0609020000020004" pitchFamily="49" charset="0"/>
              </a:rPr>
              <a:t>GetType():</a:t>
            </a:r>
            <a:r>
              <a:rPr lang="vi-VN" sz="1800" dirty="0">
                <a:latin typeface="Cascadia Mono" panose="020B0609020000020004" pitchFamily="49" charset="0"/>
              </a:rPr>
              <a:t> Phương thức để trả về đối tượng Type mô tả kiểu của đối tượng hiện tại.</a:t>
            </a:r>
          </a:p>
          <a:p>
            <a:pPr marL="0" indent="0">
              <a:lnSpc>
                <a:spcPct val="120000"/>
              </a:lnSpc>
              <a:buNone/>
            </a:pPr>
            <a:r>
              <a:rPr lang="vi-VN" sz="1800" dirty="0">
                <a:solidFill>
                  <a:srgbClr val="FF0000"/>
                </a:solidFill>
                <a:latin typeface="Cascadia Mono" panose="020B0609020000020004" pitchFamily="49" charset="0"/>
              </a:rPr>
              <a:t>ToString():</a:t>
            </a:r>
            <a:r>
              <a:rPr lang="vi-VN" sz="1800" dirty="0">
                <a:latin typeface="Cascadia Mono" panose="020B0609020000020004" pitchFamily="49" charset="0"/>
              </a:rPr>
              <a:t> Phương thức để trả về một chuỗi đại diện cho đối tượng, thường được ghi đè để cung cấp thông tin cụ thể về đối tượng.</a:t>
            </a:r>
          </a:p>
          <a:p>
            <a:pPr marL="0" indent="0">
              <a:lnSpc>
                <a:spcPct val="120000"/>
              </a:lnSpc>
              <a:buNone/>
            </a:pPr>
            <a:r>
              <a:rPr lang="vi-VN" sz="1800" dirty="0">
                <a:latin typeface="Cascadia Mono" panose="020B0609020000020004" pitchFamily="49" charset="0"/>
              </a:rPr>
              <a:t>Lớp Object cũng chứa một số thành viên khác như Finalize() (phương thức hủy), ReferenceEquals(Object, Object) (phương thức so sánh tham chiếu), và các phương thức GetHashCode, GetType, và ToString được ghi đè.</a:t>
            </a:r>
            <a:endParaRPr lang="en-US" sz="1800" dirty="0">
              <a:latin typeface="Cascadia Mono" panose="020B0609020000020004" pitchFamily="49" charset="0"/>
            </a:endParaRPr>
          </a:p>
        </p:txBody>
      </p:sp>
    </p:spTree>
    <p:extLst>
      <p:ext uri="{BB962C8B-B14F-4D97-AF65-F5344CB8AC3E}">
        <p14:creationId xmlns:p14="http://schemas.microsoft.com/office/powerpoint/2010/main" val="79786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C9E49-64F6-DA14-7E07-C1373F706B5B}"/>
              </a:ext>
            </a:extLst>
          </p:cNvPr>
          <p:cNvSpPr>
            <a:spLocks noGrp="1"/>
          </p:cNvSpPr>
          <p:nvPr>
            <p:ph type="title"/>
          </p:nvPr>
        </p:nvSpPr>
        <p:spPr/>
        <p:txBody>
          <a:bodyPr>
            <a:normAutofit fontScale="90000"/>
          </a:bodyPr>
          <a:lstStyle/>
          <a:p>
            <a:r>
              <a:rPr lang="en-US" dirty="0" err="1"/>
              <a:t>Lớp</a:t>
            </a:r>
            <a:r>
              <a:rPr lang="en-US" dirty="0"/>
              <a:t> Object</a:t>
            </a:r>
          </a:p>
        </p:txBody>
      </p:sp>
      <p:sp>
        <p:nvSpPr>
          <p:cNvPr id="4" name="Slide Number Placeholder 3">
            <a:extLst>
              <a:ext uri="{FF2B5EF4-FFF2-40B4-BE49-F238E27FC236}">
                <a16:creationId xmlns:a16="http://schemas.microsoft.com/office/drawing/2014/main" id="{50A203E9-6985-4B64-3C68-49F6C94870A4}"/>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6" name="Content Placeholder 5">
            <a:extLst>
              <a:ext uri="{FF2B5EF4-FFF2-40B4-BE49-F238E27FC236}">
                <a16:creationId xmlns:a16="http://schemas.microsoft.com/office/drawing/2014/main" id="{45BEAAD6-0A85-0556-24FA-9EED2B4D7253}"/>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7C64C1A4-B2F3-8655-5F85-650F8D7F8D77}"/>
              </a:ext>
            </a:extLst>
          </p:cNvPr>
          <p:cNvPicPr>
            <a:picLocks noChangeAspect="1"/>
          </p:cNvPicPr>
          <p:nvPr/>
        </p:nvPicPr>
        <p:blipFill>
          <a:blip r:embed="rId2"/>
          <a:stretch>
            <a:fillRect/>
          </a:stretch>
        </p:blipFill>
        <p:spPr>
          <a:xfrm>
            <a:off x="609600" y="1905000"/>
            <a:ext cx="7649260" cy="3395860"/>
          </a:xfrm>
          <a:prstGeom prst="rect">
            <a:avLst/>
          </a:prstGeom>
        </p:spPr>
      </p:pic>
    </p:spTree>
    <p:extLst>
      <p:ext uri="{BB962C8B-B14F-4D97-AF65-F5344CB8AC3E}">
        <p14:creationId xmlns:p14="http://schemas.microsoft.com/office/powerpoint/2010/main" val="2013172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26201</TotalTime>
  <Words>1609</Words>
  <Application>Microsoft Office PowerPoint</Application>
  <PresentationFormat>On-screen Show (4:3)</PresentationFormat>
  <Paragraphs>263</Paragraphs>
  <Slides>28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Cascadia Mono</vt:lpstr>
      <vt:lpstr>Times New Roman</vt:lpstr>
      <vt:lpstr>Wingdings</vt:lpstr>
      <vt:lpstr>Office Theme</vt:lpstr>
      <vt:lpstr>    Tính kế thừa (Inheritance)</vt:lpstr>
      <vt:lpstr> Tính kế thừa</vt:lpstr>
      <vt:lpstr>  Tính kế thừa</vt:lpstr>
      <vt:lpstr> Tính kế thừa</vt:lpstr>
      <vt:lpstr> Tính kế thừa </vt:lpstr>
      <vt:lpstr> Tính kế thừa </vt:lpstr>
      <vt:lpstr> Tính kế thừa </vt:lpstr>
      <vt:lpstr>Chỉ xuất truy cập</vt:lpstr>
      <vt:lpstr>Tính kế thừa</vt:lpstr>
      <vt:lpstr>Các ví dụ</vt:lpstr>
      <vt:lpstr>Tính kế thừa (sử dụng từ khóa virtual)</vt:lpstr>
      <vt:lpstr>Tính kế thừa (sử dụng từ khóa virtual)</vt:lpstr>
      <vt:lpstr>Tính kế thừa và tính đa hình (sử dụng từ khóa virtual)</vt:lpstr>
      <vt:lpstr>Tính kế thừa</vt:lpstr>
      <vt:lpstr>Tính kế thừa</vt:lpstr>
      <vt:lpstr>Tính kế thừa</vt:lpstr>
      <vt:lpstr>Tính kế thừa</vt:lpstr>
      <vt:lpstr>Tính kế thừa</vt:lpstr>
      <vt:lpstr>Tính kế thừa</vt:lpstr>
      <vt:lpstr>Tính kế thừa</vt:lpstr>
      <vt:lpstr>Nấu chè trái cây từ góc độ kế thừa</vt:lpstr>
      <vt:lpstr>Chè trái cây</vt:lpstr>
      <vt:lpstr>Nấu chè trái cây từ góc độ OOP</vt:lpstr>
      <vt:lpstr>Chè trái cây</vt:lpstr>
      <vt:lpstr>Chè trái cây</vt:lpstr>
      <vt:lpstr>Lớp Object</vt:lpstr>
      <vt:lpstr>Lớp Object</vt:lpstr>
      <vt:lpstr>Lớp Object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cương và kế hoạch nghiên cứu sinh  CẤU TRÚC CỦA CÁC MẪU TUẦN TỰ VỚI RÀNG BUỘC  VÀ CÁC THUẬT TOÁN  SONG SONG KHAI THÁC CHÚNG</dc:title>
  <dc:creator>Administrator</dc:creator>
  <cp:lastModifiedBy>PC602</cp:lastModifiedBy>
  <cp:revision>413</cp:revision>
  <dcterms:created xsi:type="dcterms:W3CDTF">2006-08-16T00:00:00Z</dcterms:created>
  <dcterms:modified xsi:type="dcterms:W3CDTF">2024-03-22T01:19:45Z</dcterms:modified>
</cp:coreProperties>
</file>